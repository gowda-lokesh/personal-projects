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65.bin" ContentType="image/svg+xml"/>
  <Override PartName="/ppt/slides/slide6.xml" ContentType="application/vnd.openxmlformats-officedocument.presentationml.slide+xml"/>
  <Override PartName="/ppt/media/image76.bin" ContentType="image/svg+xml"/>
  <Override PartName="/ppt/media/image90.bin" ContentType="image/svg+xml"/>
  <Override PartName="/ppt/media/image95.bin" ContentType="image/svg+xml"/>
  <Override PartName="/ppt/media/image105.bin" ContentType="image/svg+xml"/>
  <Override PartName="/ppt/media/image110.bin" ContentType="image/svg+xml"/>
  <Override PartName="/ppt/media/image123.bin" ContentType="image/svg+xml"/>
  <Override PartName="/ppt/media/image127.bin" ContentType="image/svg+xml"/>
  <Override PartName="/ppt/media/image136.bin" ContentType="image/sv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52.bin" ContentType="image/jpeg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9"/>
    <p:sldId id="313" r:id="rId19"/>
    <p:sldId id="370" r:id="rId41"/>
    <p:sldId id="412" r:id="rId75"/>
    <p:sldId id="512" r:id="rId143"/>
    <p:sldId id="534" r:id="rId152"/>
    <p:sldId id="638" r:id="rId288"/>
    <p:sldId id="660" r:id="rId296"/>
    <p:sldId id="713" r:id="rId316"/>
    <p:sldId id="756" r:id="rId340"/>
  </p:sldIdLst>
  <p:sldSz cx="18288000" cy="10287000"/>
  <p:notesSz cx="18288000" cy="10287000"/>
  <p:embeddedFontLst>
    <p:embeddedFont>
      <p:font typeface="Roboto" pitchFamily="2" charset="77"/>
      <p:bold r:id="rId6"/>
    </p:embeddedFont>
    <p:embeddedFont>
      <p:font typeface="Inter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slide" Target="/ppt/slides/slide1.xml" Id="rId9" /><Relationship Type="http://schemas.openxmlformats.org/officeDocument/2006/relationships/slide" Target="/ppt/slides/slide2.xml" Id="rId19" /><Relationship Type="http://schemas.openxmlformats.org/officeDocument/2006/relationships/slide" Target="/ppt/slides/slide3.xml" Id="rId41" /><Relationship Type="http://schemas.openxmlformats.org/officeDocument/2006/relationships/slide" Target="/ppt/slides/slide4.xml" Id="rId75" /><Relationship Type="http://schemas.openxmlformats.org/officeDocument/2006/relationships/slide" Target="/ppt/slides/slide5.xml" Id="rId143" /><Relationship Type="http://schemas.openxmlformats.org/officeDocument/2006/relationships/slide" Target="/ppt/slides/slide6.xml" Id="rId152" /><Relationship Type="http://schemas.openxmlformats.org/officeDocument/2006/relationships/slide" Target="/ppt/slides/slide7.xml" Id="rId288" /><Relationship Type="http://schemas.openxmlformats.org/officeDocument/2006/relationships/slide" Target="/ppt/slides/slide8.xml" Id="rId296" /><Relationship Type="http://schemas.openxmlformats.org/officeDocument/2006/relationships/slide" Target="/ppt/slides/slide9.xml" Id="rId316" /><Relationship Type="http://schemas.openxmlformats.org/officeDocument/2006/relationships/slide" Target="/ppt/slides/slide10.xml" Id="rId340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0" /><Relationship Type="http://schemas.openxmlformats.org/officeDocument/2006/relationships/image" Target="/ppt/media/image.bin" Id="rId12" /><Relationship Type="http://schemas.openxmlformats.org/officeDocument/2006/relationships/image" Target="/ppt/media/image2.bin" Id="rId14" /><Relationship Type="http://schemas.openxmlformats.org/officeDocument/2006/relationships/image" Target="/ppt/media/image3.bin" Id="rId16" /><Relationship Type="http://schemas.openxmlformats.org/officeDocument/2006/relationships/image" Target="/ppt/media/image4.bin" Id="rI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0" /><Relationship Type="http://schemas.openxmlformats.org/officeDocument/2006/relationships/image" Target="/ppt/media/image5.bin" Id="rId22" /><Relationship Type="http://schemas.openxmlformats.org/officeDocument/2006/relationships/image" Target="/ppt/media/image6.bin" Id="rId24" /><Relationship Type="http://schemas.openxmlformats.org/officeDocument/2006/relationships/image" Target="/ppt/media/image7.bin" Id="rId26" /><Relationship Type="http://schemas.openxmlformats.org/officeDocument/2006/relationships/image" Target="/ppt/media/image8.bin" Id="rId28" /><Relationship Type="http://schemas.openxmlformats.org/officeDocument/2006/relationships/image" Target="/ppt/media/image9.bin" Id="rId30" /><Relationship Type="http://schemas.openxmlformats.org/officeDocument/2006/relationships/image" Target="/ppt/media/image10.bin" Id="rId32" /><Relationship Type="http://schemas.openxmlformats.org/officeDocument/2006/relationships/image" Target="/ppt/media/image11.bin" Id="rId34" /><Relationship Type="http://schemas.openxmlformats.org/officeDocument/2006/relationships/image" Target="/ppt/media/image12.bin" Id="rId36" /><Relationship Type="http://schemas.openxmlformats.org/officeDocument/2006/relationships/image" Target="/ppt/media/image13.bin" Id="rId38" /><Relationship Type="http://schemas.openxmlformats.org/officeDocument/2006/relationships/image" Target="/ppt/media/image14.bin" Id="rId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2" /><Relationship Type="http://schemas.openxmlformats.org/officeDocument/2006/relationships/image" Target="/ppt/media/image15.bin" Id="rId44" /><Relationship Type="http://schemas.openxmlformats.org/officeDocument/2006/relationships/image" Target="/ppt/media/image16.bin" Id="rId46" /><Relationship Type="http://schemas.openxmlformats.org/officeDocument/2006/relationships/image" Target="/ppt/media/image17.bin" Id="rId48" /><Relationship Type="http://schemas.openxmlformats.org/officeDocument/2006/relationships/image" Target="/ppt/media/image18.bin" Id="rId50" /><Relationship Type="http://schemas.openxmlformats.org/officeDocument/2006/relationships/image" Target="/ppt/media/image19.bin" Id="rId52" /><Relationship Type="http://schemas.openxmlformats.org/officeDocument/2006/relationships/image" Target="/ppt/media/image20.bin" Id="rId54" /><Relationship Type="http://schemas.openxmlformats.org/officeDocument/2006/relationships/image" Target="/ppt/media/image21.bin" Id="rId56" /><Relationship Type="http://schemas.openxmlformats.org/officeDocument/2006/relationships/image" Target="/ppt/media/image22.bin" Id="rId58" /><Relationship Type="http://schemas.openxmlformats.org/officeDocument/2006/relationships/image" Target="/ppt/media/image23.bin" Id="rId60" /><Relationship Type="http://schemas.openxmlformats.org/officeDocument/2006/relationships/image" Target="/ppt/media/image24.bin" Id="rId62" /><Relationship Type="http://schemas.openxmlformats.org/officeDocument/2006/relationships/image" Target="/ppt/media/image25.bin" Id="rId64" /><Relationship Type="http://schemas.openxmlformats.org/officeDocument/2006/relationships/image" Target="/ppt/media/image26.bin" Id="rId66" /><Relationship Type="http://schemas.openxmlformats.org/officeDocument/2006/relationships/image" Target="/ppt/media/image27.bin" Id="rId68" /><Relationship Type="http://schemas.openxmlformats.org/officeDocument/2006/relationships/image" Target="/ppt/media/image28.bin" Id="rId70" /><Relationship Type="http://schemas.openxmlformats.org/officeDocument/2006/relationships/image" Target="/ppt/media/image29.bin" Id="rId72" /><Relationship Type="http://schemas.openxmlformats.org/officeDocument/2006/relationships/image" Target="/ppt/media/image30.bin" Id="rId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76" /><Relationship Type="http://schemas.openxmlformats.org/officeDocument/2006/relationships/image" Target="/ppt/media/image31.bin" Id="rId78" /><Relationship Type="http://schemas.openxmlformats.org/officeDocument/2006/relationships/image" Target="/ppt/media/image32.bin" Id="rId80" /><Relationship Type="http://schemas.openxmlformats.org/officeDocument/2006/relationships/image" Target="/ppt/media/image33.bin" Id="rId82" /><Relationship Type="http://schemas.openxmlformats.org/officeDocument/2006/relationships/image" Target="/ppt/media/image34.bin" Id="rId84" /><Relationship Type="http://schemas.openxmlformats.org/officeDocument/2006/relationships/image" Target="/ppt/media/image35.bin" Id="rId86" /><Relationship Type="http://schemas.openxmlformats.org/officeDocument/2006/relationships/image" Target="/ppt/media/image36.bin" Id="rId88" /><Relationship Type="http://schemas.openxmlformats.org/officeDocument/2006/relationships/image" Target="/ppt/media/image37.bin" Id="rId90" /><Relationship Type="http://schemas.openxmlformats.org/officeDocument/2006/relationships/image" Target="/ppt/media/image38.bin" Id="rId92" /><Relationship Type="http://schemas.openxmlformats.org/officeDocument/2006/relationships/image" Target="/ppt/media/image39.bin" Id="rId94" /><Relationship Type="http://schemas.openxmlformats.org/officeDocument/2006/relationships/image" Target="/ppt/media/image40.bin" Id="rId96" /><Relationship Type="http://schemas.openxmlformats.org/officeDocument/2006/relationships/image" Target="/ppt/media/image41.bin" Id="rId98" /><Relationship Type="http://schemas.openxmlformats.org/officeDocument/2006/relationships/image" Target="/ppt/media/image42.bin" Id="rId100" /><Relationship Type="http://schemas.openxmlformats.org/officeDocument/2006/relationships/image" Target="/ppt/media/image43.bin" Id="rId102" /><Relationship Type="http://schemas.openxmlformats.org/officeDocument/2006/relationships/image" Target="/ppt/media/image44.bin" Id="rId104" /><Relationship Type="http://schemas.openxmlformats.org/officeDocument/2006/relationships/image" Target="/ppt/media/image45.bin" Id="rId106" /><Relationship Type="http://schemas.openxmlformats.org/officeDocument/2006/relationships/image" Target="/ppt/media/image46.bin" Id="rId108" /><Relationship Type="http://schemas.openxmlformats.org/officeDocument/2006/relationships/image" Target="/ppt/media/image47.bin" Id="rId110" /><Relationship Type="http://schemas.openxmlformats.org/officeDocument/2006/relationships/image" Target="/ppt/media/image48.bin" Id="rId112" /><Relationship Type="http://schemas.openxmlformats.org/officeDocument/2006/relationships/image" Target="/ppt/media/image49.bin" Id="rId114" /><Relationship Type="http://schemas.openxmlformats.org/officeDocument/2006/relationships/image" Target="/ppt/media/image50.bin" Id="rId116" /><Relationship Type="http://schemas.openxmlformats.org/officeDocument/2006/relationships/image" Target="/ppt/media/image51.bin" Id="rId118" /><Relationship Type="http://schemas.openxmlformats.org/officeDocument/2006/relationships/image" Target="/ppt/media/image52.bin" Id="rId120" /><Relationship Type="http://schemas.openxmlformats.org/officeDocument/2006/relationships/image" Target="/ppt/media/image53.bin" Id="rId122" /><Relationship Type="http://schemas.openxmlformats.org/officeDocument/2006/relationships/image" Target="/ppt/media/image54.bin" Id="rId124" /><Relationship Type="http://schemas.openxmlformats.org/officeDocument/2006/relationships/image" Target="/ppt/media/image55.bin" Id="rId126" /><Relationship Type="http://schemas.openxmlformats.org/officeDocument/2006/relationships/image" Target="/ppt/media/image56.bin" Id="rId128" /><Relationship Type="http://schemas.openxmlformats.org/officeDocument/2006/relationships/image" Target="/ppt/media/image57.bin" Id="rId130" /><Relationship Type="http://schemas.openxmlformats.org/officeDocument/2006/relationships/image" Target="/ppt/media/image58.bin" Id="rId132" /><Relationship Type="http://schemas.openxmlformats.org/officeDocument/2006/relationships/image" Target="/ppt/media/image59.bin" Id="rId134" /><Relationship Type="http://schemas.openxmlformats.org/officeDocument/2006/relationships/image" Target="/ppt/media/image60.bin" Id="rId136" /><Relationship Type="http://schemas.openxmlformats.org/officeDocument/2006/relationships/image" Target="/ppt/media/image61.bin" Id="rId138" /><Relationship Type="http://schemas.openxmlformats.org/officeDocument/2006/relationships/image" Target="/ppt/media/image62.bin" Id="rId140" /><Relationship Type="http://schemas.openxmlformats.org/officeDocument/2006/relationships/image" Target="/ppt/media/image63.bin" Id="rId1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4" /><Relationship Type="http://schemas.openxmlformats.org/officeDocument/2006/relationships/image" Target="/ppt/media/image64.bin" Id="rId146" /><Relationship Type="http://schemas.openxmlformats.org/officeDocument/2006/relationships/image" Target="/ppt/media/image65.bin" Id="rId148" /><Relationship Type="http://schemas.openxmlformats.org/officeDocument/2006/relationships/image" Target="/ppt/media/image66.bin" Id="rId149" /><Relationship Type="http://schemas.openxmlformats.org/officeDocument/2006/relationships/image" Target="/ppt/media/image67.bin" Id="rId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53" /><Relationship Type="http://schemas.openxmlformats.org/officeDocument/2006/relationships/image" Target="/ppt/media/image68.bin" Id="rId155" /><Relationship Type="http://schemas.openxmlformats.org/officeDocument/2006/relationships/image" Target="/ppt/media/image69.bin" Id="rId157" /><Relationship Type="http://schemas.openxmlformats.org/officeDocument/2006/relationships/image" Target="/ppt/media/image70.bin" Id="rId159" /><Relationship Type="http://schemas.openxmlformats.org/officeDocument/2006/relationships/image" Target="/ppt/media/image71.bin" Id="rId161" /><Relationship Type="http://schemas.openxmlformats.org/officeDocument/2006/relationships/image" Target="/ppt/media/image72.bin" Id="rId163" /><Relationship Type="http://schemas.openxmlformats.org/officeDocument/2006/relationships/image" Target="/ppt/media/image73.bin" Id="rId165" /><Relationship Type="http://schemas.openxmlformats.org/officeDocument/2006/relationships/image" Target="/ppt/media/image74.bin" Id="rId167" /><Relationship Type="http://schemas.openxmlformats.org/officeDocument/2006/relationships/image" Target="/ppt/media/image75.bin" Id="rId169" /><Relationship Type="http://schemas.openxmlformats.org/officeDocument/2006/relationships/image" Target="/ppt/media/image76.bin" Id="rId171" /><Relationship Type="http://schemas.openxmlformats.org/officeDocument/2006/relationships/image" Target="/ppt/media/image77.bin" Id="rId172" /><Relationship Type="http://schemas.openxmlformats.org/officeDocument/2006/relationships/image" Target="/ppt/media/image78.bin" Id="rId174" /><Relationship Type="http://schemas.openxmlformats.org/officeDocument/2006/relationships/image" Target="/ppt/media/image79.bin" Id="rId176" /><Relationship Type="http://schemas.openxmlformats.org/officeDocument/2006/relationships/image" Target="/ppt/media/image80.bin" Id="rId178" /><Relationship Type="http://schemas.openxmlformats.org/officeDocument/2006/relationships/image" Target="/ppt/media/image81.bin" Id="rId180" /><Relationship Type="http://schemas.openxmlformats.org/officeDocument/2006/relationships/image" Target="/ppt/media/image82.bin" Id="rId182" /><Relationship Type="http://schemas.openxmlformats.org/officeDocument/2006/relationships/image" Target="/ppt/media/image83.bin" Id="rId184" /><Relationship Type="http://schemas.openxmlformats.org/officeDocument/2006/relationships/image" Target="/ppt/media/image84.bin" Id="rId186" /><Relationship Type="http://schemas.openxmlformats.org/officeDocument/2006/relationships/image" Target="/ppt/media/image85.bin" Id="rId188" /><Relationship Type="http://schemas.openxmlformats.org/officeDocument/2006/relationships/image" Target="/ppt/media/image86.bin" Id="rId190" /><Relationship Type="http://schemas.openxmlformats.org/officeDocument/2006/relationships/image" Target="/ppt/media/image87.bin" Id="rId192" /><Relationship Type="http://schemas.openxmlformats.org/officeDocument/2006/relationships/image" Target="/ppt/media/image88.bin" Id="rId194" /><Relationship Type="http://schemas.openxmlformats.org/officeDocument/2006/relationships/image" Target="/ppt/media/image89.bin" Id="rId196" /><Relationship Type="http://schemas.openxmlformats.org/officeDocument/2006/relationships/image" Target="/ppt/media/image90.bin" Id="rId198" /><Relationship Type="http://schemas.openxmlformats.org/officeDocument/2006/relationships/image" Target="/ppt/media/image91.bin" Id="rId199" /><Relationship Type="http://schemas.openxmlformats.org/officeDocument/2006/relationships/image" Target="/ppt/media/image92.bin" Id="rId201" /><Relationship Type="http://schemas.openxmlformats.org/officeDocument/2006/relationships/image" Target="/ppt/media/image93.bin" Id="rId203" /><Relationship Type="http://schemas.openxmlformats.org/officeDocument/2006/relationships/image" Target="/ppt/media/image94.bin" Id="rId205" /><Relationship Type="http://schemas.openxmlformats.org/officeDocument/2006/relationships/image" Target="/ppt/media/image95.bin" Id="rId207" /><Relationship Type="http://schemas.openxmlformats.org/officeDocument/2006/relationships/image" Target="/ppt/media/image96.bin" Id="rId208" /><Relationship Type="http://schemas.openxmlformats.org/officeDocument/2006/relationships/image" Target="/ppt/media/image97.bin" Id="rId210" /><Relationship Type="http://schemas.openxmlformats.org/officeDocument/2006/relationships/image" Target="/ppt/media/image98.bin" Id="rId212" /><Relationship Type="http://schemas.openxmlformats.org/officeDocument/2006/relationships/image" Target="/ppt/media/image99.bin" Id="rId214" /><Relationship Type="http://schemas.openxmlformats.org/officeDocument/2006/relationships/image" Target="/ppt/media/image100.bin" Id="rId216" /><Relationship Type="http://schemas.openxmlformats.org/officeDocument/2006/relationships/image" Target="/ppt/media/image101.bin" Id="rId218" /><Relationship Type="http://schemas.openxmlformats.org/officeDocument/2006/relationships/image" Target="/ppt/media/image102.bin" Id="rId220" /><Relationship Type="http://schemas.openxmlformats.org/officeDocument/2006/relationships/image" Target="/ppt/media/image103.bin" Id="rId222" /><Relationship Type="http://schemas.openxmlformats.org/officeDocument/2006/relationships/image" Target="/ppt/media/image104.bin" Id="rId224" /><Relationship Type="http://schemas.openxmlformats.org/officeDocument/2006/relationships/image" Target="/ppt/media/image105.bin" Id="rId226" /><Relationship Type="http://schemas.openxmlformats.org/officeDocument/2006/relationships/image" Target="/ppt/media/image106.bin" Id="rId227" /><Relationship Type="http://schemas.openxmlformats.org/officeDocument/2006/relationships/image" Target="/ppt/media/image107.bin" Id="rId229" /><Relationship Type="http://schemas.openxmlformats.org/officeDocument/2006/relationships/image" Target="/ppt/media/image108.bin" Id="rId231" /><Relationship Type="http://schemas.openxmlformats.org/officeDocument/2006/relationships/image" Target="/ppt/media/image109.bin" Id="rId233" /><Relationship Type="http://schemas.openxmlformats.org/officeDocument/2006/relationships/image" Target="/ppt/media/image110.bin" Id="rId235" /><Relationship Type="http://schemas.openxmlformats.org/officeDocument/2006/relationships/image" Target="/ppt/media/image111.bin" Id="rId236" /><Relationship Type="http://schemas.openxmlformats.org/officeDocument/2006/relationships/image" Target="/ppt/media/image112.bin" Id="rId238" /><Relationship Type="http://schemas.openxmlformats.org/officeDocument/2006/relationships/image" Target="/ppt/media/image113.bin" Id="rId240" /><Relationship Type="http://schemas.openxmlformats.org/officeDocument/2006/relationships/image" Target="/ppt/media/image114.bin" Id="rId242" /><Relationship Type="http://schemas.openxmlformats.org/officeDocument/2006/relationships/image" Target="/ppt/media/image115.bin" Id="rId244" /><Relationship Type="http://schemas.openxmlformats.org/officeDocument/2006/relationships/image" Target="/ppt/media/image116.bin" Id="rId246" /><Relationship Type="http://schemas.openxmlformats.org/officeDocument/2006/relationships/image" Target="/ppt/media/image117.bin" Id="rId248" /><Relationship Type="http://schemas.openxmlformats.org/officeDocument/2006/relationships/image" Target="/ppt/media/image118.bin" Id="rId250" /><Relationship Type="http://schemas.openxmlformats.org/officeDocument/2006/relationships/image" Target="/ppt/media/image119.bin" Id="rId252" /><Relationship Type="http://schemas.openxmlformats.org/officeDocument/2006/relationships/image" Target="/ppt/media/image120.bin" Id="rId254" /><Relationship Type="http://schemas.openxmlformats.org/officeDocument/2006/relationships/image" Target="/ppt/media/image121.bin" Id="rId256" /><Relationship Type="http://schemas.openxmlformats.org/officeDocument/2006/relationships/image" Target="/ppt/media/image122.bin" Id="rId258" /><Relationship Type="http://schemas.openxmlformats.org/officeDocument/2006/relationships/image" Target="/ppt/media/image123.bin" Id="rId260" /><Relationship Type="http://schemas.openxmlformats.org/officeDocument/2006/relationships/image" Target="/ppt/media/image124.bin" Id="rId261" /><Relationship Type="http://schemas.openxmlformats.org/officeDocument/2006/relationships/image" Target="/ppt/media/image125.bin" Id="rId263" /><Relationship Type="http://schemas.openxmlformats.org/officeDocument/2006/relationships/image" Target="/ppt/media/image126.bin" Id="rId265" /><Relationship Type="http://schemas.openxmlformats.org/officeDocument/2006/relationships/image" Target="/ppt/media/image127.bin" Id="rId267" /><Relationship Type="http://schemas.openxmlformats.org/officeDocument/2006/relationships/image" Target="/ppt/media/image128.bin" Id="rId268" /><Relationship Type="http://schemas.openxmlformats.org/officeDocument/2006/relationships/image" Target="/ppt/media/image129.bin" Id="rId270" /><Relationship Type="http://schemas.openxmlformats.org/officeDocument/2006/relationships/image" Target="/ppt/media/image130.bin" Id="rId272" /><Relationship Type="http://schemas.openxmlformats.org/officeDocument/2006/relationships/image" Target="/ppt/media/image131.bin" Id="rId274" /><Relationship Type="http://schemas.openxmlformats.org/officeDocument/2006/relationships/image" Target="/ppt/media/image132.bin" Id="rId276" /><Relationship Type="http://schemas.openxmlformats.org/officeDocument/2006/relationships/image" Target="/ppt/media/image133.bin" Id="rId278" /><Relationship Type="http://schemas.openxmlformats.org/officeDocument/2006/relationships/image" Target="/ppt/media/image134.bin" Id="rId280" /><Relationship Type="http://schemas.openxmlformats.org/officeDocument/2006/relationships/image" Target="/ppt/media/image135.bin" Id="rId282" /><Relationship Type="http://schemas.openxmlformats.org/officeDocument/2006/relationships/image" Target="/ppt/media/image136.bin" Id="rId284" /><Relationship Type="http://schemas.openxmlformats.org/officeDocument/2006/relationships/image" Target="/ppt/media/image137.bin" Id="rId285" /><Relationship Type="http://schemas.openxmlformats.org/officeDocument/2006/relationships/image" Target="/ppt/media/image138.bin" Id="rId2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89" /><Relationship Type="http://schemas.openxmlformats.org/officeDocument/2006/relationships/image" Target="/ppt/media/image139.bin" Id="rId291" /><Relationship Type="http://schemas.openxmlformats.org/officeDocument/2006/relationships/image" Target="/ppt/media/image140.bin" Id="rId293" /><Relationship Type="http://schemas.openxmlformats.org/officeDocument/2006/relationships/image" Target="/ppt/media/image141.bin" Id="rId2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97" /><Relationship Type="http://schemas.openxmlformats.org/officeDocument/2006/relationships/image" Target="/ppt/media/image142.bin" Id="rId299" /><Relationship Type="http://schemas.openxmlformats.org/officeDocument/2006/relationships/image" Target="/ppt/media/image143.bin" Id="rId301" /><Relationship Type="http://schemas.openxmlformats.org/officeDocument/2006/relationships/image" Target="/ppt/media/image144.bin" Id="rId303" /><Relationship Type="http://schemas.openxmlformats.org/officeDocument/2006/relationships/image" Target="/ppt/media/image145.bin" Id="rId305" /><Relationship Type="http://schemas.openxmlformats.org/officeDocument/2006/relationships/image" Target="/ppt/media/image146.bin" Id="rId307" /><Relationship Type="http://schemas.openxmlformats.org/officeDocument/2006/relationships/image" Target="/ppt/media/image147.bin" Id="rId309" /><Relationship Type="http://schemas.openxmlformats.org/officeDocument/2006/relationships/image" Target="/ppt/media/image148.bin" Id="rId311" /><Relationship Type="http://schemas.openxmlformats.org/officeDocument/2006/relationships/image" Target="/ppt/media/image149.bin" Id="rId313" /><Relationship Type="http://schemas.openxmlformats.org/officeDocument/2006/relationships/image" Target="/ppt/media/image150.bin" Id="rId3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17" /><Relationship Type="http://schemas.openxmlformats.org/officeDocument/2006/relationships/image" Target="/ppt/media/image151.bin" Id="rId319" /><Relationship Type="http://schemas.openxmlformats.org/officeDocument/2006/relationships/image" Target="/ppt/media/image152.bin" Id="rId321" /><Relationship Type="http://schemas.openxmlformats.org/officeDocument/2006/relationships/image" Target="/ppt/media/image153.bin" Id="rId323" /><Relationship Type="http://schemas.openxmlformats.org/officeDocument/2006/relationships/image" Target="/ppt/media/image154.bin" Id="rId325" /><Relationship Type="http://schemas.openxmlformats.org/officeDocument/2006/relationships/image" Target="/ppt/media/image155.bin" Id="rId327" /><Relationship Type="http://schemas.openxmlformats.org/officeDocument/2006/relationships/image" Target="/ppt/media/image156.bin" Id="rId329" /><Relationship Type="http://schemas.openxmlformats.org/officeDocument/2006/relationships/image" Target="/ppt/media/image157.bin" Id="rId331" /><Relationship Type="http://schemas.openxmlformats.org/officeDocument/2006/relationships/image" Target="/ppt/media/image158.bin" Id="rId333" /><Relationship Type="http://schemas.openxmlformats.org/officeDocument/2006/relationships/image" Target="/ppt/media/image159.bin" Id="rId335" /><Relationship Type="http://schemas.openxmlformats.org/officeDocument/2006/relationships/image" Target="/ppt/media/image160.bin" Id="rId337" /><Relationship Type="http://schemas.openxmlformats.org/officeDocument/2006/relationships/image" Target="/ppt/media/image161.bin" Id="rId3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41" /><Relationship Type="http://schemas.openxmlformats.org/officeDocument/2006/relationships/image" Target="/ppt/media/image162.bin" Id="rId343" /><Relationship Type="http://schemas.openxmlformats.org/officeDocument/2006/relationships/image" Target="/ppt/media/image163.bin" Id="rId345" /><Relationship Type="http://schemas.openxmlformats.org/officeDocument/2006/relationships/image" Target="/ppt/media/image164.bin" Id="rId347" /><Relationship Type="http://schemas.openxmlformats.org/officeDocument/2006/relationships/image" Target="/ppt/media/image165.bin" Id="rId349" /><Relationship Type="http://schemas.openxmlformats.org/officeDocument/2006/relationships/image" Target="/ppt/media/image166.bin" Id="rId35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bg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4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6">
            <a:alphaModFix amt="100000"/>
          </a:blip>
          <a:stretch/>
        </p:blipFill>
        <p:spPr>
          <a:xfrm>
            <a:off x="7494365" y="1628299"/>
            <a:ext cx="3248025" cy="493395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alphaModFix amt="100000"/>
          </a:blip>
          <a:stretch/>
        </p:blipFill>
        <p:spPr>
          <a:xfrm>
            <a:off x="381000" y="7934325"/>
            <a:ext cx="6000750" cy="19050"/>
          </a:xfrm>
          <a:prstGeom prst="rect">
            <a:avLst/>
          </a:prstGeom>
        </p:spPr>
      </p:pic>
      <p:sp>
        <p:nvSpPr>
          <p:cNvPr id="30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2071878"/>
            <a:ext cx="6034088" cy="5600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6600" b="1" spc="-33" dirty="0">
                <a:solidFill>
                  <a:srgbClr val="FAFAFA">
                    <a:alpha val="100000"/>
                  </a:srgbClr>
                </a:solidFill>
                <a:latin typeface="Roboto" panose="00000700000000000000" pitchFamily="2" charset="0"/>
              </a:rPr>
              <a:t>PRICING AND PROMOTION ANALYTICS: UNLOCKING STRATEGIC GROWTH</a:t>
            </a:r>
          </a:p>
        </p:txBody>
      </p:sp>
      <p:sp>
        <p:nvSpPr>
          <p:cNvPr id="31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85320" y="4535519"/>
            <a:ext cx="5853112" cy="1228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AFAFA">
                    <a:alpha val="100000"/>
                  </a:srgbClr>
                </a:solidFill>
                <a:latin typeface="Inter" panose="00000700000000000000" pitchFamily="2" charset="0"/>
              </a:rPr>
              <a:t>Driving competitive advantage through data-driven pricing and promotion strategies for strategic growth in 2025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alphaModFix amt="100000"/>
          </a:blip>
          <a:stretch/>
        </p:blipFill>
        <p:spPr>
          <a:xfrm>
            <a:off x="381000" y="2171700"/>
            <a:ext cx="4295775" cy="3810000"/>
          </a:xfrm>
          <a:prstGeom prst="rect">
            <a:avLst/>
          </a:prstGeom>
        </p:spPr>
      </p:pic>
      <p:sp>
        <p:nvSpPr>
          <p:cNvPr id="31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9600" y="2655570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1</a:t>
            </a:r>
          </a:p>
        </p:txBody>
      </p:sp>
      <p:sp>
        <p:nvSpPr>
          <p:cNvPr id="31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9600" y="3592735"/>
            <a:ext cx="3871912" cy="1914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STRATEGIC ROLE OF PRICING AND PROMOTION ANALYTICS</a:t>
            </a:r>
          </a:p>
        </p:txBody>
      </p:sp>
      <p:pic>
        <p:nvPicPr>
          <p:cNvPr id="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alphaModFix amt="100000"/>
          </a:blip>
          <a:stretch/>
        </p:blipFill>
        <p:spPr>
          <a:xfrm>
            <a:off x="4791075" y="2171700"/>
            <a:ext cx="4295775" cy="3810000"/>
          </a:xfrm>
          <a:prstGeom prst="rect">
            <a:avLst/>
          </a:prstGeom>
        </p:spPr>
      </p:pic>
      <p:sp>
        <p:nvSpPr>
          <p:cNvPr id="323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19675" y="2655570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2</a:t>
            </a:r>
          </a:p>
        </p:txBody>
      </p:sp>
      <p:sp>
        <p:nvSpPr>
          <p:cNvPr id="32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19675" y="3592735"/>
            <a:ext cx="3871912" cy="1914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UNDERSTANDING PRICE ELASTICITY AND VOLUME SENSITIVITY</a:t>
            </a:r>
          </a:p>
        </p:txBody>
      </p:sp>
      <p:pic>
        <p:nvPicPr>
          <p:cNvPr id="3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alphaModFix amt="100000"/>
          </a:blip>
          <a:stretch/>
        </p:blipFill>
        <p:spPr>
          <a:xfrm>
            <a:off x="9201150" y="2171700"/>
            <a:ext cx="4295775" cy="3810000"/>
          </a:xfrm>
          <a:prstGeom prst="rect">
            <a:avLst/>
          </a:prstGeom>
        </p:spPr>
      </p:pic>
      <p:sp>
        <p:nvSpPr>
          <p:cNvPr id="32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29750" y="2893695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3</a:t>
            </a:r>
          </a:p>
        </p:txBody>
      </p:sp>
      <p:sp>
        <p:nvSpPr>
          <p:cNvPr id="33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29750" y="3830860"/>
            <a:ext cx="38719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MARKET MIX MODELING FOR ROI ESTIMATION</a:t>
            </a:r>
          </a:p>
        </p:txBody>
      </p:sp>
      <p:pic>
        <p:nvPicPr>
          <p:cNvPr id="3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alphaModFix amt="100000"/>
          </a:blip>
          <a:stretch/>
        </p:blipFill>
        <p:spPr>
          <a:xfrm>
            <a:off x="13611225" y="2171700"/>
            <a:ext cx="4295775" cy="3810000"/>
          </a:xfrm>
          <a:prstGeom prst="rect">
            <a:avLst/>
          </a:prstGeom>
        </p:spPr>
      </p:pic>
      <p:sp>
        <p:nvSpPr>
          <p:cNvPr id="335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39825" y="2655570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4</a:t>
            </a:r>
          </a:p>
        </p:txBody>
      </p:sp>
      <p:sp>
        <p:nvSpPr>
          <p:cNvPr id="33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39825" y="3592735"/>
            <a:ext cx="3871912" cy="1914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REGRESSION ANALYSIS TO MEASURE PROMOTION IMPACT</a:t>
            </a:r>
          </a:p>
        </p:txBody>
      </p:sp>
      <p:pic>
        <p:nvPicPr>
          <p:cNvPr id="3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alphaModFix amt="100000"/>
          </a:blip>
          <a:stretch/>
        </p:blipFill>
        <p:spPr>
          <a:xfrm>
            <a:off x="381000" y="6096000"/>
            <a:ext cx="4295775" cy="3810000"/>
          </a:xfrm>
          <a:prstGeom prst="rect">
            <a:avLst/>
          </a:prstGeom>
        </p:spPr>
      </p:pic>
      <p:sp>
        <p:nvSpPr>
          <p:cNvPr id="341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9600" y="6817995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5</a:t>
            </a:r>
          </a:p>
        </p:txBody>
      </p:sp>
      <p:sp>
        <p:nvSpPr>
          <p:cNvPr id="34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09600" y="7755160"/>
            <a:ext cx="38719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SCENARIO PLANNING FOR PROMOTION OPTIMIZATION</a:t>
            </a:r>
          </a:p>
        </p:txBody>
      </p:sp>
      <p:pic>
        <p:nvPicPr>
          <p:cNvPr id="3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alphaModFix amt="100000"/>
          </a:blip>
          <a:stretch/>
        </p:blipFill>
        <p:spPr>
          <a:xfrm>
            <a:off x="4791075" y="6096000"/>
            <a:ext cx="4295775" cy="3810000"/>
          </a:xfrm>
          <a:prstGeom prst="rect">
            <a:avLst/>
          </a:prstGeom>
        </p:spPr>
      </p:pic>
      <p:sp>
        <p:nvSpPr>
          <p:cNvPr id="347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19675" y="6817995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6</a:t>
            </a:r>
          </a:p>
        </p:txBody>
      </p:sp>
      <p:sp>
        <p:nvSpPr>
          <p:cNvPr id="349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19675" y="7755160"/>
            <a:ext cx="38719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CASE STUDY ON DATA-DRIVEN SALES GROWTH</a:t>
            </a:r>
          </a:p>
        </p:txBody>
      </p:sp>
      <p:pic>
        <p:nvPicPr>
          <p:cNvPr id="3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">
            <a:alphaModFix amt="100000"/>
          </a:blip>
          <a:stretch/>
        </p:blipFill>
        <p:spPr>
          <a:xfrm>
            <a:off x="9201150" y="6096000"/>
            <a:ext cx="4295775" cy="3810000"/>
          </a:xfrm>
          <a:prstGeom prst="rect">
            <a:avLst/>
          </a:prstGeom>
        </p:spPr>
      </p:pic>
      <p:sp>
        <p:nvSpPr>
          <p:cNvPr id="353" name="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29750" y="6817995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7</a:t>
            </a:r>
          </a:p>
        </p:txBody>
      </p:sp>
      <p:sp>
        <p:nvSpPr>
          <p:cNvPr id="355" name="Primary Heading-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29750" y="7755160"/>
            <a:ext cx="3871912" cy="1438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CHALLENGES IN DATA QUALITY AND INTEGRATION</a:t>
            </a:r>
          </a:p>
        </p:txBody>
      </p:sp>
      <p:pic>
        <p:nvPicPr>
          <p:cNvPr id="3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">
            <a:alphaModFix amt="100000"/>
          </a:blip>
          <a:stretch/>
        </p:blipFill>
        <p:spPr>
          <a:xfrm>
            <a:off x="13611225" y="6096000"/>
            <a:ext cx="4295775" cy="3810000"/>
          </a:xfrm>
          <a:prstGeom prst="rect">
            <a:avLst/>
          </a:prstGeom>
        </p:spPr>
      </p:pic>
      <p:sp>
        <p:nvSpPr>
          <p:cNvPr id="359" name="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39825" y="7056120"/>
            <a:ext cx="490538" cy="809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6300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8</a:t>
            </a:r>
          </a:p>
        </p:txBody>
      </p:sp>
      <p:sp>
        <p:nvSpPr>
          <p:cNvPr id="361" name="Primary Heading-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39825" y="7993285"/>
            <a:ext cx="3871912" cy="962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STRATEGIC BENEFITS AND NEXT STEPS</a:t>
            </a:r>
          </a:p>
        </p:txBody>
      </p:sp>
      <p:sp>
        <p:nvSpPr>
          <p:cNvPr id="36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51949"/>
            <a:ext cx="175593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AGENDA: PRICING &amp; PROMOTION ANALYTICS IMPACT</a:t>
            </a:r>
          </a:p>
        </p:txBody>
      </p:sp>
      <p:pic>
        <p:nvPicPr>
          <p:cNvPr id="3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alphaModFix amt="100000"/>
          </a:blip>
          <a:stretch/>
        </p:blipFill>
        <p:spPr>
          <a:xfrm>
            <a:off x="381000" y="1362075"/>
            <a:ext cx="17506950" cy="19050"/>
          </a:xfrm>
          <a:prstGeom prst="rect">
            <a:avLst/>
          </a:prstGeom>
        </p:spPr>
      </p:pic>
      <p:sp>
        <p:nvSpPr>
          <p:cNvPr id="36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1562100"/>
            <a:ext cx="1755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Key topics on analytics driving strategic growth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alphaModFix amt="100000"/>
          </a:blip>
          <a:stretch/>
        </p:blipFill>
        <p:spPr>
          <a:xfrm>
            <a:off x="7138988" y="1695450"/>
            <a:ext cx="19050" cy="6134100"/>
          </a:xfrm>
          <a:prstGeom prst="rect">
            <a:avLst/>
          </a:prstGeom>
        </p:spPr>
      </p:pic>
      <p:pic>
        <p:nvPicPr>
          <p:cNvPr id="373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">
            <a:alphaModFix amt="100000"/>
          </a:blip>
          <a:stretch/>
        </p:blipFill>
        <p:spPr>
          <a:xfrm>
            <a:off x="7148512" y="1685925"/>
            <a:ext cx="476250" cy="19050"/>
          </a:xfrm>
          <a:prstGeom prst="rect">
            <a:avLst/>
          </a:prstGeom>
        </p:spPr>
      </p:pic>
      <p:pic>
        <p:nvPicPr>
          <p:cNvPr id="37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">
            <a:alphaModFix amt="100000"/>
          </a:blip>
          <a:stretch/>
        </p:blipFill>
        <p:spPr>
          <a:xfrm>
            <a:off x="7148512" y="2914650"/>
            <a:ext cx="476250" cy="19050"/>
          </a:xfrm>
          <a:prstGeom prst="rect">
            <a:avLst/>
          </a:prstGeom>
        </p:spPr>
      </p:pic>
      <p:pic>
        <p:nvPicPr>
          <p:cNvPr id="375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">
            <a:alphaModFix amt="100000"/>
          </a:blip>
          <a:stretch/>
        </p:blipFill>
        <p:spPr>
          <a:xfrm>
            <a:off x="7148512" y="4143375"/>
            <a:ext cx="476250" cy="19050"/>
          </a:xfrm>
          <a:prstGeom prst="rect">
            <a:avLst/>
          </a:prstGeom>
        </p:spPr>
      </p:pic>
      <p:pic>
        <p:nvPicPr>
          <p:cNvPr id="376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">
            <a:alphaModFix amt="100000"/>
          </a:blip>
          <a:stretch/>
        </p:blipFill>
        <p:spPr>
          <a:xfrm>
            <a:off x="7148512" y="5372100"/>
            <a:ext cx="476250" cy="19050"/>
          </a:xfrm>
          <a:prstGeom prst="rect">
            <a:avLst/>
          </a:prstGeom>
        </p:spPr>
      </p:pic>
      <p:pic>
        <p:nvPicPr>
          <p:cNvPr id="377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">
            <a:alphaModFix amt="100000"/>
          </a:blip>
          <a:stretch/>
        </p:blipFill>
        <p:spPr>
          <a:xfrm>
            <a:off x="7148512" y="6600825"/>
            <a:ext cx="476250" cy="19050"/>
          </a:xfrm>
          <a:prstGeom prst="rect">
            <a:avLst/>
          </a:prstGeom>
        </p:spPr>
      </p:pic>
      <p:pic>
        <p:nvPicPr>
          <p:cNvPr id="378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alphaModFix amt="100000"/>
          </a:blip>
          <a:stretch/>
        </p:blipFill>
        <p:spPr>
          <a:xfrm>
            <a:off x="7148512" y="7820025"/>
            <a:ext cx="476250" cy="19050"/>
          </a:xfrm>
          <a:prstGeom prst="rect">
            <a:avLst/>
          </a:prstGeom>
        </p:spPr>
      </p:pic>
      <p:pic>
        <p:nvPicPr>
          <p:cNvPr id="3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alphaModFix amt="100000"/>
          </a:blip>
          <a:stretch/>
        </p:blipFill>
        <p:spPr>
          <a:xfrm>
            <a:off x="6981825" y="1696307"/>
            <a:ext cx="342900" cy="342900"/>
          </a:xfrm>
          <a:prstGeom prst="rect">
            <a:avLst/>
          </a:prstGeom>
        </p:spPr>
      </p:pic>
      <p:sp>
        <p:nvSpPr>
          <p:cNvPr id="380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1752028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1</a:t>
            </a:r>
          </a:p>
        </p:txBody>
      </p:sp>
      <p:sp>
        <p:nvSpPr>
          <p:cNvPr id="38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1696307"/>
            <a:ext cx="101203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Pricing Analytics Boosts Revenue</a:t>
            </a:r>
          </a:p>
        </p:txBody>
      </p:sp>
      <p:sp>
        <p:nvSpPr>
          <p:cNvPr id="38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2096357"/>
            <a:ext cx="101203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Optimizing price points and promotions drives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3-5% incremental revenue growth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, boosting top-line results.</a:t>
            </a:r>
          </a:p>
        </p:txBody>
      </p:sp>
      <p:pic>
        <p:nvPicPr>
          <p:cNvPr id="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2">
            <a:alphaModFix amt="100000"/>
          </a:blip>
          <a:stretch/>
        </p:blipFill>
        <p:spPr>
          <a:xfrm>
            <a:off x="6981825" y="2923889"/>
            <a:ext cx="342900" cy="342900"/>
          </a:xfrm>
          <a:prstGeom prst="rect">
            <a:avLst/>
          </a:prstGeom>
        </p:spPr>
      </p:pic>
      <p:sp>
        <p:nvSpPr>
          <p:cNvPr id="38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2979515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2</a:t>
            </a:r>
          </a:p>
        </p:txBody>
      </p:sp>
      <p:sp>
        <p:nvSpPr>
          <p:cNvPr id="38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2923889"/>
            <a:ext cx="101203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Enhances Customer Loyalty</a:t>
            </a:r>
          </a:p>
        </p:txBody>
      </p:sp>
      <p:sp>
        <p:nvSpPr>
          <p:cNvPr id="38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3323939"/>
            <a:ext cx="101203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Data-driven pricing improves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customer retention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and increases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lifetime value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via targeted promotions.</a:t>
            </a:r>
          </a:p>
        </p:txBody>
      </p:sp>
      <p:pic>
        <p:nvPicPr>
          <p:cNvPr id="3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4">
            <a:alphaModFix amt="100000"/>
          </a:blip>
          <a:stretch/>
        </p:blipFill>
        <p:spPr>
          <a:xfrm>
            <a:off x="6981825" y="4151376"/>
            <a:ext cx="342900" cy="342900"/>
          </a:xfrm>
          <a:prstGeom prst="rect">
            <a:avLst/>
          </a:prstGeom>
        </p:spPr>
      </p:pic>
      <p:sp>
        <p:nvSpPr>
          <p:cNvPr id="388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4207097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3</a:t>
            </a:r>
          </a:p>
        </p:txBody>
      </p:sp>
      <p:sp>
        <p:nvSpPr>
          <p:cNvPr id="38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4151376"/>
            <a:ext cx="101203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Improves Profit Margins</a:t>
            </a:r>
          </a:p>
        </p:txBody>
      </p:sp>
      <p:sp>
        <p:nvSpPr>
          <p:cNvPr id="39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4551426"/>
            <a:ext cx="101203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Advanced analytics reduce margin erosion from discounts, raising profits by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2-4 percentage points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.</a:t>
            </a:r>
          </a:p>
        </p:txBody>
      </p:sp>
      <p:pic>
        <p:nvPicPr>
          <p:cNvPr id="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6">
            <a:alphaModFix amt="100000"/>
          </a:blip>
          <a:stretch/>
        </p:blipFill>
        <p:spPr>
          <a:xfrm>
            <a:off x="6981825" y="5378958"/>
            <a:ext cx="342900" cy="342900"/>
          </a:xfrm>
          <a:prstGeom prst="rect">
            <a:avLst/>
          </a:prstGeom>
        </p:spPr>
      </p:pic>
      <p:sp>
        <p:nvSpPr>
          <p:cNvPr id="392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5434584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4</a:t>
            </a:r>
          </a:p>
        </p:txBody>
      </p:sp>
      <p:sp>
        <p:nvSpPr>
          <p:cNvPr id="39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5378958"/>
            <a:ext cx="101203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Supports Agile Positioning</a:t>
            </a:r>
          </a:p>
        </p:txBody>
      </p:sp>
      <p:sp>
        <p:nvSpPr>
          <p:cNvPr id="39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5779008"/>
            <a:ext cx="101203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Real-time insights on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price elasticity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enable fast market responses and competitive advantage.</a:t>
            </a:r>
          </a:p>
        </p:txBody>
      </p:sp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8">
            <a:alphaModFix amt="100000"/>
          </a:blip>
          <a:stretch/>
        </p:blipFill>
        <p:spPr>
          <a:xfrm>
            <a:off x="6981825" y="6606445"/>
            <a:ext cx="342900" cy="342900"/>
          </a:xfrm>
          <a:prstGeom prst="rect">
            <a:avLst/>
          </a:prstGeom>
        </p:spPr>
      </p:pic>
      <p:sp>
        <p:nvSpPr>
          <p:cNvPr id="396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6662166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5</a:t>
            </a:r>
          </a:p>
        </p:txBody>
      </p:sp>
      <p:sp>
        <p:nvSpPr>
          <p:cNvPr id="39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6606445"/>
            <a:ext cx="101203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Improves Forecast Accuracy</a:t>
            </a:r>
          </a:p>
        </p:txBody>
      </p:sp>
      <p:sp>
        <p:nvSpPr>
          <p:cNvPr id="398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7006495"/>
            <a:ext cx="101203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Market Mix Modeling (MMM) enhances sales forecasts for better marketing and sales planning.</a:t>
            </a:r>
          </a:p>
        </p:txBody>
      </p:sp>
      <p:pic>
        <p:nvPicPr>
          <p:cNvPr id="3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0">
            <a:alphaModFix amt="100000"/>
          </a:blip>
          <a:stretch/>
        </p:blipFill>
        <p:spPr>
          <a:xfrm>
            <a:off x="6981825" y="7834027"/>
            <a:ext cx="342900" cy="342900"/>
          </a:xfrm>
          <a:prstGeom prst="rect">
            <a:avLst/>
          </a:prstGeom>
        </p:spPr>
      </p:pic>
      <p:sp>
        <p:nvSpPr>
          <p:cNvPr id="400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08888" y="7889653"/>
            <a:ext cx="119062" cy="238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822"/>
              </a:lnSpc>
            </a:pPr>
            <a:r>
              <a:rPr lang="en-US" sz="1215" b="1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6</a:t>
            </a:r>
          </a:p>
        </p:txBody>
      </p:sp>
      <p:sp>
        <p:nvSpPr>
          <p:cNvPr id="40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7834027"/>
            <a:ext cx="993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Drives Proven Sales Growth</a:t>
            </a:r>
          </a:p>
        </p:txBody>
      </p:sp>
      <p:sp>
        <p:nvSpPr>
          <p:cNvPr id="40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9525" y="8234077"/>
            <a:ext cx="99393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CPG and automotive sectors achieve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5-7% sales growth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through effective pricing analytics.</a:t>
            </a:r>
          </a:p>
        </p:txBody>
      </p:sp>
      <p:pic>
        <p:nvPicPr>
          <p:cNvPr id="4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2">
            <a:alphaModFix amt="100000"/>
          </a:blip>
          <a:stretch/>
        </p:blipFill>
        <p:spPr>
          <a:xfrm>
            <a:off x="800100" y="6781800"/>
            <a:ext cx="5133975" cy="19050"/>
          </a:xfrm>
          <a:prstGeom prst="rect">
            <a:avLst/>
          </a:prstGeom>
        </p:spPr>
      </p:pic>
      <p:pic>
        <p:nvPicPr>
          <p:cNvPr id="4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4">
            <a:alphaModFix amt="100000"/>
          </a:blip>
          <a:stretch/>
        </p:blipFill>
        <p:spPr>
          <a:xfrm>
            <a:off x="381000" y="419100"/>
            <a:ext cx="5981700" cy="9448800"/>
          </a:xfrm>
          <a:prstGeom prst="rect">
            <a:avLst/>
          </a:prstGeom>
        </p:spPr>
      </p:pic>
      <p:sp>
        <p:nvSpPr>
          <p:cNvPr id="40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2438400"/>
            <a:ext cx="5176838" cy="4086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STRATEGIC VALUE OF PRICING AND PROMOTION ANALYTICS</a:t>
            </a:r>
          </a:p>
        </p:txBody>
      </p:sp>
      <p:sp>
        <p:nvSpPr>
          <p:cNvPr id="40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100" y="7086600"/>
            <a:ext cx="51768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Driving revenue, loyalty, margins, and competitive advantage with data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8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0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2">
            <a:alphaModFix amt="100000"/>
          </a:blip>
          <a:stretch/>
        </p:blipFill>
        <p:spPr>
          <a:xfrm>
            <a:off x="381000" y="2971800"/>
            <a:ext cx="5229225" cy="1400175"/>
          </a:xfrm>
          <a:prstGeom prst="rect">
            <a:avLst/>
          </a:prstGeom>
        </p:spPr>
      </p:pic>
      <p:pic>
        <p:nvPicPr>
          <p:cNvPr id="4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4">
            <a:alphaModFix amt="100000"/>
          </a:blip>
          <a:stretch/>
        </p:blipFill>
        <p:spPr>
          <a:xfrm>
            <a:off x="381000" y="2990850"/>
            <a:ext cx="5191125" cy="1362075"/>
          </a:xfrm>
          <a:prstGeom prst="rect">
            <a:avLst/>
          </a:prstGeom>
        </p:spPr>
      </p:pic>
      <p:sp>
        <p:nvSpPr>
          <p:cNvPr id="419" name="text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98122" y="3483769"/>
            <a:ext cx="985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Metric</a:t>
            </a:r>
          </a:p>
        </p:txBody>
      </p:sp>
      <p:pic>
        <p:nvPicPr>
          <p:cNvPr id="4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6">
            <a:alphaModFix amt="100000"/>
          </a:blip>
          <a:stretch/>
        </p:blipFill>
        <p:spPr>
          <a:xfrm>
            <a:off x="5567809" y="2971800"/>
            <a:ext cx="3067050" cy="1400175"/>
          </a:xfrm>
          <a:prstGeom prst="rect">
            <a:avLst/>
          </a:prstGeom>
        </p:spPr>
      </p:pic>
      <p:pic>
        <p:nvPicPr>
          <p:cNvPr id="4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8">
            <a:alphaModFix amt="100000"/>
          </a:blip>
          <a:stretch/>
        </p:blipFill>
        <p:spPr>
          <a:xfrm>
            <a:off x="5567809" y="2990850"/>
            <a:ext cx="3028950" cy="1362075"/>
          </a:xfrm>
          <a:prstGeom prst="rect">
            <a:avLst/>
          </a:prstGeom>
        </p:spPr>
      </p:pic>
      <p:sp>
        <p:nvSpPr>
          <p:cNvPr id="425" name="text-0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373368" y="3483769"/>
            <a:ext cx="14525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Range/Value</a:t>
            </a:r>
          </a:p>
        </p:txBody>
      </p:sp>
      <p:pic>
        <p:nvPicPr>
          <p:cNvPr id="4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0">
            <a:alphaModFix amt="100000"/>
          </a:blip>
          <a:stretch/>
        </p:blipFill>
        <p:spPr>
          <a:xfrm>
            <a:off x="8599736" y="2971800"/>
            <a:ext cx="9258300" cy="1400175"/>
          </a:xfrm>
          <a:prstGeom prst="rect">
            <a:avLst/>
          </a:prstGeom>
        </p:spPr>
      </p:pic>
      <p:pic>
        <p:nvPicPr>
          <p:cNvPr id="4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2">
            <a:alphaModFix amt="100000"/>
          </a:blip>
          <a:stretch/>
        </p:blipFill>
        <p:spPr>
          <a:xfrm>
            <a:off x="8599736" y="2990850"/>
            <a:ext cx="9220200" cy="1362075"/>
          </a:xfrm>
          <a:prstGeom prst="rect">
            <a:avLst/>
          </a:prstGeom>
        </p:spPr>
      </p:pic>
      <p:sp>
        <p:nvSpPr>
          <p:cNvPr id="431" name="text-0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47556" y="3483769"/>
            <a:ext cx="15573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b="1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Interpretation</a:t>
            </a:r>
          </a:p>
        </p:txBody>
      </p:sp>
      <p:pic>
        <p:nvPicPr>
          <p:cNvPr id="4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4">
            <a:alphaModFix amt="100000"/>
          </a:blip>
          <a:stretch/>
        </p:blipFill>
        <p:spPr>
          <a:xfrm>
            <a:off x="381000" y="4333280"/>
            <a:ext cx="5229225" cy="1400175"/>
          </a:xfrm>
          <a:prstGeom prst="rect">
            <a:avLst/>
          </a:prstGeom>
        </p:spPr>
      </p:pic>
      <p:pic>
        <p:nvPicPr>
          <p:cNvPr id="4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6">
            <a:alphaModFix amt="100000"/>
          </a:blip>
          <a:stretch/>
        </p:blipFill>
        <p:spPr>
          <a:xfrm>
            <a:off x="381000" y="4352354"/>
            <a:ext cx="5191125" cy="1362075"/>
          </a:xfrm>
          <a:prstGeom prst="rect">
            <a:avLst/>
          </a:prstGeom>
        </p:spPr>
      </p:pic>
      <p:sp>
        <p:nvSpPr>
          <p:cNvPr id="437" name="Label-1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" y="4845272"/>
            <a:ext cx="4957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Price Elasticity Coefficient</a:t>
            </a:r>
          </a:p>
        </p:txBody>
      </p:sp>
      <p:pic>
        <p:nvPicPr>
          <p:cNvPr id="4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8">
            <a:alphaModFix amt="100000"/>
          </a:blip>
          <a:stretch/>
        </p:blipFill>
        <p:spPr>
          <a:xfrm>
            <a:off x="5567809" y="4333280"/>
            <a:ext cx="3067050" cy="1400175"/>
          </a:xfrm>
          <a:prstGeom prst="rect">
            <a:avLst/>
          </a:prstGeom>
        </p:spPr>
      </p:pic>
      <p:pic>
        <p:nvPicPr>
          <p:cNvPr id="4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 amt="100000"/>
          </a:blip>
          <a:stretch/>
        </p:blipFill>
        <p:spPr>
          <a:xfrm>
            <a:off x="5567839" y="4352354"/>
            <a:ext cx="3028950" cy="1362075"/>
          </a:xfrm>
          <a:prstGeom prst="rect">
            <a:avLst/>
          </a:prstGeom>
        </p:spPr>
      </p:pic>
      <p:sp>
        <p:nvSpPr>
          <p:cNvPr id="443" name="Label-1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01189" y="4845272"/>
            <a:ext cx="27955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-1.15 to -4</a:t>
            </a:r>
          </a:p>
        </p:txBody>
      </p:sp>
      <p:pic>
        <p:nvPicPr>
          <p:cNvPr id="4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2">
            <a:alphaModFix amt="100000"/>
          </a:blip>
          <a:stretch/>
        </p:blipFill>
        <p:spPr>
          <a:xfrm>
            <a:off x="8599736" y="4333280"/>
            <a:ext cx="9258300" cy="1400175"/>
          </a:xfrm>
          <a:prstGeom prst="rect">
            <a:avLst/>
          </a:prstGeom>
        </p:spPr>
      </p:pic>
      <p:pic>
        <p:nvPicPr>
          <p:cNvPr id="4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4">
            <a:alphaModFix amt="100000"/>
          </a:blip>
          <a:stretch/>
        </p:blipFill>
        <p:spPr>
          <a:xfrm>
            <a:off x="8599742" y="4352354"/>
            <a:ext cx="9220200" cy="1362075"/>
          </a:xfrm>
          <a:prstGeom prst="rect">
            <a:avLst/>
          </a:prstGeom>
        </p:spPr>
      </p:pic>
      <p:sp>
        <p:nvSpPr>
          <p:cNvPr id="449" name="Label-1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33092" y="4845272"/>
            <a:ext cx="8986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Indicates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volume sensitivity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; values closer to -4 signify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higher elasticity</a:t>
            </a:r>
          </a:p>
        </p:txBody>
      </p:sp>
      <p:pic>
        <p:nvPicPr>
          <p:cNvPr id="4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6">
            <a:alphaModFix amt="100000"/>
          </a:blip>
          <a:stretch/>
        </p:blipFill>
        <p:spPr>
          <a:xfrm>
            <a:off x="381000" y="5694807"/>
            <a:ext cx="5229225" cy="1400175"/>
          </a:xfrm>
          <a:prstGeom prst="rect">
            <a:avLst/>
          </a:prstGeom>
        </p:spPr>
      </p:pic>
      <p:pic>
        <p:nvPicPr>
          <p:cNvPr id="4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8">
            <a:alphaModFix amt="100000"/>
          </a:blip>
          <a:stretch/>
        </p:blipFill>
        <p:spPr>
          <a:xfrm>
            <a:off x="381000" y="5713857"/>
            <a:ext cx="5191125" cy="1362075"/>
          </a:xfrm>
          <a:prstGeom prst="rect">
            <a:avLst/>
          </a:prstGeom>
        </p:spPr>
      </p:pic>
      <p:sp>
        <p:nvSpPr>
          <p:cNvPr id="455" name="Label-2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" y="6206680"/>
            <a:ext cx="4957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Promotion-Driven Volume Increase</a:t>
            </a:r>
          </a:p>
        </p:txBody>
      </p:sp>
      <p:pic>
        <p:nvPicPr>
          <p:cNvPr id="4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">
            <a:alphaModFix amt="100000"/>
          </a:blip>
          <a:stretch/>
        </p:blipFill>
        <p:spPr>
          <a:xfrm>
            <a:off x="5567839" y="5694807"/>
            <a:ext cx="3067050" cy="1400175"/>
          </a:xfrm>
          <a:prstGeom prst="rect">
            <a:avLst/>
          </a:prstGeom>
        </p:spPr>
      </p:pic>
      <p:pic>
        <p:nvPicPr>
          <p:cNvPr id="4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2">
            <a:alphaModFix amt="100000"/>
          </a:blip>
          <a:stretch/>
        </p:blipFill>
        <p:spPr>
          <a:xfrm>
            <a:off x="5567839" y="5713857"/>
            <a:ext cx="3028950" cy="1362075"/>
          </a:xfrm>
          <a:prstGeom prst="rect">
            <a:avLst/>
          </a:prstGeom>
        </p:spPr>
      </p:pic>
      <p:sp>
        <p:nvSpPr>
          <p:cNvPr id="461" name="Label-2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01189" y="6206680"/>
            <a:ext cx="27955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+35%</a:t>
            </a:r>
          </a:p>
        </p:txBody>
      </p:sp>
      <p:pic>
        <p:nvPicPr>
          <p:cNvPr id="4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4">
            <a:alphaModFix amt="100000"/>
          </a:blip>
          <a:stretch/>
        </p:blipFill>
        <p:spPr>
          <a:xfrm>
            <a:off x="8599742" y="5694807"/>
            <a:ext cx="9258300" cy="1400175"/>
          </a:xfrm>
          <a:prstGeom prst="rect">
            <a:avLst/>
          </a:prstGeom>
        </p:spPr>
      </p:pic>
      <p:pic>
        <p:nvPicPr>
          <p:cNvPr id="4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6">
            <a:alphaModFix amt="100000"/>
          </a:blip>
          <a:stretch/>
        </p:blipFill>
        <p:spPr>
          <a:xfrm>
            <a:off x="8599742" y="5713857"/>
            <a:ext cx="9220200" cy="1362075"/>
          </a:xfrm>
          <a:prstGeom prst="rect">
            <a:avLst/>
          </a:prstGeom>
        </p:spPr>
      </p:pic>
      <p:sp>
        <p:nvSpPr>
          <p:cNvPr id="467" name="Label-2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33092" y="6206680"/>
            <a:ext cx="8986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Volume uplift attributable to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promotional activities</a:t>
            </a:r>
          </a:p>
        </p:txBody>
      </p:sp>
      <p:pic>
        <p:nvPicPr>
          <p:cNvPr id="4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8">
            <a:alphaModFix amt="100000"/>
          </a:blip>
          <a:stretch/>
        </p:blipFill>
        <p:spPr>
          <a:xfrm>
            <a:off x="381000" y="7056215"/>
            <a:ext cx="5229225" cy="1400175"/>
          </a:xfrm>
          <a:prstGeom prst="rect">
            <a:avLst/>
          </a:prstGeom>
        </p:spPr>
      </p:pic>
      <p:pic>
        <p:nvPicPr>
          <p:cNvPr id="4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0">
            <a:alphaModFix amt="100000"/>
          </a:blip>
          <a:stretch/>
        </p:blipFill>
        <p:spPr>
          <a:xfrm>
            <a:off x="381000" y="7075265"/>
            <a:ext cx="5191125" cy="1362075"/>
          </a:xfrm>
          <a:prstGeom prst="rect">
            <a:avLst/>
          </a:prstGeom>
        </p:spPr>
      </p:pic>
      <p:sp>
        <p:nvSpPr>
          <p:cNvPr id="473" name="Label-3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" y="7568184"/>
            <a:ext cx="4957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Revenue Growth from Pricing Strategies</a:t>
            </a:r>
          </a:p>
        </p:txBody>
      </p:sp>
      <p:pic>
        <p:nvPicPr>
          <p:cNvPr id="4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2">
            <a:alphaModFix amt="100000"/>
          </a:blip>
          <a:stretch/>
        </p:blipFill>
        <p:spPr>
          <a:xfrm>
            <a:off x="5567839" y="7056215"/>
            <a:ext cx="3067050" cy="1400175"/>
          </a:xfrm>
          <a:prstGeom prst="rect">
            <a:avLst/>
          </a:prstGeom>
        </p:spPr>
      </p:pic>
      <p:pic>
        <p:nvPicPr>
          <p:cNvPr id="4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4">
            <a:alphaModFix amt="100000"/>
          </a:blip>
          <a:stretch/>
        </p:blipFill>
        <p:spPr>
          <a:xfrm>
            <a:off x="5567839" y="7075265"/>
            <a:ext cx="3028950" cy="1362075"/>
          </a:xfrm>
          <a:prstGeom prst="rect">
            <a:avLst/>
          </a:prstGeom>
        </p:spPr>
      </p:pic>
      <p:sp>
        <p:nvSpPr>
          <p:cNvPr id="479" name="Label-3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01189" y="7568184"/>
            <a:ext cx="27955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3-5%</a:t>
            </a:r>
          </a:p>
        </p:txBody>
      </p:sp>
      <p:pic>
        <p:nvPicPr>
          <p:cNvPr id="4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6">
            <a:alphaModFix amt="100000"/>
          </a:blip>
          <a:stretch/>
        </p:blipFill>
        <p:spPr>
          <a:xfrm>
            <a:off x="8599742" y="7056215"/>
            <a:ext cx="9258300" cy="1400175"/>
          </a:xfrm>
          <a:prstGeom prst="rect">
            <a:avLst/>
          </a:prstGeom>
        </p:spPr>
      </p:pic>
      <p:pic>
        <p:nvPicPr>
          <p:cNvPr id="4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8">
            <a:alphaModFix amt="100000"/>
          </a:blip>
          <a:stretch/>
        </p:blipFill>
        <p:spPr>
          <a:xfrm>
            <a:off x="8599742" y="7075265"/>
            <a:ext cx="9220200" cy="1362075"/>
          </a:xfrm>
          <a:prstGeom prst="rect">
            <a:avLst/>
          </a:prstGeom>
        </p:spPr>
      </p:pic>
      <p:sp>
        <p:nvSpPr>
          <p:cNvPr id="485" name="Label-3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33092" y="7568184"/>
            <a:ext cx="8986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Incremental revenue linked to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optimized pricing</a:t>
            </a:r>
          </a:p>
        </p:txBody>
      </p:sp>
      <p:pic>
        <p:nvPicPr>
          <p:cNvPr id="4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0">
            <a:alphaModFix amt="100000"/>
          </a:blip>
          <a:stretch/>
        </p:blipFill>
        <p:spPr>
          <a:xfrm>
            <a:off x="381000" y="8417719"/>
            <a:ext cx="5229225" cy="1419225"/>
          </a:xfrm>
          <a:prstGeom prst="rect">
            <a:avLst/>
          </a:prstGeom>
        </p:spPr>
      </p:pic>
      <p:pic>
        <p:nvPicPr>
          <p:cNvPr id="4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2">
            <a:alphaModFix amt="100000"/>
          </a:blip>
          <a:stretch/>
        </p:blipFill>
        <p:spPr>
          <a:xfrm>
            <a:off x="381000" y="8436769"/>
            <a:ext cx="5191125" cy="1381125"/>
          </a:xfrm>
          <a:prstGeom prst="rect">
            <a:avLst/>
          </a:prstGeom>
        </p:spPr>
      </p:pic>
      <p:sp>
        <p:nvSpPr>
          <p:cNvPr id="491" name="Label-4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4350" y="8940736"/>
            <a:ext cx="4957762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Profit Margin Improvement</a:t>
            </a:r>
          </a:p>
        </p:txBody>
      </p:sp>
      <p:pic>
        <p:nvPicPr>
          <p:cNvPr id="4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4">
            <a:alphaModFix amt="100000"/>
          </a:blip>
          <a:stretch/>
        </p:blipFill>
        <p:spPr>
          <a:xfrm>
            <a:off x="5567809" y="8417719"/>
            <a:ext cx="3067050" cy="1419225"/>
          </a:xfrm>
          <a:prstGeom prst="rect">
            <a:avLst/>
          </a:prstGeom>
        </p:spPr>
      </p:pic>
      <p:pic>
        <p:nvPicPr>
          <p:cNvPr id="4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6">
            <a:alphaModFix amt="100000"/>
          </a:blip>
          <a:stretch/>
        </p:blipFill>
        <p:spPr>
          <a:xfrm>
            <a:off x="5567809" y="8436769"/>
            <a:ext cx="3028950" cy="1381125"/>
          </a:xfrm>
          <a:prstGeom prst="rect">
            <a:avLst/>
          </a:prstGeom>
        </p:spPr>
      </p:pic>
      <p:sp>
        <p:nvSpPr>
          <p:cNvPr id="497" name="Label-4,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01189" y="8940736"/>
            <a:ext cx="279558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2-4 percentage points</a:t>
            </a:r>
          </a:p>
        </p:txBody>
      </p:sp>
      <p:pic>
        <p:nvPicPr>
          <p:cNvPr id="4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8">
            <a:alphaModFix amt="100000"/>
          </a:blip>
          <a:stretch/>
        </p:blipFill>
        <p:spPr>
          <a:xfrm>
            <a:off x="8599736" y="8417719"/>
            <a:ext cx="9258300" cy="1419225"/>
          </a:xfrm>
          <a:prstGeom prst="rect">
            <a:avLst/>
          </a:prstGeom>
        </p:spPr>
      </p:pic>
      <p:pic>
        <p:nvPicPr>
          <p:cNvPr id="5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0">
            <a:alphaModFix amt="100000"/>
          </a:blip>
          <a:stretch/>
        </p:blipFill>
        <p:spPr>
          <a:xfrm>
            <a:off x="8599736" y="8436769"/>
            <a:ext cx="9220200" cy="1381125"/>
          </a:xfrm>
          <a:prstGeom prst="rect">
            <a:avLst/>
          </a:prstGeom>
        </p:spPr>
      </p:pic>
      <p:sp>
        <p:nvSpPr>
          <p:cNvPr id="503" name="Label-4,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33092" y="8940736"/>
            <a:ext cx="8986838" cy="361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Margin gains from coordinated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price and promotion actions</a:t>
            </a:r>
          </a:p>
        </p:txBody>
      </p:sp>
      <p:sp>
        <p:nvSpPr>
          <p:cNvPr id="50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47186"/>
            <a:ext cx="17559338" cy="1638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INTERPRETING PRICE ELASTICITY AND VOLUME IMPACT</a:t>
            </a:r>
          </a:p>
        </p:txBody>
      </p:sp>
      <p:pic>
        <p:nvPicPr>
          <p:cNvPr id="5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2">
            <a:alphaModFix amt="100000"/>
          </a:blip>
          <a:stretch/>
        </p:blipFill>
        <p:spPr>
          <a:xfrm>
            <a:off x="381000" y="2162175"/>
            <a:ext cx="17506950" cy="19050"/>
          </a:xfrm>
          <a:prstGeom prst="rect">
            <a:avLst/>
          </a:prstGeom>
        </p:spPr>
      </p:pic>
      <p:sp>
        <p:nvSpPr>
          <p:cNvPr id="50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2362200"/>
            <a:ext cx="1755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Linking price changes to volume outcomes using key metrics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6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1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9">
            <a:alphaModFix amt="100000"/>
            <a:extLst>
              <a:ext uri="{D667165B-C022-43AB-A669-8CF05AF1A032}">
                <asvg:svgBlip xmlns:r="http://schemas.openxmlformats.org/officeDocument/2006/relationships" xmlns:asvg="http://schemas.microsoft.com/office/drawing/2016/SVG/main" r:embed="rId14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4767262" y="2171700"/>
            <a:ext cx="8753475" cy="7734300"/>
          </a:xfrm>
          <a:prstGeom prst="rect">
            <a:avLst/>
          </a:prstGeom>
        </p:spPr>
      </p:pic>
      <p:sp>
        <p:nvSpPr>
          <p:cNvPr id="51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2717768"/>
            <a:ext cx="57769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Market Mix Modeling</a:t>
            </a:r>
          </a:p>
        </p:txBody>
      </p:sp>
      <p:sp>
        <p:nvSpPr>
          <p:cNvPr id="51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117818"/>
            <a:ext cx="57769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Utilizes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regression analysis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to isolate and quantify the impact of various marketing inputs on overall sales performance effectively.</a:t>
            </a:r>
          </a:p>
        </p:txBody>
      </p:sp>
      <p:sp>
        <p:nvSpPr>
          <p:cNvPr id="51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5292947"/>
            <a:ext cx="57769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ROI Estimation</a:t>
            </a:r>
          </a:p>
        </p:txBody>
      </p:sp>
      <p:sp>
        <p:nvSpPr>
          <p:cNvPr id="51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5692997"/>
            <a:ext cx="57769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Calculates precise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returns on pricing and promotional investments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, enabling smart allocation and maximization of marketing budgets.</a:t>
            </a:r>
          </a:p>
        </p:txBody>
      </p:sp>
      <p:sp>
        <p:nvSpPr>
          <p:cNvPr id="51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7868126"/>
            <a:ext cx="57769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Promotion Optimization</a:t>
            </a:r>
          </a:p>
        </p:txBody>
      </p:sp>
      <p:sp>
        <p:nvSpPr>
          <p:cNvPr id="52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8268176"/>
            <a:ext cx="57769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Determines the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most effective promotional components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to maximize sales and profit, guiding resource reallocation for better outcomes.</a:t>
            </a:r>
          </a:p>
        </p:txBody>
      </p:sp>
      <p:sp>
        <p:nvSpPr>
          <p:cNvPr id="52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7868126"/>
            <a:ext cx="579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Cross-Channel Insights</a:t>
            </a:r>
          </a:p>
        </p:txBody>
      </p:sp>
      <p:sp>
        <p:nvSpPr>
          <p:cNvPr id="52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8268176"/>
            <a:ext cx="57959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Integrates data across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media, pricing, and promotions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channels for a comprehensive and holistic marketing decision-making process.</a:t>
            </a:r>
          </a:p>
        </p:txBody>
      </p:sp>
      <p:sp>
        <p:nvSpPr>
          <p:cNvPr id="52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5292947"/>
            <a:ext cx="579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Case Evidence</a:t>
            </a:r>
          </a:p>
        </p:txBody>
      </p:sp>
      <p:sp>
        <p:nvSpPr>
          <p:cNvPr id="52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5692997"/>
            <a:ext cx="57959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CPG companies realized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5-7% sales growth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by reallocating promotions based on insights derived from MMM-driven analytics.</a:t>
            </a:r>
          </a:p>
        </p:txBody>
      </p:sp>
      <p:sp>
        <p:nvSpPr>
          <p:cNvPr id="52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2717768"/>
            <a:ext cx="579596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Forecasting Enhancement</a:t>
            </a:r>
          </a:p>
        </p:txBody>
      </p:sp>
      <p:sp>
        <p:nvSpPr>
          <p:cNvPr id="526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29802" y="3117818"/>
            <a:ext cx="579596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MMM improves </a:t>
            </a:r>
            <a:r>
              <a:rPr lang="en-US" sz="1800" b="1" spc="-4" dirty="0">
                <a:solidFill>
                  <a:srgbClr val="0A1222"/>
                </a:solidFill>
                <a:latin typeface="Inter" panose="00000700000000000000" pitchFamily="2" charset="0"/>
              </a:rPr>
              <a:t>forecast accuracy</a:t>
            </a:r>
            <a:r>
              <a:rPr lang="en-US" sz="1800" spc="-4" dirty="0">
                <a:solidFill>
                  <a:srgbClr val="0A1222"/>
                </a:solidFill>
                <a:latin typeface="Inter" panose="00000700000000000000" pitchFamily="2" charset="0"/>
              </a:rPr>
              <a:t> which supports more effective inventory and supply chain planning to meet demand optimally.</a:t>
            </a:r>
          </a:p>
        </p:txBody>
      </p:sp>
      <p:sp>
        <p:nvSpPr>
          <p:cNvPr id="52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51949"/>
            <a:ext cx="17559338" cy="828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OPTIMIZING ROI THROUGH MARKET MIX MODELING</a:t>
            </a:r>
          </a:p>
        </p:txBody>
      </p:sp>
      <p:pic>
        <p:nvPicPr>
          <p:cNvPr id="5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381000" y="1362075"/>
            <a:ext cx="17506950" cy="19050"/>
          </a:xfrm>
          <a:prstGeom prst="rect">
            <a:avLst/>
          </a:prstGeom>
        </p:spPr>
      </p:pic>
      <p:sp>
        <p:nvSpPr>
          <p:cNvPr id="53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1562100"/>
            <a:ext cx="1755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Data-driven methods to enhance pricing and promotion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36" name="Enter Y Axis Label-41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 rot="-5400000">
            <a:off x="-1000125" y="6086475"/>
            <a:ext cx="528161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666F82">
                    <a:alpha val="100000"/>
                  </a:srgbClr>
                </a:solidFill>
                <a:latin typeface="Roboto" panose="00000700000000000000" pitchFamily="2" charset="0"/>
              </a:rPr>
              <a:t>Impact and Explainability %</a:t>
            </a:r>
          </a:p>
        </p:txBody>
      </p:sp>
      <p:sp>
        <p:nvSpPr>
          <p:cNvPr id="537" name="Enter X Axis Label-45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777002" y="8839200"/>
            <a:ext cx="1947862" cy="352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800" b="1" spc="-9" dirty="0">
                <a:solidFill>
                  <a:srgbClr val="666F82">
                    <a:alpha val="100000"/>
                  </a:srgbClr>
                </a:solidFill>
                <a:latin typeface="Roboto" panose="00000700000000000000" pitchFamily="2" charset="0"/>
              </a:rPr>
              <a:t>Promo Component</a:t>
            </a:r>
          </a:p>
        </p:txBody>
      </p:sp>
      <p:pic>
        <p:nvPicPr>
          <p:cNvPr id="5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14521720" y="5642705"/>
            <a:ext cx="266700" cy="266700"/>
          </a:xfrm>
          <a:prstGeom prst="rect">
            <a:avLst/>
          </a:prstGeom>
        </p:spPr>
      </p:pic>
      <p:sp>
        <p:nvSpPr>
          <p:cNvPr id="539" name="Enter Label-42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02720" y="5608415"/>
            <a:ext cx="2024062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Impact on Sales (%)</a:t>
            </a:r>
          </a:p>
        </p:txBody>
      </p:sp>
      <p:pic>
        <p:nvPicPr>
          <p:cNvPr id="5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14521720" y="6206395"/>
            <a:ext cx="266700" cy="266700"/>
          </a:xfrm>
          <a:prstGeom prst="rect">
            <a:avLst/>
          </a:prstGeom>
        </p:spPr>
      </p:pic>
      <p:sp>
        <p:nvSpPr>
          <p:cNvPr id="541" name="Enter Label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902720" y="6172200"/>
            <a:ext cx="17478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Explainability (%)</a:t>
            </a:r>
          </a:p>
        </p:txBody>
      </p:sp>
      <p:sp>
        <p:nvSpPr>
          <p:cNvPr id="542" name="Enter Label-41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01170" y="8465915"/>
            <a:ext cx="1938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Price Discounts</a:t>
            </a:r>
          </a:p>
        </p:txBody>
      </p:sp>
      <p:pic>
        <p:nvPicPr>
          <p:cNvPr id="5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2501056" y="6375350"/>
            <a:ext cx="781050" cy="1933575"/>
          </a:xfrm>
          <a:prstGeom prst="rect">
            <a:avLst/>
          </a:prstGeom>
        </p:spPr>
      </p:pic>
      <p:pic>
        <p:nvPicPr>
          <p:cNvPr id="54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2558206" y="7931647"/>
            <a:ext cx="857250" cy="457200"/>
          </a:xfrm>
          <a:prstGeom prst="rect">
            <a:avLst/>
          </a:prstGeom>
        </p:spPr>
      </p:pic>
      <p:pic>
        <p:nvPicPr>
          <p:cNvPr id="5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2558320" y="7550086"/>
            <a:ext cx="857250" cy="457200"/>
          </a:xfrm>
          <a:prstGeom prst="rect">
            <a:avLst/>
          </a:prstGeom>
        </p:spPr>
      </p:pic>
      <p:pic>
        <p:nvPicPr>
          <p:cNvPr id="5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2558320" y="7168324"/>
            <a:ext cx="857250" cy="457200"/>
          </a:xfrm>
          <a:prstGeom prst="rect">
            <a:avLst/>
          </a:prstGeom>
        </p:spPr>
      </p:pic>
      <p:pic>
        <p:nvPicPr>
          <p:cNvPr id="54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2558320" y="6786562"/>
            <a:ext cx="857250" cy="457200"/>
          </a:xfrm>
          <a:prstGeom prst="rect">
            <a:avLst/>
          </a:prstGeom>
        </p:spPr>
      </p:pic>
      <p:pic>
        <p:nvPicPr>
          <p:cNvPr id="548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2">
            <a:alphaModFix amt="100000"/>
            <a:extLst>
              <a:ext uri="{2319BB19-A686-4E36-BC02-70809340F9A0}">
                <asvg:svgBlip xmlns:r="http://schemas.openxmlformats.org/officeDocument/2006/relationships" xmlns:asvg="http://schemas.microsoft.com/office/drawing/2016/SVG/main" r:embed="rId171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2501170" y="6375464"/>
            <a:ext cx="2857500" cy="1428750"/>
          </a:xfrm>
          <a:prstGeom prst="rect">
            <a:avLst/>
          </a:prstGeom>
        </p:spPr>
      </p:pic>
      <p:sp>
        <p:nvSpPr>
          <p:cNvPr id="549" name="-44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15400" y="6002274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50" name="-43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15400" y="6002274"/>
            <a:ext cx="3000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40</a:t>
            </a:r>
          </a:p>
        </p:txBody>
      </p:sp>
      <p:sp>
        <p:nvSpPr>
          <p:cNvPr id="551" name="-41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082195" y="6002274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pic>
        <p:nvPicPr>
          <p:cNvPr id="5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4">
            <a:alphaModFix amt="100000"/>
          </a:blip>
          <a:stretch/>
        </p:blipFill>
        <p:spPr>
          <a:xfrm>
            <a:off x="3510706" y="3954363"/>
            <a:ext cx="781050" cy="4362450"/>
          </a:xfrm>
          <a:prstGeom prst="rect">
            <a:avLst/>
          </a:prstGeom>
        </p:spPr>
      </p:pic>
      <p:pic>
        <p:nvPicPr>
          <p:cNvPr id="5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6">
            <a:alphaModFix amt="100000"/>
          </a:blip>
          <a:stretch/>
        </p:blipFill>
        <p:spPr>
          <a:xfrm>
            <a:off x="3567856" y="7932986"/>
            <a:ext cx="857250" cy="457200"/>
          </a:xfrm>
          <a:prstGeom prst="rect">
            <a:avLst/>
          </a:prstGeom>
        </p:spPr>
      </p:pic>
      <p:pic>
        <p:nvPicPr>
          <p:cNvPr id="5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8">
            <a:alphaModFix amt="100000"/>
          </a:blip>
          <a:stretch/>
        </p:blipFill>
        <p:spPr>
          <a:xfrm>
            <a:off x="3567970" y="7552468"/>
            <a:ext cx="857250" cy="457200"/>
          </a:xfrm>
          <a:prstGeom prst="rect">
            <a:avLst/>
          </a:prstGeom>
        </p:spPr>
      </p:pic>
      <p:pic>
        <p:nvPicPr>
          <p:cNvPr id="5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">
            <a:alphaModFix amt="100000"/>
          </a:blip>
          <a:stretch/>
        </p:blipFill>
        <p:spPr>
          <a:xfrm>
            <a:off x="3567970" y="7171849"/>
            <a:ext cx="857250" cy="457200"/>
          </a:xfrm>
          <a:prstGeom prst="rect">
            <a:avLst/>
          </a:prstGeom>
        </p:spPr>
      </p:pic>
      <p:pic>
        <p:nvPicPr>
          <p:cNvPr id="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2">
            <a:alphaModFix amt="100000"/>
          </a:blip>
          <a:stretch/>
        </p:blipFill>
        <p:spPr>
          <a:xfrm>
            <a:off x="3567970" y="6791325"/>
            <a:ext cx="857250" cy="457200"/>
          </a:xfrm>
          <a:prstGeom prst="rect">
            <a:avLst/>
          </a:prstGeom>
        </p:spPr>
      </p:pic>
      <p:pic>
        <p:nvPicPr>
          <p:cNvPr id="5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">
            <a:alphaModFix amt="100000"/>
          </a:blip>
          <a:stretch/>
        </p:blipFill>
        <p:spPr>
          <a:xfrm>
            <a:off x="3567970" y="6410801"/>
            <a:ext cx="857250" cy="457200"/>
          </a:xfrm>
          <a:prstGeom prst="rect">
            <a:avLst/>
          </a:prstGeom>
        </p:spPr>
      </p:pic>
      <p:pic>
        <p:nvPicPr>
          <p:cNvPr id="5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6">
            <a:alphaModFix amt="100000"/>
          </a:blip>
          <a:stretch/>
        </p:blipFill>
        <p:spPr>
          <a:xfrm>
            <a:off x="3567970" y="6030182"/>
            <a:ext cx="857250" cy="457200"/>
          </a:xfrm>
          <a:prstGeom prst="rect">
            <a:avLst/>
          </a:prstGeom>
        </p:spPr>
      </p:pic>
      <p:pic>
        <p:nvPicPr>
          <p:cNvPr id="5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">
            <a:alphaModFix amt="100000"/>
          </a:blip>
          <a:stretch/>
        </p:blipFill>
        <p:spPr>
          <a:xfrm>
            <a:off x="3567970" y="5649658"/>
            <a:ext cx="857250" cy="457200"/>
          </a:xfrm>
          <a:prstGeom prst="rect">
            <a:avLst/>
          </a:prstGeom>
        </p:spPr>
      </p:pic>
      <p:pic>
        <p:nvPicPr>
          <p:cNvPr id="5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">
            <a:alphaModFix amt="100000"/>
          </a:blip>
          <a:stretch/>
        </p:blipFill>
        <p:spPr>
          <a:xfrm>
            <a:off x="3567970" y="5269135"/>
            <a:ext cx="857250" cy="457200"/>
          </a:xfrm>
          <a:prstGeom prst="rect">
            <a:avLst/>
          </a:prstGeom>
        </p:spPr>
      </p:pic>
      <p:pic>
        <p:nvPicPr>
          <p:cNvPr id="5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2">
            <a:alphaModFix amt="100000"/>
          </a:blip>
          <a:stretch/>
        </p:blipFill>
        <p:spPr>
          <a:xfrm>
            <a:off x="3567970" y="4888516"/>
            <a:ext cx="857250" cy="457200"/>
          </a:xfrm>
          <a:prstGeom prst="rect">
            <a:avLst/>
          </a:prstGeom>
        </p:spPr>
      </p:pic>
      <p:pic>
        <p:nvPicPr>
          <p:cNvPr id="5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4">
            <a:alphaModFix amt="100000"/>
          </a:blip>
          <a:stretch/>
        </p:blipFill>
        <p:spPr>
          <a:xfrm>
            <a:off x="3567970" y="4507992"/>
            <a:ext cx="857250" cy="457200"/>
          </a:xfrm>
          <a:prstGeom prst="rect">
            <a:avLst/>
          </a:prstGeom>
        </p:spPr>
      </p:pic>
      <p:pic>
        <p:nvPicPr>
          <p:cNvPr id="5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6">
            <a:alphaModFix amt="100000"/>
          </a:blip>
          <a:stretch/>
        </p:blipFill>
        <p:spPr>
          <a:xfrm>
            <a:off x="3567970" y="4127468"/>
            <a:ext cx="857250" cy="457200"/>
          </a:xfrm>
          <a:prstGeom prst="rect">
            <a:avLst/>
          </a:prstGeom>
        </p:spPr>
      </p:pic>
      <p:pic>
        <p:nvPicPr>
          <p:cNvPr id="56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">
            <a:alphaModFix amt="100000"/>
            <a:extLst>
              <a:ext uri="{AE1EB2E1-44DF-4B27-A6A7-5E6A3ACEB1C7}">
                <asvg:svgBlip xmlns:r="http://schemas.openxmlformats.org/officeDocument/2006/relationships" xmlns:asvg="http://schemas.microsoft.com/office/drawing/2016/SVG/main" r:embed="rId198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3510820" y="3954494"/>
            <a:ext cx="2857500" cy="1428750"/>
          </a:xfrm>
          <a:prstGeom prst="rect">
            <a:avLst/>
          </a:prstGeom>
        </p:spPr>
      </p:pic>
      <p:sp>
        <p:nvSpPr>
          <p:cNvPr id="565" name="-45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27907" y="3581210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66" name="-43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27907" y="3581210"/>
            <a:ext cx="2905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90</a:t>
            </a:r>
          </a:p>
        </p:txBody>
      </p:sp>
      <p:sp>
        <p:nvSpPr>
          <p:cNvPr id="567" name="-49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089178" y="3581210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68" name="Enter Label-40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49170" y="8465915"/>
            <a:ext cx="1938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Display Advertising</a:t>
            </a:r>
          </a:p>
        </p:txBody>
      </p:sp>
      <p:pic>
        <p:nvPicPr>
          <p:cNvPr id="5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">
            <a:alphaModFix amt="100000"/>
          </a:blip>
          <a:stretch/>
        </p:blipFill>
        <p:spPr>
          <a:xfrm>
            <a:off x="5549056" y="7102078"/>
            <a:ext cx="781050" cy="1209675"/>
          </a:xfrm>
          <a:prstGeom prst="rect">
            <a:avLst/>
          </a:prstGeom>
        </p:spPr>
      </p:pic>
      <p:pic>
        <p:nvPicPr>
          <p:cNvPr id="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">
            <a:alphaModFix amt="100000"/>
          </a:blip>
          <a:stretch/>
        </p:blipFill>
        <p:spPr>
          <a:xfrm>
            <a:off x="5606206" y="7932092"/>
            <a:ext cx="857250" cy="457200"/>
          </a:xfrm>
          <a:prstGeom prst="rect">
            <a:avLst/>
          </a:prstGeom>
        </p:spPr>
      </p:pic>
      <p:pic>
        <p:nvPicPr>
          <p:cNvPr id="5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">
            <a:alphaModFix amt="100000"/>
          </a:blip>
          <a:stretch/>
        </p:blipFill>
        <p:spPr>
          <a:xfrm>
            <a:off x="5606320" y="7550658"/>
            <a:ext cx="857250" cy="457200"/>
          </a:xfrm>
          <a:prstGeom prst="rect">
            <a:avLst/>
          </a:prstGeom>
        </p:spPr>
      </p:pic>
      <p:pic>
        <p:nvPicPr>
          <p:cNvPr id="57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8">
            <a:alphaModFix amt="100000"/>
            <a:extLst>
              <a:ext uri="{01678355-FD81-438A-B9F3-F28AC9378BCA}">
                <asvg:svgBlip xmlns:r="http://schemas.openxmlformats.org/officeDocument/2006/relationships" xmlns:asvg="http://schemas.microsoft.com/office/drawing/2016/SVG/main" r:embed="rId20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549170" y="7102221"/>
            <a:ext cx="2857500" cy="1428750"/>
          </a:xfrm>
          <a:prstGeom prst="rect">
            <a:avLst/>
          </a:prstGeom>
        </p:spPr>
      </p:pic>
      <p:sp>
        <p:nvSpPr>
          <p:cNvPr id="573" name="-44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71115" y="6728936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74" name="-49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71115" y="6728936"/>
            <a:ext cx="28098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25</a:t>
            </a:r>
          </a:p>
        </p:txBody>
      </p:sp>
      <p:sp>
        <p:nvSpPr>
          <p:cNvPr id="575" name="-46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122480" y="6728936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pic>
        <p:nvPicPr>
          <p:cNvPr id="5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0">
            <a:alphaModFix amt="100000"/>
          </a:blip>
          <a:stretch/>
        </p:blipFill>
        <p:spPr>
          <a:xfrm>
            <a:off x="6558706" y="5406181"/>
            <a:ext cx="781050" cy="2905125"/>
          </a:xfrm>
          <a:prstGeom prst="rect">
            <a:avLst/>
          </a:prstGeom>
        </p:spPr>
      </p:pic>
      <p:pic>
        <p:nvPicPr>
          <p:cNvPr id="5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2">
            <a:alphaModFix amt="100000"/>
          </a:blip>
          <a:stretch/>
        </p:blipFill>
        <p:spPr>
          <a:xfrm>
            <a:off x="6615856" y="7932390"/>
            <a:ext cx="857250" cy="457200"/>
          </a:xfrm>
          <a:prstGeom prst="rect">
            <a:avLst/>
          </a:prstGeom>
        </p:spPr>
      </p:pic>
      <p:pic>
        <p:nvPicPr>
          <p:cNvPr id="5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4">
            <a:alphaModFix amt="100000"/>
          </a:blip>
          <a:stretch/>
        </p:blipFill>
        <p:spPr>
          <a:xfrm>
            <a:off x="6615970" y="7551230"/>
            <a:ext cx="857250" cy="457200"/>
          </a:xfrm>
          <a:prstGeom prst="rect">
            <a:avLst/>
          </a:prstGeom>
        </p:spPr>
      </p:pic>
      <p:pic>
        <p:nvPicPr>
          <p:cNvPr id="5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6">
            <a:alphaModFix amt="100000"/>
          </a:blip>
          <a:stretch/>
        </p:blipFill>
        <p:spPr>
          <a:xfrm>
            <a:off x="6615970" y="7170134"/>
            <a:ext cx="857250" cy="457200"/>
          </a:xfrm>
          <a:prstGeom prst="rect">
            <a:avLst/>
          </a:prstGeom>
        </p:spPr>
      </p:pic>
      <p:pic>
        <p:nvPicPr>
          <p:cNvPr id="5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8">
            <a:alphaModFix amt="100000"/>
          </a:blip>
          <a:stretch/>
        </p:blipFill>
        <p:spPr>
          <a:xfrm>
            <a:off x="6615970" y="6788944"/>
            <a:ext cx="857250" cy="457200"/>
          </a:xfrm>
          <a:prstGeom prst="rect">
            <a:avLst/>
          </a:prstGeom>
        </p:spPr>
      </p:pic>
      <p:pic>
        <p:nvPicPr>
          <p:cNvPr id="58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 amt="100000"/>
          </a:blip>
          <a:stretch/>
        </p:blipFill>
        <p:spPr>
          <a:xfrm>
            <a:off x="6615970" y="6407753"/>
            <a:ext cx="857250" cy="457200"/>
          </a:xfrm>
          <a:prstGeom prst="rect">
            <a:avLst/>
          </a:prstGeom>
        </p:spPr>
      </p:pic>
      <p:pic>
        <p:nvPicPr>
          <p:cNvPr id="5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2">
            <a:alphaModFix amt="100000"/>
          </a:blip>
          <a:stretch/>
        </p:blipFill>
        <p:spPr>
          <a:xfrm>
            <a:off x="6615970" y="6026658"/>
            <a:ext cx="857250" cy="457200"/>
          </a:xfrm>
          <a:prstGeom prst="rect">
            <a:avLst/>
          </a:prstGeom>
        </p:spPr>
      </p:pic>
      <p:pic>
        <p:nvPicPr>
          <p:cNvPr id="5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 amt="100000"/>
          </a:blip>
          <a:stretch/>
        </p:blipFill>
        <p:spPr>
          <a:xfrm>
            <a:off x="6615970" y="5645468"/>
            <a:ext cx="857250" cy="457200"/>
          </a:xfrm>
          <a:prstGeom prst="rect">
            <a:avLst/>
          </a:prstGeom>
        </p:spPr>
      </p:pic>
      <p:pic>
        <p:nvPicPr>
          <p:cNvPr id="58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">
            <a:alphaModFix amt="100000"/>
            <a:extLst>
              <a:ext uri="{AD720912-56EF-4786-BD06-1423F39C9EAC}">
                <asvg:svgBlip xmlns:r="http://schemas.openxmlformats.org/officeDocument/2006/relationships" xmlns:asvg="http://schemas.microsoft.com/office/drawing/2016/SVG/main" r:embed="rId226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6558820" y="5406295"/>
            <a:ext cx="2857500" cy="1428750"/>
          </a:xfrm>
          <a:prstGeom prst="rect">
            <a:avLst/>
          </a:prstGeom>
        </p:spPr>
      </p:pic>
      <p:sp>
        <p:nvSpPr>
          <p:cNvPr id="585" name="-49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75907" y="5033105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86" name="-42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75907" y="5033105"/>
            <a:ext cx="2905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60</a:t>
            </a:r>
          </a:p>
        </p:txBody>
      </p:sp>
      <p:sp>
        <p:nvSpPr>
          <p:cNvPr id="587" name="-48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137178" y="5033105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88" name="Enter Label-46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97170" y="8465915"/>
            <a:ext cx="1938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Sampling &amp; Demos</a:t>
            </a:r>
          </a:p>
        </p:txBody>
      </p:sp>
      <p:pic>
        <p:nvPicPr>
          <p:cNvPr id="5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">
            <a:alphaModFix amt="100000"/>
          </a:blip>
          <a:stretch/>
        </p:blipFill>
        <p:spPr>
          <a:xfrm>
            <a:off x="8597056" y="7344519"/>
            <a:ext cx="781050" cy="971550"/>
          </a:xfrm>
          <a:prstGeom prst="rect">
            <a:avLst/>
          </a:prstGeom>
        </p:spPr>
      </p:pic>
      <p:pic>
        <p:nvPicPr>
          <p:cNvPr id="5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1">
            <a:alphaModFix amt="100000"/>
          </a:blip>
          <a:stretch/>
        </p:blipFill>
        <p:spPr>
          <a:xfrm>
            <a:off x="8654206" y="7933432"/>
            <a:ext cx="857250" cy="457200"/>
          </a:xfrm>
          <a:prstGeom prst="rect">
            <a:avLst/>
          </a:prstGeom>
        </p:spPr>
      </p:pic>
      <p:pic>
        <p:nvPicPr>
          <p:cNvPr id="5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3">
            <a:alphaModFix amt="100000"/>
          </a:blip>
          <a:stretch/>
        </p:blipFill>
        <p:spPr>
          <a:xfrm>
            <a:off x="8654320" y="7553611"/>
            <a:ext cx="857250" cy="457200"/>
          </a:xfrm>
          <a:prstGeom prst="rect">
            <a:avLst/>
          </a:prstGeom>
        </p:spPr>
      </p:pic>
      <p:pic>
        <p:nvPicPr>
          <p:cNvPr id="592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6">
            <a:alphaModFix amt="100000"/>
            <a:extLst>
              <a:ext uri="{40DE5380-0046-4793-8F4F-595C8FD7C5A9}">
                <asvg:svgBlip xmlns:r="http://schemas.openxmlformats.org/officeDocument/2006/relationships" xmlns:asvg="http://schemas.microsoft.com/office/drawing/2016/SVG/main" r:embed="rId23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8597170" y="7344537"/>
            <a:ext cx="2857500" cy="1428750"/>
          </a:xfrm>
          <a:prstGeom prst="rect">
            <a:avLst/>
          </a:prstGeom>
        </p:spPr>
      </p:pic>
      <p:sp>
        <p:nvSpPr>
          <p:cNvPr id="593" name="-41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915210" y="6971252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594" name="-49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915210" y="6971252"/>
            <a:ext cx="2905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20</a:t>
            </a:r>
          </a:p>
        </p:txBody>
      </p:sp>
      <p:sp>
        <p:nvSpPr>
          <p:cNvPr id="595" name="-45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74480" y="6971252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pic>
        <p:nvPicPr>
          <p:cNvPr id="5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8">
            <a:alphaModFix amt="100000"/>
          </a:blip>
          <a:stretch/>
        </p:blipFill>
        <p:spPr>
          <a:xfrm>
            <a:off x="9606705" y="4194869"/>
            <a:ext cx="781050" cy="4114800"/>
          </a:xfrm>
          <a:prstGeom prst="rect">
            <a:avLst/>
          </a:prstGeom>
        </p:spPr>
      </p:pic>
      <p:pic>
        <p:nvPicPr>
          <p:cNvPr id="5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0">
            <a:alphaModFix amt="100000"/>
          </a:blip>
          <a:stretch/>
        </p:blipFill>
        <p:spPr>
          <a:xfrm>
            <a:off x="9663855" y="7932092"/>
            <a:ext cx="857250" cy="457200"/>
          </a:xfrm>
          <a:prstGeom prst="rect">
            <a:avLst/>
          </a:prstGeom>
        </p:spPr>
      </p:pic>
      <p:pic>
        <p:nvPicPr>
          <p:cNvPr id="5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2">
            <a:alphaModFix amt="100000"/>
          </a:blip>
          <a:stretch/>
        </p:blipFill>
        <p:spPr>
          <a:xfrm>
            <a:off x="9663970" y="7550944"/>
            <a:ext cx="857250" cy="457200"/>
          </a:xfrm>
          <a:prstGeom prst="rect">
            <a:avLst/>
          </a:prstGeom>
        </p:spPr>
      </p:pic>
      <p:pic>
        <p:nvPicPr>
          <p:cNvPr id="5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4">
            <a:alphaModFix amt="100000"/>
          </a:blip>
          <a:stretch/>
        </p:blipFill>
        <p:spPr>
          <a:xfrm>
            <a:off x="9663970" y="7169658"/>
            <a:ext cx="857250" cy="457200"/>
          </a:xfrm>
          <a:prstGeom prst="rect">
            <a:avLst/>
          </a:prstGeom>
        </p:spPr>
      </p:pic>
      <p:pic>
        <p:nvPicPr>
          <p:cNvPr id="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6">
            <a:alphaModFix amt="100000"/>
          </a:blip>
          <a:stretch/>
        </p:blipFill>
        <p:spPr>
          <a:xfrm>
            <a:off x="9663970" y="6788372"/>
            <a:ext cx="857250" cy="457200"/>
          </a:xfrm>
          <a:prstGeom prst="rect">
            <a:avLst/>
          </a:prstGeom>
        </p:spPr>
      </p:pic>
      <p:pic>
        <p:nvPicPr>
          <p:cNvPr id="60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8">
            <a:alphaModFix amt="100000"/>
          </a:blip>
          <a:stretch/>
        </p:blipFill>
        <p:spPr>
          <a:xfrm>
            <a:off x="9663970" y="6407086"/>
            <a:ext cx="857250" cy="457200"/>
          </a:xfrm>
          <a:prstGeom prst="rect">
            <a:avLst/>
          </a:prstGeom>
        </p:spPr>
      </p:pic>
      <p:pic>
        <p:nvPicPr>
          <p:cNvPr id="6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0">
            <a:alphaModFix amt="100000"/>
          </a:blip>
          <a:stretch/>
        </p:blipFill>
        <p:spPr>
          <a:xfrm>
            <a:off x="9663970" y="6025706"/>
            <a:ext cx="857250" cy="457200"/>
          </a:xfrm>
          <a:prstGeom prst="rect">
            <a:avLst/>
          </a:prstGeom>
        </p:spPr>
      </p:pic>
      <p:pic>
        <p:nvPicPr>
          <p:cNvPr id="6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 amt="100000"/>
          </a:blip>
          <a:stretch/>
        </p:blipFill>
        <p:spPr>
          <a:xfrm>
            <a:off x="9663970" y="5644420"/>
            <a:ext cx="857250" cy="457200"/>
          </a:xfrm>
          <a:prstGeom prst="rect">
            <a:avLst/>
          </a:prstGeom>
        </p:spPr>
      </p:pic>
      <p:pic>
        <p:nvPicPr>
          <p:cNvPr id="6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4">
            <a:alphaModFix amt="100000"/>
          </a:blip>
          <a:stretch/>
        </p:blipFill>
        <p:spPr>
          <a:xfrm>
            <a:off x="9663970" y="5263134"/>
            <a:ext cx="857250" cy="457200"/>
          </a:xfrm>
          <a:prstGeom prst="rect">
            <a:avLst/>
          </a:prstGeom>
        </p:spPr>
      </p:pic>
      <p:pic>
        <p:nvPicPr>
          <p:cNvPr id="6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6">
            <a:alphaModFix amt="100000"/>
          </a:blip>
          <a:stretch/>
        </p:blipFill>
        <p:spPr>
          <a:xfrm>
            <a:off x="9663970" y="4881848"/>
            <a:ext cx="857250" cy="457200"/>
          </a:xfrm>
          <a:prstGeom prst="rect">
            <a:avLst/>
          </a:prstGeom>
        </p:spPr>
      </p:pic>
      <p:pic>
        <p:nvPicPr>
          <p:cNvPr id="6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8">
            <a:alphaModFix amt="100000"/>
          </a:blip>
          <a:stretch/>
        </p:blipFill>
        <p:spPr>
          <a:xfrm>
            <a:off x="9663970" y="4500562"/>
            <a:ext cx="857250" cy="457200"/>
          </a:xfrm>
          <a:prstGeom prst="rect">
            <a:avLst/>
          </a:prstGeom>
        </p:spPr>
      </p:pic>
      <p:pic>
        <p:nvPicPr>
          <p:cNvPr id="607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1">
            <a:alphaModFix amt="100000"/>
            <a:extLst>
              <a:ext uri="{39D5E3F1-DE1D-4D0B-949D-1FFD72B83156}">
                <asvg:svgBlip xmlns:r="http://schemas.openxmlformats.org/officeDocument/2006/relationships" xmlns:asvg="http://schemas.microsoft.com/office/drawing/2016/SVG/main" r:embed="rId260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9606820" y="4195000"/>
            <a:ext cx="2857500" cy="1428750"/>
          </a:xfrm>
          <a:prstGeom prst="rect">
            <a:avLst/>
          </a:prstGeom>
        </p:spPr>
      </p:pic>
      <p:sp>
        <p:nvSpPr>
          <p:cNvPr id="608" name="-43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27908" y="3821716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609" name="-48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27908" y="3821716"/>
            <a:ext cx="2905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85</a:t>
            </a:r>
          </a:p>
        </p:txBody>
      </p:sp>
      <p:sp>
        <p:nvSpPr>
          <p:cNvPr id="610" name="-48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181082" y="3821716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611" name="Enter Label-43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45170" y="8465915"/>
            <a:ext cx="1938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Digital Promotions</a:t>
            </a:r>
          </a:p>
        </p:txBody>
      </p:sp>
      <p:pic>
        <p:nvPicPr>
          <p:cNvPr id="6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3">
            <a:alphaModFix amt="100000"/>
          </a:blip>
          <a:stretch/>
        </p:blipFill>
        <p:spPr>
          <a:xfrm>
            <a:off x="11645055" y="7586811"/>
            <a:ext cx="781050" cy="723900"/>
          </a:xfrm>
          <a:prstGeom prst="rect">
            <a:avLst/>
          </a:prstGeom>
        </p:spPr>
      </p:pic>
      <p:pic>
        <p:nvPicPr>
          <p:cNvPr id="6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5">
            <a:alphaModFix amt="100000"/>
          </a:blip>
          <a:stretch/>
        </p:blipFill>
        <p:spPr>
          <a:xfrm>
            <a:off x="11702205" y="7931050"/>
            <a:ext cx="857250" cy="457200"/>
          </a:xfrm>
          <a:prstGeom prst="rect">
            <a:avLst/>
          </a:prstGeom>
        </p:spPr>
      </p:pic>
      <p:pic>
        <p:nvPicPr>
          <p:cNvPr id="61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8">
            <a:alphaModFix amt="100000"/>
            <a:extLst>
              <a:ext uri="{6DFF7B7A-3927-4D40-AA2C-279768E5E436}">
                <asvg:svgBlip xmlns:r="http://schemas.openxmlformats.org/officeDocument/2006/relationships" xmlns:asvg="http://schemas.microsoft.com/office/drawing/2016/SVG/main" r:embed="rId267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1645170" y="7586853"/>
            <a:ext cx="2857500" cy="1428750"/>
          </a:xfrm>
          <a:prstGeom prst="rect">
            <a:avLst/>
          </a:prstGeom>
        </p:spPr>
      </p:pic>
      <p:sp>
        <p:nvSpPr>
          <p:cNvPr id="615" name="-48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88356" y="7213568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616" name="-45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988356" y="7213568"/>
            <a:ext cx="24288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15</a:t>
            </a:r>
          </a:p>
        </p:txBody>
      </p:sp>
      <p:sp>
        <p:nvSpPr>
          <p:cNvPr id="617" name="-44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197239" y="7213568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pic>
        <p:nvPicPr>
          <p:cNvPr id="6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0">
            <a:alphaModFix amt="100000"/>
          </a:blip>
          <a:stretch/>
        </p:blipFill>
        <p:spPr>
          <a:xfrm>
            <a:off x="12654705" y="5890915"/>
            <a:ext cx="781050" cy="2419350"/>
          </a:xfrm>
          <a:prstGeom prst="rect">
            <a:avLst/>
          </a:prstGeom>
        </p:spPr>
      </p:pic>
      <p:pic>
        <p:nvPicPr>
          <p:cNvPr id="61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2">
            <a:alphaModFix amt="100000"/>
          </a:blip>
          <a:stretch/>
        </p:blipFill>
        <p:spPr>
          <a:xfrm>
            <a:off x="12711855" y="7932092"/>
            <a:ext cx="857250" cy="457200"/>
          </a:xfrm>
          <a:prstGeom prst="rect">
            <a:avLst/>
          </a:prstGeom>
        </p:spPr>
      </p:pic>
      <p:pic>
        <p:nvPicPr>
          <p:cNvPr id="6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4">
            <a:alphaModFix amt="100000"/>
          </a:blip>
          <a:stretch/>
        </p:blipFill>
        <p:spPr>
          <a:xfrm>
            <a:off x="12711970" y="7550658"/>
            <a:ext cx="857250" cy="457200"/>
          </a:xfrm>
          <a:prstGeom prst="rect">
            <a:avLst/>
          </a:prstGeom>
        </p:spPr>
      </p:pic>
      <p:pic>
        <p:nvPicPr>
          <p:cNvPr id="6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6">
            <a:alphaModFix amt="100000"/>
          </a:blip>
          <a:stretch/>
        </p:blipFill>
        <p:spPr>
          <a:xfrm>
            <a:off x="12711970" y="7169182"/>
            <a:ext cx="857250" cy="457200"/>
          </a:xfrm>
          <a:prstGeom prst="rect">
            <a:avLst/>
          </a:prstGeom>
        </p:spPr>
      </p:pic>
      <p:pic>
        <p:nvPicPr>
          <p:cNvPr id="6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 amt="100000"/>
          </a:blip>
          <a:stretch/>
        </p:blipFill>
        <p:spPr>
          <a:xfrm>
            <a:off x="12711970" y="6787706"/>
            <a:ext cx="857250" cy="457200"/>
          </a:xfrm>
          <a:prstGeom prst="rect">
            <a:avLst/>
          </a:prstGeom>
        </p:spPr>
      </p:pic>
      <p:pic>
        <p:nvPicPr>
          <p:cNvPr id="6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0">
            <a:alphaModFix amt="100000"/>
          </a:blip>
          <a:stretch/>
        </p:blipFill>
        <p:spPr>
          <a:xfrm>
            <a:off x="12711970" y="6406324"/>
            <a:ext cx="857250" cy="457200"/>
          </a:xfrm>
          <a:prstGeom prst="rect">
            <a:avLst/>
          </a:prstGeom>
        </p:spPr>
      </p:pic>
      <p:pic>
        <p:nvPicPr>
          <p:cNvPr id="6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2">
            <a:alphaModFix amt="100000"/>
          </a:blip>
          <a:stretch/>
        </p:blipFill>
        <p:spPr>
          <a:xfrm>
            <a:off x="12711970" y="6024848"/>
            <a:ext cx="857250" cy="457200"/>
          </a:xfrm>
          <a:prstGeom prst="rect">
            <a:avLst/>
          </a:prstGeom>
        </p:spPr>
      </p:pic>
      <p:pic>
        <p:nvPicPr>
          <p:cNvPr id="625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5">
            <a:alphaModFix amt="100000"/>
            <a:extLst>
              <a:ext uri="{C2ED1468-4C5D-46F4-8394-DC4D0827134E}">
                <asvg:svgBlip xmlns:r="http://schemas.openxmlformats.org/officeDocument/2006/relationships" xmlns:asvg="http://schemas.microsoft.com/office/drawing/2016/SVG/main" r:embed="rId284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12654820" y="5890927"/>
            <a:ext cx="2857500" cy="1428750"/>
          </a:xfrm>
          <a:prstGeom prst="rect">
            <a:avLst/>
          </a:prstGeom>
        </p:spPr>
      </p:pic>
      <p:sp>
        <p:nvSpPr>
          <p:cNvPr id="626" name="-47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669" y="5517642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627" name="-41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669" y="5517642"/>
            <a:ext cx="290512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50</a:t>
            </a:r>
          </a:p>
        </p:txBody>
      </p:sp>
      <p:sp>
        <p:nvSpPr>
          <p:cNvPr id="628" name="-47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230416" y="5517642"/>
            <a:ext cx="33338" cy="257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650" spc="-3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/>
            </a:r>
          </a:p>
        </p:txBody>
      </p:sp>
      <p:sp>
        <p:nvSpPr>
          <p:cNvPr id="629" name="Enter your title text-42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962275"/>
            <a:ext cx="687228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Sales Impact And Explainability By Promotion Component</a:t>
            </a:r>
          </a:p>
        </p:txBody>
      </p:sp>
      <p:sp>
        <p:nvSpPr>
          <p:cNvPr id="630" name="Enter your source text-49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9552527"/>
            <a:ext cx="3748088" cy="266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350" spc="-3" dirty="0">
                <a:solidFill>
                  <a:srgbClr val="0A1222">
                    <a:alpha val="50000"/>
                  </a:srgbClr>
                </a:solidFill>
                <a:latin typeface="Inter" panose="00000700000000000000" pitchFamily="2" charset="0"/>
              </a:rPr>
              <a:t>Executive Deck: Pricing &amp; Promotion Analytics</a:t>
            </a:r>
          </a:p>
        </p:txBody>
      </p:sp>
      <p:sp>
        <p:nvSpPr>
          <p:cNvPr id="63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47186"/>
            <a:ext cx="17559338" cy="1638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REGRESSION ANALYSIS OF PROMOTION IMPACT AND EXPLAINABILITY</a:t>
            </a:r>
          </a:p>
        </p:txBody>
      </p:sp>
      <p:pic>
        <p:nvPicPr>
          <p:cNvPr id="6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7">
            <a:alphaModFix amt="100000"/>
          </a:blip>
          <a:stretch/>
        </p:blipFill>
        <p:spPr>
          <a:xfrm>
            <a:off x="381000" y="2162175"/>
            <a:ext cx="17506950" cy="19050"/>
          </a:xfrm>
          <a:prstGeom prst="rect">
            <a:avLst/>
          </a:prstGeom>
        </p:spPr>
      </p:pic>
      <p:sp>
        <p:nvSpPr>
          <p:cNvPr id="63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2362200"/>
            <a:ext cx="1755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Quantifying sales uplift and component clarity in promotions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4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3">
            <a:alphaModFix amt="100000"/>
          </a:blip>
          <a:stretch/>
        </p:blipFill>
        <p:spPr>
          <a:xfrm>
            <a:off x="381000" y="2971800"/>
            <a:ext cx="17526000" cy="6934200"/>
          </a:xfrm>
          <a:prstGeom prst="rect">
            <a:avLst/>
          </a:prstGeom>
        </p:spPr>
      </p:pic>
      <p:sp>
        <p:nvSpPr>
          <p:cNvPr id="64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45932" y="3264408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Collect comprehensive historical sales and promotion performance data</a:t>
            </a:r>
          </a:p>
        </p:txBody>
      </p:sp>
      <p:sp>
        <p:nvSpPr>
          <p:cNvPr id="64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45932" y="4274058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Gather detailed data on sales, pricing, and past promotions to ensure accurate model inputs.</a:t>
            </a:r>
          </a:p>
        </p:txBody>
      </p:sp>
      <p:sp>
        <p:nvSpPr>
          <p:cNvPr id="64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110038" y="7812596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Develop MMM and regression models to simulate promotion effects</a:t>
            </a:r>
          </a:p>
        </p:txBody>
      </p:sp>
      <p:sp>
        <p:nvSpPr>
          <p:cNvPr id="64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110038" y="8822246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Build Marketing Mix Models and regression analyses to quantify and predict promotional impacts.</a:t>
            </a:r>
          </a:p>
        </p:txBody>
      </p:sp>
      <p:sp>
        <p:nvSpPr>
          <p:cNvPr id="64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4333" y="3264408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Create multiple scenarios adjusting discount, timing, and channels</a:t>
            </a:r>
          </a:p>
        </p:txBody>
      </p:sp>
      <p:sp>
        <p:nvSpPr>
          <p:cNvPr id="64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4333" y="4274058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Design various promotion mix scenarios by varying discount depth, timing, and promotional channels.</a:t>
            </a:r>
          </a:p>
        </p:txBody>
      </p:sp>
      <p:sp>
        <p:nvSpPr>
          <p:cNvPr id="64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38438" y="7812596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Simulate and analyze sales, profit, and ROI for each scenario</a:t>
            </a:r>
          </a:p>
        </p:txBody>
      </p:sp>
      <p:sp>
        <p:nvSpPr>
          <p:cNvPr id="64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38438" y="8822246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Run simulations to forecast key performance indicators like sales growth and return on investment.</a:t>
            </a:r>
          </a:p>
        </p:txBody>
      </p:sp>
      <p:sp>
        <p:nvSpPr>
          <p:cNvPr id="64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02543" y="3264408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Select the scenario that maximizes cumulative sales growth and margin</a:t>
            </a:r>
          </a:p>
        </p:txBody>
      </p:sp>
      <p:sp>
        <p:nvSpPr>
          <p:cNvPr id="650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02543" y="4274058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Choose the optimal promotion mix scenario based on maximizing sales, margins, and customer reach.</a:t>
            </a:r>
          </a:p>
        </p:txBody>
      </p:sp>
      <p:sp>
        <p:nvSpPr>
          <p:cNvPr id="65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66743" y="7812596"/>
            <a:ext cx="298608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800" b="1" spc="-9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Implement chosen promotion mix and monitor results for refinement</a:t>
            </a:r>
          </a:p>
        </p:txBody>
      </p:sp>
      <p:sp>
        <p:nvSpPr>
          <p:cNvPr id="65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566743" y="8822246"/>
            <a:ext cx="298608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64"/>
              </a:lnSpc>
            </a:pPr>
            <a:r>
              <a:rPr lang="en-US" sz="1200" spc="-2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Deploy the selected strategy and continuously track results to refine promotion effectiveness.</a:t>
            </a:r>
          </a:p>
        </p:txBody>
      </p:sp>
      <p:sp>
        <p:nvSpPr>
          <p:cNvPr id="65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47186"/>
            <a:ext cx="17559338" cy="1638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SCENARIO PLANNING FRAMEWORK TO MAXIMIZE PROMOTION ROI</a:t>
            </a:r>
          </a:p>
        </p:txBody>
      </p:sp>
      <p:pic>
        <p:nvPicPr>
          <p:cNvPr id="6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5">
            <a:alphaModFix amt="100000"/>
          </a:blip>
          <a:stretch/>
        </p:blipFill>
        <p:spPr>
          <a:xfrm>
            <a:off x="381000" y="2162175"/>
            <a:ext cx="17506950" cy="19050"/>
          </a:xfrm>
          <a:prstGeom prst="rect">
            <a:avLst/>
          </a:prstGeom>
        </p:spPr>
      </p:pic>
      <p:sp>
        <p:nvSpPr>
          <p:cNvPr id="65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2362200"/>
            <a:ext cx="175593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Stepwise framework for optimizing promotion mix using data-driven models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1">
            <a:alphaModFix amt="100000"/>
          </a:blip>
          <a:stretch/>
        </p:blipFill>
        <p:spPr>
          <a:xfrm>
            <a:off x="11849100" y="419100"/>
            <a:ext cx="6057900" cy="9448800"/>
          </a:xfrm>
          <a:prstGeom prst="rect">
            <a:avLst/>
          </a:prstGeom>
        </p:spPr>
      </p:pic>
      <p:pic>
        <p:nvPicPr>
          <p:cNvPr id="6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3">
            <a:alphaModFix amt="100000"/>
          </a:blip>
          <a:stretch/>
        </p:blipFill>
        <p:spPr>
          <a:xfrm>
            <a:off x="381000" y="381000"/>
            <a:ext cx="3609975" cy="4705350"/>
          </a:xfrm>
          <a:prstGeom prst="rect">
            <a:avLst/>
          </a:prstGeom>
        </p:spPr>
      </p:pic>
      <p:sp>
        <p:nvSpPr>
          <p:cNvPr id="666" name="$50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1737170"/>
            <a:ext cx="30337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5-7% sales growth</a:t>
            </a:r>
          </a:p>
        </p:txBody>
      </p:sp>
      <p:sp>
        <p:nvSpPr>
          <p:cNvPr id="66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2260378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Sales Increase</a:t>
            </a:r>
          </a:p>
        </p:txBody>
      </p:sp>
      <p:sp>
        <p:nvSpPr>
          <p:cNvPr id="66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2660428"/>
            <a:ext cx="3033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Optimized promotion mix drives measurable sales uplift</a:t>
            </a:r>
          </a:p>
        </p:txBody>
      </p:sp>
      <p:pic>
        <p:nvPicPr>
          <p:cNvPr id="67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5">
            <a:alphaModFix amt="100000"/>
          </a:blip>
          <a:stretch/>
        </p:blipFill>
        <p:spPr>
          <a:xfrm>
            <a:off x="4102036" y="381000"/>
            <a:ext cx="3609975" cy="4705350"/>
          </a:xfrm>
          <a:prstGeom prst="rect">
            <a:avLst/>
          </a:prstGeom>
        </p:spPr>
      </p:pic>
      <p:sp>
        <p:nvSpPr>
          <p:cNvPr id="673" name="$50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1737170"/>
            <a:ext cx="30337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35% volume uplift</a:t>
            </a:r>
          </a:p>
        </p:txBody>
      </p:sp>
      <p:sp>
        <p:nvSpPr>
          <p:cNvPr id="67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2260378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Volume Growth</a:t>
            </a:r>
          </a:p>
        </p:txBody>
      </p:sp>
      <p:sp>
        <p:nvSpPr>
          <p:cNvPr id="67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2660428"/>
            <a:ext cx="3033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Targeted promotional components significantly increase volume</a:t>
            </a:r>
          </a:p>
        </p:txBody>
      </p:sp>
      <p:pic>
        <p:nvPicPr>
          <p:cNvPr id="6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7">
            <a:alphaModFix amt="100000"/>
          </a:blip>
          <a:stretch/>
        </p:blipFill>
        <p:spPr>
          <a:xfrm>
            <a:off x="7822978" y="381000"/>
            <a:ext cx="3609975" cy="4705350"/>
          </a:xfrm>
          <a:prstGeom prst="rect">
            <a:avLst/>
          </a:prstGeom>
        </p:spPr>
      </p:pic>
      <p:sp>
        <p:nvSpPr>
          <p:cNvPr id="680" name="$50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1737170"/>
            <a:ext cx="30337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2-4% profit gain</a:t>
            </a:r>
          </a:p>
        </p:txBody>
      </p:sp>
      <p:sp>
        <p:nvSpPr>
          <p:cNvPr id="68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2260378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Margin Improvement</a:t>
            </a:r>
          </a:p>
        </p:txBody>
      </p:sp>
      <p:sp>
        <p:nvSpPr>
          <p:cNvPr id="68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2660428"/>
            <a:ext cx="3033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Pricing-promotion coordination boosts profit margins</a:t>
            </a:r>
          </a:p>
        </p:txBody>
      </p:sp>
      <p:pic>
        <p:nvPicPr>
          <p:cNvPr id="6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9">
            <a:alphaModFix amt="100000"/>
          </a:blip>
          <a:stretch/>
        </p:blipFill>
        <p:spPr>
          <a:xfrm>
            <a:off x="381000" y="5200650"/>
            <a:ext cx="3609975" cy="4705350"/>
          </a:xfrm>
          <a:prstGeom prst="rect">
            <a:avLst/>
          </a:prstGeom>
        </p:spPr>
      </p:pic>
      <p:sp>
        <p:nvSpPr>
          <p:cNvPr id="687" name="$50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6735032"/>
            <a:ext cx="30337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90% confidence</a:t>
            </a:r>
          </a:p>
        </p:txBody>
      </p:sp>
      <p:sp>
        <p:nvSpPr>
          <p:cNvPr id="688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7258336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Planning Accuracy</a:t>
            </a:r>
          </a:p>
        </p:txBody>
      </p:sp>
      <p:sp>
        <p:nvSpPr>
          <p:cNvPr id="69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5800" y="7658386"/>
            <a:ext cx="3033712" cy="723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Scenario planning improves decision-making reliability</a:t>
            </a:r>
          </a:p>
        </p:txBody>
      </p:sp>
      <p:pic>
        <p:nvPicPr>
          <p:cNvPr id="6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1">
            <a:alphaModFix amt="100000"/>
          </a:blip>
          <a:stretch/>
        </p:blipFill>
        <p:spPr>
          <a:xfrm>
            <a:off x="4102036" y="5200650"/>
            <a:ext cx="3609975" cy="4705350"/>
          </a:xfrm>
          <a:prstGeom prst="rect">
            <a:avLst/>
          </a:prstGeom>
        </p:spPr>
      </p:pic>
      <p:sp>
        <p:nvSpPr>
          <p:cNvPr id="694" name="$50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6556820"/>
            <a:ext cx="30337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MMM &amp; regression</a:t>
            </a:r>
          </a:p>
        </p:txBody>
      </p:sp>
      <p:sp>
        <p:nvSpPr>
          <p:cNvPr id="69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7080028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Spend Reallocation</a:t>
            </a:r>
          </a:p>
        </p:txBody>
      </p:sp>
      <p:sp>
        <p:nvSpPr>
          <p:cNvPr id="697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06836" y="7480078"/>
            <a:ext cx="3033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Analytics guided prioritization of discounts and sampling</a:t>
            </a:r>
          </a:p>
        </p:txBody>
      </p:sp>
      <p:pic>
        <p:nvPicPr>
          <p:cNvPr id="6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3">
            <a:alphaModFix amt="100000"/>
          </a:blip>
          <a:stretch/>
        </p:blipFill>
        <p:spPr>
          <a:xfrm>
            <a:off x="7822978" y="5200650"/>
            <a:ext cx="3609975" cy="4705350"/>
          </a:xfrm>
          <a:prstGeom prst="rect">
            <a:avLst/>
          </a:prstGeom>
        </p:spPr>
      </p:pic>
      <p:sp>
        <p:nvSpPr>
          <p:cNvPr id="701" name="$50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6363557"/>
            <a:ext cx="3033712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 b="1" dirty="0">
                <a:solidFill>
                  <a:srgbClr val="5229D9">
                    <a:alpha val="100000"/>
                  </a:srgbClr>
                </a:solidFill>
                <a:latin typeface="Roboto" panose="00000700000000000000" pitchFamily="2" charset="0"/>
              </a:rPr>
              <a:t>Improved forecasting</a:t>
            </a:r>
          </a:p>
        </p:txBody>
      </p:sp>
      <p:sp>
        <p:nvSpPr>
          <p:cNvPr id="702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7273100"/>
            <a:ext cx="3033712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2100" b="1" spc="-10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Inventory Control</a:t>
            </a:r>
          </a:p>
        </p:txBody>
      </p:sp>
      <p:sp>
        <p:nvSpPr>
          <p:cNvPr id="704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127778" y="7673150"/>
            <a:ext cx="3033712" cy="1076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Better forecasts reduce stockouts and optimize inventory</a:t>
            </a:r>
          </a:p>
        </p:txBody>
      </p:sp>
      <p:sp>
        <p:nvSpPr>
          <p:cNvPr id="70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68200" y="2861786"/>
            <a:ext cx="5253038" cy="3276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6426"/>
              </a:lnSpc>
            </a:pPr>
            <a:r>
              <a:rPr lang="en-US" sz="5400" b="1" spc="-27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DATA-DRIVEN PROMOTION MIX BOOSTS SALES</a:t>
            </a:r>
          </a:p>
        </p:txBody>
      </p:sp>
      <p:pic>
        <p:nvPicPr>
          <p:cNvPr id="7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5">
            <a:alphaModFix amt="100000"/>
          </a:blip>
          <a:stretch/>
        </p:blipFill>
        <p:spPr>
          <a:xfrm>
            <a:off x="12277725" y="6391275"/>
            <a:ext cx="5210175" cy="19050"/>
          </a:xfrm>
          <a:prstGeom prst="rect">
            <a:avLst/>
          </a:prstGeom>
        </p:spPr>
      </p:pic>
      <p:sp>
        <p:nvSpPr>
          <p:cNvPr id="71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68200" y="6667500"/>
            <a:ext cx="525303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808"/>
              </a:lnSpc>
            </a:pPr>
            <a:r>
              <a:rPr lang="en-US" sz="18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Key metrics and insights from pricing and promotion analytics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15" name="b5797574-aa50-455d-bf99-6e176428211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21">
            <a:alphaModFix amt="100000"/>
          </a:blip>
          <a:stretch/>
        </p:blipFill>
        <p:spPr>
          <a:xfrm>
            <a:off x="0" y="0"/>
            <a:ext cx="5448300" cy="10287000"/>
          </a:xfrm>
          <a:prstGeom prst="rect">
            <a:avLst/>
          </a:prstGeom>
        </p:spPr>
      </p:pic>
      <p:pic>
        <p:nvPicPr>
          <p:cNvPr id="7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3">
            <a:alphaModFix amt="100000"/>
          </a:blip>
          <a:stretch/>
        </p:blipFill>
        <p:spPr>
          <a:xfrm>
            <a:off x="5448300" y="6629400"/>
            <a:ext cx="3209925" cy="3657600"/>
          </a:xfrm>
          <a:prstGeom prst="rect">
            <a:avLst/>
          </a:prstGeom>
        </p:spPr>
      </p:pic>
      <p:sp>
        <p:nvSpPr>
          <p:cNvPr id="71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21585" y="7267575"/>
            <a:ext cx="2500312" cy="2390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DEFINE YOUR STRATEGIC VISION AND MARKET POSITION</a:t>
            </a:r>
          </a:p>
        </p:txBody>
      </p:sp>
      <p:pic>
        <p:nvPicPr>
          <p:cNvPr id="7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5">
            <a:alphaModFix amt="100000"/>
          </a:blip>
          <a:stretch/>
        </p:blipFill>
        <p:spPr>
          <a:xfrm>
            <a:off x="5448300" y="2971800"/>
            <a:ext cx="3209925" cy="3657600"/>
          </a:xfrm>
          <a:prstGeom prst="rect">
            <a:avLst/>
          </a:prstGeom>
        </p:spPr>
      </p:pic>
      <p:sp>
        <p:nvSpPr>
          <p:cNvPr id="72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21585" y="3552539"/>
            <a:ext cx="2500312" cy="2505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Crystallize your company's aspirations. Identify market opportunities and set objectives aligned with core strengths.</a:t>
            </a:r>
          </a:p>
        </p:txBody>
      </p:sp>
      <p:pic>
        <p:nvPicPr>
          <p:cNvPr id="7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7">
            <a:alphaModFix amt="100000"/>
          </a:blip>
          <a:stretch/>
        </p:blipFill>
        <p:spPr>
          <a:xfrm>
            <a:off x="8658225" y="2971800"/>
            <a:ext cx="3209925" cy="3657600"/>
          </a:xfrm>
          <a:prstGeom prst="rect">
            <a:avLst/>
          </a:prstGeom>
        </p:spPr>
      </p:pic>
      <p:sp>
        <p:nvSpPr>
          <p:cNvPr id="72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31510" y="3848100"/>
            <a:ext cx="2500312" cy="1914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BUILD YOUR INNOVATION FRAMEWORK FOR SUCCESS</a:t>
            </a:r>
          </a:p>
        </p:txBody>
      </p:sp>
      <p:pic>
        <p:nvPicPr>
          <p:cNvPr id="7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9">
            <a:alphaModFix amt="100000"/>
          </a:blip>
          <a:stretch/>
        </p:blipFill>
        <p:spPr>
          <a:xfrm>
            <a:off x="8658225" y="6629400"/>
            <a:ext cx="3209925" cy="3657600"/>
          </a:xfrm>
          <a:prstGeom prst="rect">
            <a:avLst/>
          </a:prstGeom>
        </p:spPr>
      </p:pic>
      <p:sp>
        <p:nvSpPr>
          <p:cNvPr id="73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31510" y="7210139"/>
            <a:ext cx="2500312" cy="2505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Build systematic processes for generating ideas. Foster experimentation and develop robust feedback loops.</a:t>
            </a:r>
          </a:p>
        </p:txBody>
      </p:sp>
      <p:pic>
        <p:nvPicPr>
          <p:cNvPr id="7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1">
            <a:alphaModFix amt="100000"/>
          </a:blip>
          <a:stretch/>
        </p:blipFill>
        <p:spPr>
          <a:xfrm>
            <a:off x="11868150" y="6629400"/>
            <a:ext cx="3209925" cy="3657600"/>
          </a:xfrm>
          <a:prstGeom prst="rect">
            <a:avLst/>
          </a:prstGeom>
        </p:spPr>
      </p:pic>
      <p:sp>
        <p:nvSpPr>
          <p:cNvPr id="73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1435" y="7267575"/>
            <a:ext cx="2500312" cy="2390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EXECUTE WITH AGILE PRECISION AND FLEXIBILITY</a:t>
            </a:r>
          </a:p>
        </p:txBody>
      </p:sp>
      <p:pic>
        <p:nvPicPr>
          <p:cNvPr id="7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3">
            <a:alphaModFix amt="100000"/>
          </a:blip>
          <a:stretch/>
        </p:blipFill>
        <p:spPr>
          <a:xfrm>
            <a:off x="11868150" y="2971800"/>
            <a:ext cx="3209925" cy="3657600"/>
          </a:xfrm>
          <a:prstGeom prst="rect">
            <a:avLst/>
          </a:prstGeom>
        </p:spPr>
      </p:pic>
      <p:sp>
        <p:nvSpPr>
          <p:cNvPr id="73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1435" y="3730847"/>
            <a:ext cx="250031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Implement flexible strategies that adapt to changes. Break initiatives into sprints and pivot based on data.</a:t>
            </a:r>
          </a:p>
        </p:txBody>
      </p:sp>
      <p:pic>
        <p:nvPicPr>
          <p:cNvPr id="7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5">
            <a:alphaModFix amt="100000"/>
          </a:blip>
          <a:stretch/>
        </p:blipFill>
        <p:spPr>
          <a:xfrm>
            <a:off x="15078075" y="2971800"/>
            <a:ext cx="3209925" cy="3657600"/>
          </a:xfrm>
          <a:prstGeom prst="rect">
            <a:avLst/>
          </a:prstGeom>
        </p:spPr>
      </p:pic>
      <p:sp>
        <p:nvSpPr>
          <p:cNvPr id="74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51360" y="3609975"/>
            <a:ext cx="2500312" cy="2390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b="1" spc="-15" dirty="0">
                <a:solidFill>
                  <a:srgbClr val="FFFFFF">
                    <a:alpha val="100000"/>
                  </a:srgbClr>
                </a:solidFill>
                <a:latin typeface="Roboto" panose="00000700000000000000" pitchFamily="2" charset="0"/>
              </a:rPr>
              <a:t>SCALE AND SUSTAIN GROWTH THROUGH INNOVATION</a:t>
            </a:r>
          </a:p>
        </p:txBody>
      </p:sp>
      <p:pic>
        <p:nvPicPr>
          <p:cNvPr id="74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7">
            <a:alphaModFix amt="100000"/>
          </a:blip>
          <a:stretch/>
        </p:blipFill>
        <p:spPr>
          <a:xfrm>
            <a:off x="15078075" y="6629400"/>
            <a:ext cx="3209925" cy="3657600"/>
          </a:xfrm>
          <a:prstGeom prst="rect">
            <a:avLst/>
          </a:prstGeom>
        </p:spPr>
      </p:pic>
      <p:sp>
        <p:nvSpPr>
          <p:cNvPr id="74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51360" y="7388447"/>
            <a:ext cx="2500312" cy="2152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sz="1800" spc="-4" dirty="0">
                <a:solidFill>
                  <a:srgbClr val="0A1222">
                    <a:alpha val="100000"/>
                  </a:srgbClr>
                </a:solidFill>
                <a:latin typeface="Inter" panose="00000700000000000000" pitchFamily="2" charset="0"/>
              </a:rPr>
              <a:t>Transform successful initiatives into scalable operations. Build systems and create competitive advantages.</a:t>
            </a:r>
          </a:p>
        </p:txBody>
      </p:sp>
      <p:sp>
        <p:nvSpPr>
          <p:cNvPr id="74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67400" y="347186"/>
            <a:ext cx="12072938" cy="1638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5400" b="1" spc="-27" dirty="0">
                <a:solidFill>
                  <a:srgbClr val="0A1222">
                    <a:alpha val="100000"/>
                  </a:srgbClr>
                </a:solidFill>
                <a:latin typeface="Roboto" panose="00000700000000000000" pitchFamily="2" charset="0"/>
              </a:rPr>
              <a:t>OVERCOMING DATA &amp; COLLABORATION CHALLENGES</a:t>
            </a:r>
          </a:p>
        </p:txBody>
      </p:sp>
      <p:pic>
        <p:nvPicPr>
          <p:cNvPr id="7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9">
            <a:alphaModFix amt="100000"/>
          </a:blip>
          <a:stretch/>
        </p:blipFill>
        <p:spPr>
          <a:xfrm>
            <a:off x="5867400" y="2162175"/>
            <a:ext cx="12030075" cy="19050"/>
          </a:xfrm>
          <a:prstGeom prst="rect">
            <a:avLst/>
          </a:prstGeom>
        </p:spPr>
      </p:pic>
      <p:sp>
        <p:nvSpPr>
          <p:cNvPr id="75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867400" y="2362200"/>
            <a:ext cx="12072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-4" dirty="0">
                <a:solidFill>
                  <a:srgbClr val="666F82">
                    <a:alpha val="100000"/>
                  </a:srgbClr>
                </a:solidFill>
                <a:latin typeface="Inter" panose="00000700000000000000" pitchFamily="2" charset="0"/>
              </a:rPr>
              <a:t>Key hurdles in data quality, integration, and cross-team alignment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58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45">
            <a:alphaModFix amt="100000"/>
          </a:blip>
          <a:stretch/>
        </p:blipFill>
        <p:spPr>
          <a:xfrm>
            <a:off x="381000" y="381000"/>
            <a:ext cx="17526000" cy="9525000"/>
          </a:xfrm>
          <a:prstGeom prst="rect">
            <a:avLst/>
          </a:prstGeom>
        </p:spPr>
      </p:pic>
      <p:pic>
        <p:nvPicPr>
          <p:cNvPr id="7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7">
            <a:alphaModFix amt="60000"/>
          </a:blip>
          <a:stretch/>
        </p:blipFill>
        <p:spPr>
          <a:xfrm>
            <a:off x="381000" y="381000"/>
            <a:ext cx="17526000" cy="9525000"/>
          </a:xfrm>
          <a:prstGeom prst="rect">
            <a:avLst/>
          </a:prstGeom>
        </p:spPr>
      </p:pic>
      <p:sp>
        <p:nvSpPr>
          <p:cNvPr id="76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2000" y="4857178"/>
            <a:ext cx="16797338" cy="2819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6600" b="1" spc="-33" dirty="0">
                <a:solidFill>
                  <a:srgbClr val="FAFAFA">
                    <a:alpha val="100000"/>
                  </a:srgbClr>
                </a:solidFill>
                <a:latin typeface="Roboto" panose="00000700000000000000" pitchFamily="2" charset="0"/>
              </a:rPr>
              <a:t>LET’S EMBED ANALYTICS TO OPTIMIZE PRICING AND PROMOTIONS FOR SUSTAINED BUSINESS GROWTH.</a:t>
            </a:r>
          </a:p>
        </p:txBody>
      </p:sp>
      <p:pic>
        <p:nvPicPr>
          <p:cNvPr id="7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9">
            <a:alphaModFix amt="100000"/>
          </a:blip>
          <a:stretch/>
        </p:blipFill>
        <p:spPr>
          <a:xfrm>
            <a:off x="381000" y="8046244"/>
            <a:ext cx="17526000" cy="19050"/>
          </a:xfrm>
          <a:prstGeom prst="rect">
            <a:avLst/>
          </a:prstGeom>
        </p:spPr>
      </p:pic>
      <p:pic>
        <p:nvPicPr>
          <p:cNvPr id="7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1">
            <a:alphaModFix amt="100000"/>
          </a:blip>
          <a:stretch/>
        </p:blipFill>
        <p:spPr>
          <a:xfrm>
            <a:off x="381000" y="8065294"/>
            <a:ext cx="17526000" cy="1838325"/>
          </a:xfrm>
          <a:prstGeom prst="rect">
            <a:avLst/>
          </a:prstGeom>
        </p:spPr>
      </p:pic>
      <p:sp>
        <p:nvSpPr>
          <p:cNvPr id="76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9224" y="8333518"/>
            <a:ext cx="17025938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100" spc="-4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Embed advanced pricing and promotion analytics into core processes to optimize spend, maximize ROI, and sustain competitive advantage through collaboration and technology.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2.5.6.0, docId: 20902345, orderId: 9432138</dc:title>
  <dc:creator>Presentations.AI Exporter</dc:creator>
  <lastModifiedBy>Presentations.AI Exporter</lastModifiedBy>
  <revision>1</revision>
  <dcterms:created xsi:type="dcterms:W3CDTF">2025-08-20T06:34:49.0000000Z</dcterms:created>
  <dcterms:modified xsi:type="dcterms:W3CDTF">2025-08-20T06:34:49.0000000Z</dcterms:modified>
</coreProperties>
</file>