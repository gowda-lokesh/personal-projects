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D6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 autoAdjust="0"/>
    <p:restoredTop sz="94667" autoAdjust="0"/>
  </p:normalViewPr>
  <p:slideViewPr>
    <p:cSldViewPr snapToGrid="0">
      <p:cViewPr varScale="1">
        <p:scale>
          <a:sx n="137" d="100"/>
          <a:sy n="137" d="100"/>
        </p:scale>
        <p:origin x="1416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3367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149CEE-C69C-47DB-AAA9-9B9163566C3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38064D2-48FF-4E97-AE0B-40C74151B137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i="0" dirty="0"/>
            <a:t>Time Series Analysis is Fundamental</a:t>
          </a:r>
          <a:endParaRPr lang="en-IN" dirty="0"/>
        </a:p>
      </dgm:t>
    </dgm:pt>
    <dgm:pt modelId="{FBFCED8A-94B3-4764-8891-7E72BFBF9FCC}" type="parTrans" cxnId="{60D6C044-0BF5-4BBA-8D48-E80925FB35AB}">
      <dgm:prSet/>
      <dgm:spPr/>
      <dgm:t>
        <a:bodyPr/>
        <a:lstStyle/>
        <a:p>
          <a:endParaRPr lang="en-IN"/>
        </a:p>
      </dgm:t>
    </dgm:pt>
    <dgm:pt modelId="{75A9042F-3E1E-42A0-8C12-467E47221E42}" type="sibTrans" cxnId="{60D6C044-0BF5-4BBA-8D48-E80925FB35AB}">
      <dgm:prSet/>
      <dgm:spPr/>
      <dgm:t>
        <a:bodyPr/>
        <a:lstStyle/>
        <a:p>
          <a:endParaRPr lang="en-IN"/>
        </a:p>
      </dgm:t>
    </dgm:pt>
    <dgm:pt modelId="{91D7A14F-E898-401F-B9A7-0AFD0B520242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i="0" dirty="0"/>
            <a:t>Forecasting Techniques Rely on Data</a:t>
          </a:r>
          <a:endParaRPr lang="en-IN" dirty="0"/>
        </a:p>
      </dgm:t>
    </dgm:pt>
    <dgm:pt modelId="{88C2D8DC-B830-4C3B-9E34-06B147C7EF14}" type="parTrans" cxnId="{AE447426-ADF1-42EC-B502-C2C667A9ABD7}">
      <dgm:prSet/>
      <dgm:spPr/>
      <dgm:t>
        <a:bodyPr/>
        <a:lstStyle/>
        <a:p>
          <a:endParaRPr lang="en-IN"/>
        </a:p>
      </dgm:t>
    </dgm:pt>
    <dgm:pt modelId="{FE232523-57EB-48EF-AB53-A62CBCAAFE18}" type="sibTrans" cxnId="{AE447426-ADF1-42EC-B502-C2C667A9ABD7}">
      <dgm:prSet/>
      <dgm:spPr/>
      <dgm:t>
        <a:bodyPr/>
        <a:lstStyle/>
        <a:p>
          <a:endParaRPr lang="en-IN"/>
        </a:p>
      </dgm:t>
    </dgm:pt>
    <dgm:pt modelId="{DD7E968B-73DC-46B2-959E-95D456668366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 b="1" i="0" dirty="0"/>
            <a:t>Importance of Data Quality</a:t>
          </a:r>
          <a:endParaRPr lang="en-IN" dirty="0"/>
        </a:p>
      </dgm:t>
    </dgm:pt>
    <dgm:pt modelId="{95B04780-DAD5-4D51-8C70-075AB8226334}" type="parTrans" cxnId="{595BD378-78A2-4104-850C-1F5090FFA29A}">
      <dgm:prSet/>
      <dgm:spPr/>
      <dgm:t>
        <a:bodyPr/>
        <a:lstStyle/>
        <a:p>
          <a:endParaRPr lang="en-IN"/>
        </a:p>
      </dgm:t>
    </dgm:pt>
    <dgm:pt modelId="{315C8E29-5AF2-4C52-9175-BF283FC6E3BE}" type="sibTrans" cxnId="{595BD378-78A2-4104-850C-1F5090FFA29A}">
      <dgm:prSet/>
      <dgm:spPr/>
      <dgm:t>
        <a:bodyPr/>
        <a:lstStyle/>
        <a:p>
          <a:endParaRPr lang="en-IN"/>
        </a:p>
      </dgm:t>
    </dgm:pt>
    <dgm:pt modelId="{DF17A504-A95C-48EF-A944-1BD76104C02A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200" b="0" i="0" dirty="0"/>
            <a:t>At the heart of quantitative forecasting lies </a:t>
          </a:r>
          <a:r>
            <a:rPr lang="en-US" sz="1200" b="1" i="0" dirty="0"/>
            <a:t>time series analysis</a:t>
          </a:r>
          <a:r>
            <a:rPr lang="en-US" sz="1200" b="0" i="0" dirty="0"/>
            <a:t>, which examines data points collected or recorded at specific time intervals.</a:t>
          </a:r>
          <a:endParaRPr lang="en-IN" sz="1200" dirty="0"/>
        </a:p>
      </dgm:t>
    </dgm:pt>
    <dgm:pt modelId="{A94DA427-953D-41D3-A2C2-94379AB6CA08}" type="parTrans" cxnId="{6BEA136C-80CA-404E-9280-218708CD533D}">
      <dgm:prSet/>
      <dgm:spPr/>
      <dgm:t>
        <a:bodyPr/>
        <a:lstStyle/>
        <a:p>
          <a:endParaRPr lang="en-IN"/>
        </a:p>
      </dgm:t>
    </dgm:pt>
    <dgm:pt modelId="{5BDBE2F1-6DCD-4B48-BE8F-29211D998054}" type="sibTrans" cxnId="{6BEA136C-80CA-404E-9280-218708CD533D}">
      <dgm:prSet/>
      <dgm:spPr/>
      <dgm:t>
        <a:bodyPr/>
        <a:lstStyle/>
        <a:p>
          <a:endParaRPr lang="en-IN"/>
        </a:p>
      </dgm:t>
    </dgm:pt>
    <dgm:pt modelId="{1E2755E6-6A82-4DBF-9A77-C29E396C52EB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200" b="0" i="0" dirty="0"/>
            <a:t>Accurate forecasting techniques leverage historical data patterns, enhancing the ability to predict future trends effectively.</a:t>
          </a:r>
          <a:endParaRPr lang="en-IN" sz="1200" dirty="0"/>
        </a:p>
      </dgm:t>
    </dgm:pt>
    <dgm:pt modelId="{3FB7143A-CD66-4DC0-81F1-5573FB5582C3}" type="parTrans" cxnId="{359DA944-81E5-4786-81AA-B0C285128944}">
      <dgm:prSet/>
      <dgm:spPr/>
      <dgm:t>
        <a:bodyPr/>
        <a:lstStyle/>
        <a:p>
          <a:endParaRPr lang="en-IN"/>
        </a:p>
      </dgm:t>
    </dgm:pt>
    <dgm:pt modelId="{46F71ABF-4176-498A-A7FB-9EA3549A3FCA}" type="sibTrans" cxnId="{359DA944-81E5-4786-81AA-B0C285128944}">
      <dgm:prSet/>
      <dgm:spPr/>
      <dgm:t>
        <a:bodyPr/>
        <a:lstStyle/>
        <a:p>
          <a:endParaRPr lang="en-IN"/>
        </a:p>
      </dgm:t>
    </dgm:pt>
    <dgm:pt modelId="{D1BC4D6A-F517-474F-AB85-804CC3BEE738}">
      <dgm:prSet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 b="1" i="0" dirty="0"/>
            <a:t>Applications Across Industries</a:t>
          </a:r>
          <a:endParaRPr lang="en-IN" dirty="0"/>
        </a:p>
      </dgm:t>
    </dgm:pt>
    <dgm:pt modelId="{DF51AB29-2166-4883-8658-88757C68C6AC}" type="parTrans" cxnId="{B14C2BFF-582F-4B72-8A75-E6F69B88A9E8}">
      <dgm:prSet/>
      <dgm:spPr/>
      <dgm:t>
        <a:bodyPr/>
        <a:lstStyle/>
        <a:p>
          <a:endParaRPr lang="en-IN"/>
        </a:p>
      </dgm:t>
    </dgm:pt>
    <dgm:pt modelId="{55EE0F2A-DFC9-415C-9FD4-6CB38DD006AA}" type="sibTrans" cxnId="{B14C2BFF-582F-4B72-8A75-E6F69B88A9E8}">
      <dgm:prSet/>
      <dgm:spPr/>
      <dgm:t>
        <a:bodyPr/>
        <a:lstStyle/>
        <a:p>
          <a:endParaRPr lang="en-IN"/>
        </a:p>
      </dgm:t>
    </dgm:pt>
    <dgm:pt modelId="{3B86F607-DC29-470C-A6A1-177D7007C6CE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200" b="0" i="0" dirty="0"/>
            <a:t>The quality of data in time series analysis directly impacts the reliability of forecasts, emphasizing the need for accurate data collection.</a:t>
          </a:r>
          <a:endParaRPr lang="en-IN" sz="1200" dirty="0"/>
        </a:p>
      </dgm:t>
    </dgm:pt>
    <dgm:pt modelId="{F2910A92-4220-4355-A9CE-4766F1E35480}" type="parTrans" cxnId="{DB9C3BD9-F08B-4FCE-8A71-8FCAA105895F}">
      <dgm:prSet/>
      <dgm:spPr/>
      <dgm:t>
        <a:bodyPr/>
        <a:lstStyle/>
        <a:p>
          <a:endParaRPr lang="en-IN"/>
        </a:p>
      </dgm:t>
    </dgm:pt>
    <dgm:pt modelId="{D8D7404D-0773-4132-AC27-AC8848846072}" type="sibTrans" cxnId="{DB9C3BD9-F08B-4FCE-8A71-8FCAA105895F}">
      <dgm:prSet/>
      <dgm:spPr/>
      <dgm:t>
        <a:bodyPr/>
        <a:lstStyle/>
        <a:p>
          <a:endParaRPr lang="en-IN"/>
        </a:p>
      </dgm:t>
    </dgm:pt>
    <dgm:pt modelId="{4028D1ED-F65F-42A4-8B91-C9FAA087630E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200" b="0" i="0" dirty="0"/>
            <a:t>Time series analysis is crucial across various industries, including finance, retail, and manufacturing, for effective demand forecasting.</a:t>
          </a:r>
          <a:endParaRPr lang="en-IN" sz="1200" dirty="0"/>
        </a:p>
      </dgm:t>
    </dgm:pt>
    <dgm:pt modelId="{6A92201B-5C58-4239-B247-F81197169971}" type="parTrans" cxnId="{2BEF8380-38C5-40A2-BF3C-7039733A5E4D}">
      <dgm:prSet/>
      <dgm:spPr/>
      <dgm:t>
        <a:bodyPr/>
        <a:lstStyle/>
        <a:p>
          <a:endParaRPr lang="en-IN"/>
        </a:p>
      </dgm:t>
    </dgm:pt>
    <dgm:pt modelId="{04C65A63-8BD5-4610-A0D9-A109EBF333FD}" type="sibTrans" cxnId="{2BEF8380-38C5-40A2-BF3C-7039733A5E4D}">
      <dgm:prSet/>
      <dgm:spPr/>
      <dgm:t>
        <a:bodyPr/>
        <a:lstStyle/>
        <a:p>
          <a:endParaRPr lang="en-IN"/>
        </a:p>
      </dgm:t>
    </dgm:pt>
    <dgm:pt modelId="{29AB5184-B0DE-4AFD-BE75-465D1AFCC74D}">
      <dgm:prSet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 b="1" i="0" dirty="0"/>
            <a:t>Quantitative Forecasting Methods</a:t>
          </a:r>
          <a:endParaRPr lang="en-IN" dirty="0"/>
        </a:p>
      </dgm:t>
    </dgm:pt>
    <dgm:pt modelId="{6C7BCADE-E7D3-43FF-8B7B-9613BCE60413}" type="parTrans" cxnId="{F1DBE094-B532-4B56-8E8E-ED604725782E}">
      <dgm:prSet/>
      <dgm:spPr/>
      <dgm:t>
        <a:bodyPr/>
        <a:lstStyle/>
        <a:p>
          <a:endParaRPr lang="en-IN"/>
        </a:p>
      </dgm:t>
    </dgm:pt>
    <dgm:pt modelId="{371BC711-B77A-44DD-83FF-EBA430DC3B40}" type="sibTrans" cxnId="{F1DBE094-B532-4B56-8E8E-ED604725782E}">
      <dgm:prSet/>
      <dgm:spPr/>
      <dgm:t>
        <a:bodyPr/>
        <a:lstStyle/>
        <a:p>
          <a:endParaRPr lang="en-IN"/>
        </a:p>
      </dgm:t>
    </dgm:pt>
    <dgm:pt modelId="{2F76A60A-E846-4CF4-8DA2-12DB8E01BDBA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200" b="0" i="0" dirty="0"/>
            <a:t>Various </a:t>
          </a:r>
          <a:r>
            <a:rPr lang="en-US" sz="1200" b="1" i="0" dirty="0"/>
            <a:t>quantitative forecasting methods</a:t>
          </a:r>
          <a:r>
            <a:rPr lang="en-US" sz="1200" b="0" i="0" dirty="0"/>
            <a:t> utilize statistical techniques to analyze past data and generate future predictions.</a:t>
          </a:r>
          <a:endParaRPr lang="en-IN" sz="1200" dirty="0"/>
        </a:p>
      </dgm:t>
    </dgm:pt>
    <dgm:pt modelId="{69D967EF-AF8E-4622-B7D7-513C84C5C974}" type="parTrans" cxnId="{24758893-88E7-45C8-9A9D-50082E389BD5}">
      <dgm:prSet/>
      <dgm:spPr/>
      <dgm:t>
        <a:bodyPr/>
        <a:lstStyle/>
        <a:p>
          <a:endParaRPr lang="en-IN"/>
        </a:p>
      </dgm:t>
    </dgm:pt>
    <dgm:pt modelId="{BB603595-6989-4981-8D4E-6718F43F6FEE}" type="sibTrans" cxnId="{24758893-88E7-45C8-9A9D-50082E389BD5}">
      <dgm:prSet/>
      <dgm:spPr/>
      <dgm:t>
        <a:bodyPr/>
        <a:lstStyle/>
        <a:p>
          <a:endParaRPr lang="en-IN"/>
        </a:p>
      </dgm:t>
    </dgm:pt>
    <dgm:pt modelId="{30F516C1-3F6D-44E1-A3E4-222E393BC841}" type="pres">
      <dgm:prSet presAssocID="{16149CEE-C69C-47DB-AAA9-9B9163566C3C}" presName="linear" presStyleCnt="0">
        <dgm:presLayoutVars>
          <dgm:dir/>
          <dgm:animLvl val="lvl"/>
          <dgm:resizeHandles val="exact"/>
        </dgm:presLayoutVars>
      </dgm:prSet>
      <dgm:spPr/>
    </dgm:pt>
    <dgm:pt modelId="{001EDC09-EC71-450F-B9CC-793D283A19B2}" type="pres">
      <dgm:prSet presAssocID="{338064D2-48FF-4E97-AE0B-40C74151B137}" presName="parentLin" presStyleCnt="0"/>
      <dgm:spPr/>
    </dgm:pt>
    <dgm:pt modelId="{03071426-D0FF-486D-8913-8ABF5887CC62}" type="pres">
      <dgm:prSet presAssocID="{338064D2-48FF-4E97-AE0B-40C74151B137}" presName="parentLeftMargin" presStyleLbl="node1" presStyleIdx="0" presStyleCnt="5"/>
      <dgm:spPr/>
    </dgm:pt>
    <dgm:pt modelId="{34157993-1198-435A-8533-399C68E54CD7}" type="pres">
      <dgm:prSet presAssocID="{338064D2-48FF-4E97-AE0B-40C74151B13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356072D-1E66-4D2A-91CB-E18A49973625}" type="pres">
      <dgm:prSet presAssocID="{338064D2-48FF-4E97-AE0B-40C74151B137}" presName="negativeSpace" presStyleCnt="0"/>
      <dgm:spPr/>
    </dgm:pt>
    <dgm:pt modelId="{F9E3B5BA-3620-4D26-8B16-60E17F0971F7}" type="pres">
      <dgm:prSet presAssocID="{338064D2-48FF-4E97-AE0B-40C74151B137}" presName="childText" presStyleLbl="conFgAcc1" presStyleIdx="0" presStyleCnt="5">
        <dgm:presLayoutVars>
          <dgm:bulletEnabled val="1"/>
        </dgm:presLayoutVars>
      </dgm:prSet>
      <dgm:spPr/>
    </dgm:pt>
    <dgm:pt modelId="{CB49A351-CDF5-47C7-A1D2-4804F271D0DD}" type="pres">
      <dgm:prSet presAssocID="{75A9042F-3E1E-42A0-8C12-467E47221E42}" presName="spaceBetweenRectangles" presStyleCnt="0"/>
      <dgm:spPr/>
    </dgm:pt>
    <dgm:pt modelId="{53A84B26-512D-4DE5-999C-A11E3083D6AC}" type="pres">
      <dgm:prSet presAssocID="{91D7A14F-E898-401F-B9A7-0AFD0B520242}" presName="parentLin" presStyleCnt="0"/>
      <dgm:spPr/>
    </dgm:pt>
    <dgm:pt modelId="{C8FC62BB-1A77-4D92-BEEF-0C8E97438A1E}" type="pres">
      <dgm:prSet presAssocID="{91D7A14F-E898-401F-B9A7-0AFD0B520242}" presName="parentLeftMargin" presStyleLbl="node1" presStyleIdx="0" presStyleCnt="5"/>
      <dgm:spPr/>
    </dgm:pt>
    <dgm:pt modelId="{B9E23788-F8BB-44F3-9EB2-493145A2D34E}" type="pres">
      <dgm:prSet presAssocID="{91D7A14F-E898-401F-B9A7-0AFD0B52024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01038ED-B58C-46F5-A4A9-E177CD403154}" type="pres">
      <dgm:prSet presAssocID="{91D7A14F-E898-401F-B9A7-0AFD0B520242}" presName="negativeSpace" presStyleCnt="0"/>
      <dgm:spPr/>
    </dgm:pt>
    <dgm:pt modelId="{C59D84B3-011F-434C-9B06-2F7A6A4E62CF}" type="pres">
      <dgm:prSet presAssocID="{91D7A14F-E898-401F-B9A7-0AFD0B520242}" presName="childText" presStyleLbl="conFgAcc1" presStyleIdx="1" presStyleCnt="5">
        <dgm:presLayoutVars>
          <dgm:bulletEnabled val="1"/>
        </dgm:presLayoutVars>
      </dgm:prSet>
      <dgm:spPr/>
    </dgm:pt>
    <dgm:pt modelId="{B38C5DB2-463E-4F9A-9EEC-A7F678B8DA3B}" type="pres">
      <dgm:prSet presAssocID="{FE232523-57EB-48EF-AB53-A62CBCAAFE18}" presName="spaceBetweenRectangles" presStyleCnt="0"/>
      <dgm:spPr/>
    </dgm:pt>
    <dgm:pt modelId="{4189B351-30E8-48EB-A054-B262F07A2D0A}" type="pres">
      <dgm:prSet presAssocID="{29AB5184-B0DE-4AFD-BE75-465D1AFCC74D}" presName="parentLin" presStyleCnt="0"/>
      <dgm:spPr/>
    </dgm:pt>
    <dgm:pt modelId="{335DBFD7-6882-4A4A-AB95-A4298DC0CD4E}" type="pres">
      <dgm:prSet presAssocID="{29AB5184-B0DE-4AFD-BE75-465D1AFCC74D}" presName="parentLeftMargin" presStyleLbl="node1" presStyleIdx="1" presStyleCnt="5"/>
      <dgm:spPr/>
    </dgm:pt>
    <dgm:pt modelId="{0D7723F7-FBB7-47EB-B9AD-478C4DBCE3E9}" type="pres">
      <dgm:prSet presAssocID="{29AB5184-B0DE-4AFD-BE75-465D1AFCC74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864CA53-31BB-4354-869B-EE1BF4AE2332}" type="pres">
      <dgm:prSet presAssocID="{29AB5184-B0DE-4AFD-BE75-465D1AFCC74D}" presName="negativeSpace" presStyleCnt="0"/>
      <dgm:spPr/>
    </dgm:pt>
    <dgm:pt modelId="{D30A65D7-F005-482B-A841-740B61D1C56E}" type="pres">
      <dgm:prSet presAssocID="{29AB5184-B0DE-4AFD-BE75-465D1AFCC74D}" presName="childText" presStyleLbl="conFgAcc1" presStyleIdx="2" presStyleCnt="5">
        <dgm:presLayoutVars>
          <dgm:bulletEnabled val="1"/>
        </dgm:presLayoutVars>
      </dgm:prSet>
      <dgm:spPr/>
    </dgm:pt>
    <dgm:pt modelId="{6855E95B-994E-439F-9698-E8A396A4FC79}" type="pres">
      <dgm:prSet presAssocID="{371BC711-B77A-44DD-83FF-EBA430DC3B40}" presName="spaceBetweenRectangles" presStyleCnt="0"/>
      <dgm:spPr/>
    </dgm:pt>
    <dgm:pt modelId="{8A1022B1-481D-4E5E-80AE-E391588A550F}" type="pres">
      <dgm:prSet presAssocID="{DD7E968B-73DC-46B2-959E-95D456668366}" presName="parentLin" presStyleCnt="0"/>
      <dgm:spPr/>
    </dgm:pt>
    <dgm:pt modelId="{536C9E90-E33F-4EE7-9072-182349D2C2B3}" type="pres">
      <dgm:prSet presAssocID="{DD7E968B-73DC-46B2-959E-95D456668366}" presName="parentLeftMargin" presStyleLbl="node1" presStyleIdx="2" presStyleCnt="5"/>
      <dgm:spPr/>
    </dgm:pt>
    <dgm:pt modelId="{93F2311F-B6C4-4BAC-8F23-872D1B78C786}" type="pres">
      <dgm:prSet presAssocID="{DD7E968B-73DC-46B2-959E-95D45666836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722A6FE-4D19-4646-A307-C4D6744F22C5}" type="pres">
      <dgm:prSet presAssocID="{DD7E968B-73DC-46B2-959E-95D456668366}" presName="negativeSpace" presStyleCnt="0"/>
      <dgm:spPr/>
    </dgm:pt>
    <dgm:pt modelId="{D4A41C11-8D5C-413D-9696-87E8D070D876}" type="pres">
      <dgm:prSet presAssocID="{DD7E968B-73DC-46B2-959E-95D456668366}" presName="childText" presStyleLbl="conFgAcc1" presStyleIdx="3" presStyleCnt="5">
        <dgm:presLayoutVars>
          <dgm:bulletEnabled val="1"/>
        </dgm:presLayoutVars>
      </dgm:prSet>
      <dgm:spPr/>
    </dgm:pt>
    <dgm:pt modelId="{640176BF-84EB-4092-B696-D4AB58CE48B0}" type="pres">
      <dgm:prSet presAssocID="{315C8E29-5AF2-4C52-9175-BF283FC6E3BE}" presName="spaceBetweenRectangles" presStyleCnt="0"/>
      <dgm:spPr/>
    </dgm:pt>
    <dgm:pt modelId="{6C2171AC-C5F3-4B29-AD0A-FBC7B276BD45}" type="pres">
      <dgm:prSet presAssocID="{D1BC4D6A-F517-474F-AB85-804CC3BEE738}" presName="parentLin" presStyleCnt="0"/>
      <dgm:spPr/>
    </dgm:pt>
    <dgm:pt modelId="{20B927A9-010A-4B2A-88E3-FF4D82A9EEB7}" type="pres">
      <dgm:prSet presAssocID="{D1BC4D6A-F517-474F-AB85-804CC3BEE738}" presName="parentLeftMargin" presStyleLbl="node1" presStyleIdx="3" presStyleCnt="5"/>
      <dgm:spPr/>
    </dgm:pt>
    <dgm:pt modelId="{F5046B49-D561-43B3-AB3A-ED456D8D786C}" type="pres">
      <dgm:prSet presAssocID="{D1BC4D6A-F517-474F-AB85-804CC3BEE738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2C8C8E25-0004-4C0B-8798-AAF42D859678}" type="pres">
      <dgm:prSet presAssocID="{D1BC4D6A-F517-474F-AB85-804CC3BEE738}" presName="negativeSpace" presStyleCnt="0"/>
      <dgm:spPr/>
    </dgm:pt>
    <dgm:pt modelId="{97D43AFC-E697-4E33-AEEA-85C6F75AABDB}" type="pres">
      <dgm:prSet presAssocID="{D1BC4D6A-F517-474F-AB85-804CC3BEE738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6681AC0F-D813-4C19-8082-B92C5CBC1A18}" type="presOf" srcId="{4028D1ED-F65F-42A4-8B91-C9FAA087630E}" destId="{97D43AFC-E697-4E33-AEEA-85C6F75AABDB}" srcOrd="0" destOrd="0" presId="urn:microsoft.com/office/officeart/2005/8/layout/list1"/>
    <dgm:cxn modelId="{87C10B11-88D5-4D53-A00D-F7649D5DCF05}" type="presOf" srcId="{29AB5184-B0DE-4AFD-BE75-465D1AFCC74D}" destId="{335DBFD7-6882-4A4A-AB95-A4298DC0CD4E}" srcOrd="0" destOrd="0" presId="urn:microsoft.com/office/officeart/2005/8/layout/list1"/>
    <dgm:cxn modelId="{9B389515-971D-4122-B5DE-33C2C101B68C}" type="presOf" srcId="{DD7E968B-73DC-46B2-959E-95D456668366}" destId="{93F2311F-B6C4-4BAC-8F23-872D1B78C786}" srcOrd="1" destOrd="0" presId="urn:microsoft.com/office/officeart/2005/8/layout/list1"/>
    <dgm:cxn modelId="{AE447426-ADF1-42EC-B502-C2C667A9ABD7}" srcId="{16149CEE-C69C-47DB-AAA9-9B9163566C3C}" destId="{91D7A14F-E898-401F-B9A7-0AFD0B520242}" srcOrd="1" destOrd="0" parTransId="{88C2D8DC-B830-4C3B-9E34-06B147C7EF14}" sibTransId="{FE232523-57EB-48EF-AB53-A62CBCAAFE18}"/>
    <dgm:cxn modelId="{AE3C163D-5825-4902-817E-653E05EBC92B}" type="presOf" srcId="{DF17A504-A95C-48EF-A944-1BD76104C02A}" destId="{F9E3B5BA-3620-4D26-8B16-60E17F0971F7}" srcOrd="0" destOrd="0" presId="urn:microsoft.com/office/officeart/2005/8/layout/list1"/>
    <dgm:cxn modelId="{359DA944-81E5-4786-81AA-B0C285128944}" srcId="{91D7A14F-E898-401F-B9A7-0AFD0B520242}" destId="{1E2755E6-6A82-4DBF-9A77-C29E396C52EB}" srcOrd="0" destOrd="0" parTransId="{3FB7143A-CD66-4DC0-81F1-5573FB5582C3}" sibTransId="{46F71ABF-4176-498A-A7FB-9EA3549A3FCA}"/>
    <dgm:cxn modelId="{60D6C044-0BF5-4BBA-8D48-E80925FB35AB}" srcId="{16149CEE-C69C-47DB-AAA9-9B9163566C3C}" destId="{338064D2-48FF-4E97-AE0B-40C74151B137}" srcOrd="0" destOrd="0" parTransId="{FBFCED8A-94B3-4764-8891-7E72BFBF9FCC}" sibTransId="{75A9042F-3E1E-42A0-8C12-467E47221E42}"/>
    <dgm:cxn modelId="{7B53D249-209E-48F1-8A13-1A66C1D7ED5B}" type="presOf" srcId="{29AB5184-B0DE-4AFD-BE75-465D1AFCC74D}" destId="{0D7723F7-FBB7-47EB-B9AD-478C4DBCE3E9}" srcOrd="1" destOrd="0" presId="urn:microsoft.com/office/officeart/2005/8/layout/list1"/>
    <dgm:cxn modelId="{277A285C-3802-4AA6-983B-4D3E8FE2C956}" type="presOf" srcId="{D1BC4D6A-F517-474F-AB85-804CC3BEE738}" destId="{20B927A9-010A-4B2A-88E3-FF4D82A9EEB7}" srcOrd="0" destOrd="0" presId="urn:microsoft.com/office/officeart/2005/8/layout/list1"/>
    <dgm:cxn modelId="{1DB4C760-7BDE-4AD2-8A11-DDE76174274B}" type="presOf" srcId="{91D7A14F-E898-401F-B9A7-0AFD0B520242}" destId="{C8FC62BB-1A77-4D92-BEEF-0C8E97438A1E}" srcOrd="0" destOrd="0" presId="urn:microsoft.com/office/officeart/2005/8/layout/list1"/>
    <dgm:cxn modelId="{9F1CC663-467D-44C1-B80D-723F9846D852}" type="presOf" srcId="{1E2755E6-6A82-4DBF-9A77-C29E396C52EB}" destId="{C59D84B3-011F-434C-9B06-2F7A6A4E62CF}" srcOrd="0" destOrd="0" presId="urn:microsoft.com/office/officeart/2005/8/layout/list1"/>
    <dgm:cxn modelId="{6BEA136C-80CA-404E-9280-218708CD533D}" srcId="{338064D2-48FF-4E97-AE0B-40C74151B137}" destId="{DF17A504-A95C-48EF-A944-1BD76104C02A}" srcOrd="0" destOrd="0" parTransId="{A94DA427-953D-41D3-A2C2-94379AB6CA08}" sibTransId="{5BDBE2F1-6DCD-4B48-BE8F-29211D998054}"/>
    <dgm:cxn modelId="{3E6C806E-7D73-4F29-AE6D-110C89472988}" type="presOf" srcId="{D1BC4D6A-F517-474F-AB85-804CC3BEE738}" destId="{F5046B49-D561-43B3-AB3A-ED456D8D786C}" srcOrd="1" destOrd="0" presId="urn:microsoft.com/office/officeart/2005/8/layout/list1"/>
    <dgm:cxn modelId="{595BD378-78A2-4104-850C-1F5090FFA29A}" srcId="{16149CEE-C69C-47DB-AAA9-9B9163566C3C}" destId="{DD7E968B-73DC-46B2-959E-95D456668366}" srcOrd="3" destOrd="0" parTransId="{95B04780-DAD5-4D51-8C70-075AB8226334}" sibTransId="{315C8E29-5AF2-4C52-9175-BF283FC6E3BE}"/>
    <dgm:cxn modelId="{2BEF8380-38C5-40A2-BF3C-7039733A5E4D}" srcId="{D1BC4D6A-F517-474F-AB85-804CC3BEE738}" destId="{4028D1ED-F65F-42A4-8B91-C9FAA087630E}" srcOrd="0" destOrd="0" parTransId="{6A92201B-5C58-4239-B247-F81197169971}" sibTransId="{04C65A63-8BD5-4610-A0D9-A109EBF333FD}"/>
    <dgm:cxn modelId="{FC03D880-4A54-409E-B4CF-0D1761DDB44D}" type="presOf" srcId="{91D7A14F-E898-401F-B9A7-0AFD0B520242}" destId="{B9E23788-F8BB-44F3-9EB2-493145A2D34E}" srcOrd="1" destOrd="0" presId="urn:microsoft.com/office/officeart/2005/8/layout/list1"/>
    <dgm:cxn modelId="{F61ED585-B36D-494E-9E66-F4A09AD088DC}" type="presOf" srcId="{16149CEE-C69C-47DB-AAA9-9B9163566C3C}" destId="{30F516C1-3F6D-44E1-A3E4-222E393BC841}" srcOrd="0" destOrd="0" presId="urn:microsoft.com/office/officeart/2005/8/layout/list1"/>
    <dgm:cxn modelId="{0F27708A-E5B6-49F7-B770-90B984A65D67}" type="presOf" srcId="{3B86F607-DC29-470C-A6A1-177D7007C6CE}" destId="{D4A41C11-8D5C-413D-9696-87E8D070D876}" srcOrd="0" destOrd="0" presId="urn:microsoft.com/office/officeart/2005/8/layout/list1"/>
    <dgm:cxn modelId="{24758893-88E7-45C8-9A9D-50082E389BD5}" srcId="{29AB5184-B0DE-4AFD-BE75-465D1AFCC74D}" destId="{2F76A60A-E846-4CF4-8DA2-12DB8E01BDBA}" srcOrd="0" destOrd="0" parTransId="{69D967EF-AF8E-4622-B7D7-513C84C5C974}" sibTransId="{BB603595-6989-4981-8D4E-6718F43F6FEE}"/>
    <dgm:cxn modelId="{F1DBE094-B532-4B56-8E8E-ED604725782E}" srcId="{16149CEE-C69C-47DB-AAA9-9B9163566C3C}" destId="{29AB5184-B0DE-4AFD-BE75-465D1AFCC74D}" srcOrd="2" destOrd="0" parTransId="{6C7BCADE-E7D3-43FF-8B7B-9613BCE60413}" sibTransId="{371BC711-B77A-44DD-83FF-EBA430DC3B40}"/>
    <dgm:cxn modelId="{E9322296-22D4-42B3-86E0-83A8E1055BEA}" type="presOf" srcId="{DD7E968B-73DC-46B2-959E-95D456668366}" destId="{536C9E90-E33F-4EE7-9072-182349D2C2B3}" srcOrd="0" destOrd="0" presId="urn:microsoft.com/office/officeart/2005/8/layout/list1"/>
    <dgm:cxn modelId="{6C5137A0-2C87-4910-B377-5F18DBF56036}" type="presOf" srcId="{338064D2-48FF-4E97-AE0B-40C74151B137}" destId="{03071426-D0FF-486D-8913-8ABF5887CC62}" srcOrd="0" destOrd="0" presId="urn:microsoft.com/office/officeart/2005/8/layout/list1"/>
    <dgm:cxn modelId="{DB9C3BD9-F08B-4FCE-8A71-8FCAA105895F}" srcId="{DD7E968B-73DC-46B2-959E-95D456668366}" destId="{3B86F607-DC29-470C-A6A1-177D7007C6CE}" srcOrd="0" destOrd="0" parTransId="{F2910A92-4220-4355-A9CE-4766F1E35480}" sibTransId="{D8D7404D-0773-4132-AC27-AC8848846072}"/>
    <dgm:cxn modelId="{EF46C4E9-2E46-4658-9F18-A996DCD06FE3}" type="presOf" srcId="{2F76A60A-E846-4CF4-8DA2-12DB8E01BDBA}" destId="{D30A65D7-F005-482B-A841-740B61D1C56E}" srcOrd="0" destOrd="0" presId="urn:microsoft.com/office/officeart/2005/8/layout/list1"/>
    <dgm:cxn modelId="{D09EC3F2-E09D-4BA7-9AD0-FB202B086A4E}" type="presOf" srcId="{338064D2-48FF-4E97-AE0B-40C74151B137}" destId="{34157993-1198-435A-8533-399C68E54CD7}" srcOrd="1" destOrd="0" presId="urn:microsoft.com/office/officeart/2005/8/layout/list1"/>
    <dgm:cxn modelId="{B14C2BFF-582F-4B72-8A75-E6F69B88A9E8}" srcId="{16149CEE-C69C-47DB-AAA9-9B9163566C3C}" destId="{D1BC4D6A-F517-474F-AB85-804CC3BEE738}" srcOrd="4" destOrd="0" parTransId="{DF51AB29-2166-4883-8658-88757C68C6AC}" sibTransId="{55EE0F2A-DFC9-415C-9FD4-6CB38DD006AA}"/>
    <dgm:cxn modelId="{DA3850E5-929C-4666-80F4-A99F8532E59D}" type="presParOf" srcId="{30F516C1-3F6D-44E1-A3E4-222E393BC841}" destId="{001EDC09-EC71-450F-B9CC-793D283A19B2}" srcOrd="0" destOrd="0" presId="urn:microsoft.com/office/officeart/2005/8/layout/list1"/>
    <dgm:cxn modelId="{643E4D99-8793-4801-BD71-9C2A345133F0}" type="presParOf" srcId="{001EDC09-EC71-450F-B9CC-793D283A19B2}" destId="{03071426-D0FF-486D-8913-8ABF5887CC62}" srcOrd="0" destOrd="0" presId="urn:microsoft.com/office/officeart/2005/8/layout/list1"/>
    <dgm:cxn modelId="{9B86886E-0D12-41A5-A7DA-5B99989206E7}" type="presParOf" srcId="{001EDC09-EC71-450F-B9CC-793D283A19B2}" destId="{34157993-1198-435A-8533-399C68E54CD7}" srcOrd="1" destOrd="0" presId="urn:microsoft.com/office/officeart/2005/8/layout/list1"/>
    <dgm:cxn modelId="{1E2D8666-DBD2-4744-B7CA-8DDDD4F4E045}" type="presParOf" srcId="{30F516C1-3F6D-44E1-A3E4-222E393BC841}" destId="{D356072D-1E66-4D2A-91CB-E18A49973625}" srcOrd="1" destOrd="0" presId="urn:microsoft.com/office/officeart/2005/8/layout/list1"/>
    <dgm:cxn modelId="{43A6EFA1-296A-474B-88BB-AC294C5B7E31}" type="presParOf" srcId="{30F516C1-3F6D-44E1-A3E4-222E393BC841}" destId="{F9E3B5BA-3620-4D26-8B16-60E17F0971F7}" srcOrd="2" destOrd="0" presId="urn:microsoft.com/office/officeart/2005/8/layout/list1"/>
    <dgm:cxn modelId="{577003E5-52EC-46FB-938B-A18E7E9DEF13}" type="presParOf" srcId="{30F516C1-3F6D-44E1-A3E4-222E393BC841}" destId="{CB49A351-CDF5-47C7-A1D2-4804F271D0DD}" srcOrd="3" destOrd="0" presId="urn:microsoft.com/office/officeart/2005/8/layout/list1"/>
    <dgm:cxn modelId="{4C6A2302-3893-4C1C-B9A9-2FE6A7DC0CB5}" type="presParOf" srcId="{30F516C1-3F6D-44E1-A3E4-222E393BC841}" destId="{53A84B26-512D-4DE5-999C-A11E3083D6AC}" srcOrd="4" destOrd="0" presId="urn:microsoft.com/office/officeart/2005/8/layout/list1"/>
    <dgm:cxn modelId="{CAD58703-F052-4DEB-AAF5-F1F8E581D2B6}" type="presParOf" srcId="{53A84B26-512D-4DE5-999C-A11E3083D6AC}" destId="{C8FC62BB-1A77-4D92-BEEF-0C8E97438A1E}" srcOrd="0" destOrd="0" presId="urn:microsoft.com/office/officeart/2005/8/layout/list1"/>
    <dgm:cxn modelId="{CC53FA77-D039-4067-A606-F3973C7D8B5A}" type="presParOf" srcId="{53A84B26-512D-4DE5-999C-A11E3083D6AC}" destId="{B9E23788-F8BB-44F3-9EB2-493145A2D34E}" srcOrd="1" destOrd="0" presId="urn:microsoft.com/office/officeart/2005/8/layout/list1"/>
    <dgm:cxn modelId="{E33FBAEB-F278-4EDF-8D32-FF410A1B643E}" type="presParOf" srcId="{30F516C1-3F6D-44E1-A3E4-222E393BC841}" destId="{501038ED-B58C-46F5-A4A9-E177CD403154}" srcOrd="5" destOrd="0" presId="urn:microsoft.com/office/officeart/2005/8/layout/list1"/>
    <dgm:cxn modelId="{44C83A4D-4ECB-4D9E-B7DA-54DA1F09DA76}" type="presParOf" srcId="{30F516C1-3F6D-44E1-A3E4-222E393BC841}" destId="{C59D84B3-011F-434C-9B06-2F7A6A4E62CF}" srcOrd="6" destOrd="0" presId="urn:microsoft.com/office/officeart/2005/8/layout/list1"/>
    <dgm:cxn modelId="{FC43D330-5E0E-4F46-BAC1-97376F7EF1C7}" type="presParOf" srcId="{30F516C1-3F6D-44E1-A3E4-222E393BC841}" destId="{B38C5DB2-463E-4F9A-9EEC-A7F678B8DA3B}" srcOrd="7" destOrd="0" presId="urn:microsoft.com/office/officeart/2005/8/layout/list1"/>
    <dgm:cxn modelId="{49B6B45E-E6B3-4148-A044-2AE8E9A1CFC9}" type="presParOf" srcId="{30F516C1-3F6D-44E1-A3E4-222E393BC841}" destId="{4189B351-30E8-48EB-A054-B262F07A2D0A}" srcOrd="8" destOrd="0" presId="urn:microsoft.com/office/officeart/2005/8/layout/list1"/>
    <dgm:cxn modelId="{52400A86-4206-47B6-A7BF-DCD345E2C133}" type="presParOf" srcId="{4189B351-30E8-48EB-A054-B262F07A2D0A}" destId="{335DBFD7-6882-4A4A-AB95-A4298DC0CD4E}" srcOrd="0" destOrd="0" presId="urn:microsoft.com/office/officeart/2005/8/layout/list1"/>
    <dgm:cxn modelId="{7687A0AC-E209-4579-95A4-CA3F17A85CA6}" type="presParOf" srcId="{4189B351-30E8-48EB-A054-B262F07A2D0A}" destId="{0D7723F7-FBB7-47EB-B9AD-478C4DBCE3E9}" srcOrd="1" destOrd="0" presId="urn:microsoft.com/office/officeart/2005/8/layout/list1"/>
    <dgm:cxn modelId="{381C1330-8313-4E4B-9255-86EF9020CCF7}" type="presParOf" srcId="{30F516C1-3F6D-44E1-A3E4-222E393BC841}" destId="{D864CA53-31BB-4354-869B-EE1BF4AE2332}" srcOrd="9" destOrd="0" presId="urn:microsoft.com/office/officeart/2005/8/layout/list1"/>
    <dgm:cxn modelId="{A8FD8446-0E78-4E9D-AADD-3D9439A6A798}" type="presParOf" srcId="{30F516C1-3F6D-44E1-A3E4-222E393BC841}" destId="{D30A65D7-F005-482B-A841-740B61D1C56E}" srcOrd="10" destOrd="0" presId="urn:microsoft.com/office/officeart/2005/8/layout/list1"/>
    <dgm:cxn modelId="{93D3AD93-D786-4B96-8C75-57C033D1BB54}" type="presParOf" srcId="{30F516C1-3F6D-44E1-A3E4-222E393BC841}" destId="{6855E95B-994E-439F-9698-E8A396A4FC79}" srcOrd="11" destOrd="0" presId="urn:microsoft.com/office/officeart/2005/8/layout/list1"/>
    <dgm:cxn modelId="{6FA1400B-0AF4-4F7E-9A2C-EB590EA0CDCC}" type="presParOf" srcId="{30F516C1-3F6D-44E1-A3E4-222E393BC841}" destId="{8A1022B1-481D-4E5E-80AE-E391588A550F}" srcOrd="12" destOrd="0" presId="urn:microsoft.com/office/officeart/2005/8/layout/list1"/>
    <dgm:cxn modelId="{5899C389-59DE-4348-BB8A-E69D6564A601}" type="presParOf" srcId="{8A1022B1-481D-4E5E-80AE-E391588A550F}" destId="{536C9E90-E33F-4EE7-9072-182349D2C2B3}" srcOrd="0" destOrd="0" presId="urn:microsoft.com/office/officeart/2005/8/layout/list1"/>
    <dgm:cxn modelId="{32007665-89CA-45BA-B114-BC37FAD9CA22}" type="presParOf" srcId="{8A1022B1-481D-4E5E-80AE-E391588A550F}" destId="{93F2311F-B6C4-4BAC-8F23-872D1B78C786}" srcOrd="1" destOrd="0" presId="urn:microsoft.com/office/officeart/2005/8/layout/list1"/>
    <dgm:cxn modelId="{CCF4BE3D-E1F1-4FB0-8FE9-9EA53BB8871F}" type="presParOf" srcId="{30F516C1-3F6D-44E1-A3E4-222E393BC841}" destId="{E722A6FE-4D19-4646-A307-C4D6744F22C5}" srcOrd="13" destOrd="0" presId="urn:microsoft.com/office/officeart/2005/8/layout/list1"/>
    <dgm:cxn modelId="{BCF38DAE-99D0-403E-B9DD-AC0B65C4F5D2}" type="presParOf" srcId="{30F516C1-3F6D-44E1-A3E4-222E393BC841}" destId="{D4A41C11-8D5C-413D-9696-87E8D070D876}" srcOrd="14" destOrd="0" presId="urn:microsoft.com/office/officeart/2005/8/layout/list1"/>
    <dgm:cxn modelId="{E76C8E7C-4ACB-4DBA-BDCF-9AFD2313A087}" type="presParOf" srcId="{30F516C1-3F6D-44E1-A3E4-222E393BC841}" destId="{640176BF-84EB-4092-B696-D4AB58CE48B0}" srcOrd="15" destOrd="0" presId="urn:microsoft.com/office/officeart/2005/8/layout/list1"/>
    <dgm:cxn modelId="{01578C51-65CB-4556-A99C-11BD93312DAA}" type="presParOf" srcId="{30F516C1-3F6D-44E1-A3E4-222E393BC841}" destId="{6C2171AC-C5F3-4B29-AD0A-FBC7B276BD45}" srcOrd="16" destOrd="0" presId="urn:microsoft.com/office/officeart/2005/8/layout/list1"/>
    <dgm:cxn modelId="{1D600120-B21D-46CF-B5CA-387971AB340B}" type="presParOf" srcId="{6C2171AC-C5F3-4B29-AD0A-FBC7B276BD45}" destId="{20B927A9-010A-4B2A-88E3-FF4D82A9EEB7}" srcOrd="0" destOrd="0" presId="urn:microsoft.com/office/officeart/2005/8/layout/list1"/>
    <dgm:cxn modelId="{B685E119-B5D1-47B7-A58B-70377762850F}" type="presParOf" srcId="{6C2171AC-C5F3-4B29-AD0A-FBC7B276BD45}" destId="{F5046B49-D561-43B3-AB3A-ED456D8D786C}" srcOrd="1" destOrd="0" presId="urn:microsoft.com/office/officeart/2005/8/layout/list1"/>
    <dgm:cxn modelId="{E938F6E6-EDEB-4EE9-AE51-7E6C44058267}" type="presParOf" srcId="{30F516C1-3F6D-44E1-A3E4-222E393BC841}" destId="{2C8C8E25-0004-4C0B-8798-AAF42D859678}" srcOrd="17" destOrd="0" presId="urn:microsoft.com/office/officeart/2005/8/layout/list1"/>
    <dgm:cxn modelId="{B666EBEC-C534-49A9-8BF0-427EA0834787}" type="presParOf" srcId="{30F516C1-3F6D-44E1-A3E4-222E393BC841}" destId="{97D43AFC-E697-4E33-AEEA-85C6F75AABDB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E3B5BA-3620-4D26-8B16-60E17F0971F7}">
      <dsp:nvSpPr>
        <dsp:cNvPr id="0" name=""/>
        <dsp:cNvSpPr/>
      </dsp:nvSpPr>
      <dsp:spPr>
        <a:xfrm>
          <a:off x="0" y="217850"/>
          <a:ext cx="5780474" cy="6583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8629" tIns="229108" rIns="448629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200" b="0" i="0" kern="1200" dirty="0"/>
            <a:t>At the heart of quantitative forecasting lies </a:t>
          </a:r>
          <a:r>
            <a:rPr lang="en-US" sz="1200" b="1" i="0" kern="1200" dirty="0"/>
            <a:t>time series analysis</a:t>
          </a:r>
          <a:r>
            <a:rPr lang="en-US" sz="1200" b="0" i="0" kern="1200" dirty="0"/>
            <a:t>, which examines data points collected or recorded at specific time intervals.</a:t>
          </a:r>
          <a:endParaRPr lang="en-IN" sz="1200" kern="1200" dirty="0"/>
        </a:p>
      </dsp:txBody>
      <dsp:txXfrm>
        <a:off x="0" y="217850"/>
        <a:ext cx="5780474" cy="658349"/>
      </dsp:txXfrm>
    </dsp:sp>
    <dsp:sp modelId="{34157993-1198-435A-8533-399C68E54CD7}">
      <dsp:nvSpPr>
        <dsp:cNvPr id="0" name=""/>
        <dsp:cNvSpPr/>
      </dsp:nvSpPr>
      <dsp:spPr>
        <a:xfrm>
          <a:off x="289023" y="55490"/>
          <a:ext cx="4046331" cy="324720"/>
        </a:xfrm>
        <a:prstGeom prst="roundRect">
          <a:avLst/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152942" tIns="0" rIns="152942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/>
            <a:t>Time Series Analysis is Fundamental</a:t>
          </a:r>
          <a:endParaRPr lang="en-IN" sz="1100" kern="1200" dirty="0"/>
        </a:p>
      </dsp:txBody>
      <dsp:txXfrm>
        <a:off x="304875" y="71342"/>
        <a:ext cx="4014627" cy="293016"/>
      </dsp:txXfrm>
    </dsp:sp>
    <dsp:sp modelId="{C59D84B3-011F-434C-9B06-2F7A6A4E62CF}">
      <dsp:nvSpPr>
        <dsp:cNvPr id="0" name=""/>
        <dsp:cNvSpPr/>
      </dsp:nvSpPr>
      <dsp:spPr>
        <a:xfrm>
          <a:off x="0" y="1097960"/>
          <a:ext cx="5780474" cy="6583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8629" tIns="229108" rIns="448629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200" b="0" i="0" kern="1200" dirty="0"/>
            <a:t>Accurate forecasting techniques leverage historical data patterns, enhancing the ability to predict future trends effectively.</a:t>
          </a:r>
          <a:endParaRPr lang="en-IN" sz="1200" kern="1200" dirty="0"/>
        </a:p>
      </dsp:txBody>
      <dsp:txXfrm>
        <a:off x="0" y="1097960"/>
        <a:ext cx="5780474" cy="658349"/>
      </dsp:txXfrm>
    </dsp:sp>
    <dsp:sp modelId="{B9E23788-F8BB-44F3-9EB2-493145A2D34E}">
      <dsp:nvSpPr>
        <dsp:cNvPr id="0" name=""/>
        <dsp:cNvSpPr/>
      </dsp:nvSpPr>
      <dsp:spPr>
        <a:xfrm>
          <a:off x="289023" y="935600"/>
          <a:ext cx="4046331" cy="324720"/>
        </a:xfrm>
        <a:prstGeom prst="roundRect">
          <a:avLst/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152942" tIns="0" rIns="152942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/>
            <a:t>Forecasting Techniques Rely on Data</a:t>
          </a:r>
          <a:endParaRPr lang="en-IN" sz="1100" kern="1200" dirty="0"/>
        </a:p>
      </dsp:txBody>
      <dsp:txXfrm>
        <a:off x="304875" y="951452"/>
        <a:ext cx="4014627" cy="293016"/>
      </dsp:txXfrm>
    </dsp:sp>
    <dsp:sp modelId="{D30A65D7-F005-482B-A841-740B61D1C56E}">
      <dsp:nvSpPr>
        <dsp:cNvPr id="0" name=""/>
        <dsp:cNvSpPr/>
      </dsp:nvSpPr>
      <dsp:spPr>
        <a:xfrm>
          <a:off x="0" y="1978070"/>
          <a:ext cx="5780474" cy="6583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8629" tIns="229108" rIns="448629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200" b="0" i="0" kern="1200" dirty="0"/>
            <a:t>Various </a:t>
          </a:r>
          <a:r>
            <a:rPr lang="en-US" sz="1200" b="1" i="0" kern="1200" dirty="0"/>
            <a:t>quantitative forecasting methods</a:t>
          </a:r>
          <a:r>
            <a:rPr lang="en-US" sz="1200" b="0" i="0" kern="1200" dirty="0"/>
            <a:t> utilize statistical techniques to analyze past data and generate future predictions.</a:t>
          </a:r>
          <a:endParaRPr lang="en-IN" sz="1200" kern="1200" dirty="0"/>
        </a:p>
      </dsp:txBody>
      <dsp:txXfrm>
        <a:off x="0" y="1978070"/>
        <a:ext cx="5780474" cy="658349"/>
      </dsp:txXfrm>
    </dsp:sp>
    <dsp:sp modelId="{0D7723F7-FBB7-47EB-B9AD-478C4DBCE3E9}">
      <dsp:nvSpPr>
        <dsp:cNvPr id="0" name=""/>
        <dsp:cNvSpPr/>
      </dsp:nvSpPr>
      <dsp:spPr>
        <a:xfrm>
          <a:off x="289023" y="1815710"/>
          <a:ext cx="4046331" cy="324720"/>
        </a:xfrm>
        <a:prstGeom prst="roundRect">
          <a:avLst/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152942" tIns="0" rIns="152942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i="0" kern="1200" dirty="0"/>
            <a:t>Quantitative Forecasting Methods</a:t>
          </a:r>
          <a:endParaRPr lang="en-IN" sz="1100" kern="1200" dirty="0"/>
        </a:p>
      </dsp:txBody>
      <dsp:txXfrm>
        <a:off x="304875" y="1831562"/>
        <a:ext cx="4014627" cy="293016"/>
      </dsp:txXfrm>
    </dsp:sp>
    <dsp:sp modelId="{D4A41C11-8D5C-413D-9696-87E8D070D876}">
      <dsp:nvSpPr>
        <dsp:cNvPr id="0" name=""/>
        <dsp:cNvSpPr/>
      </dsp:nvSpPr>
      <dsp:spPr>
        <a:xfrm>
          <a:off x="0" y="2858180"/>
          <a:ext cx="5780474" cy="6583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8629" tIns="229108" rIns="448629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200" b="0" i="0" kern="1200" dirty="0"/>
            <a:t>The quality of data in time series analysis directly impacts the reliability of forecasts, emphasizing the need for accurate data collection.</a:t>
          </a:r>
          <a:endParaRPr lang="en-IN" sz="1200" kern="1200" dirty="0"/>
        </a:p>
      </dsp:txBody>
      <dsp:txXfrm>
        <a:off x="0" y="2858180"/>
        <a:ext cx="5780474" cy="658349"/>
      </dsp:txXfrm>
    </dsp:sp>
    <dsp:sp modelId="{93F2311F-B6C4-4BAC-8F23-872D1B78C786}">
      <dsp:nvSpPr>
        <dsp:cNvPr id="0" name=""/>
        <dsp:cNvSpPr/>
      </dsp:nvSpPr>
      <dsp:spPr>
        <a:xfrm>
          <a:off x="289023" y="2695820"/>
          <a:ext cx="4046331" cy="324720"/>
        </a:xfrm>
        <a:prstGeom prst="roundRect">
          <a:avLst/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152942" tIns="0" rIns="152942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i="0" kern="1200" dirty="0"/>
            <a:t>Importance of Data Quality</a:t>
          </a:r>
          <a:endParaRPr lang="en-IN" sz="1100" kern="1200" dirty="0"/>
        </a:p>
      </dsp:txBody>
      <dsp:txXfrm>
        <a:off x="304875" y="2711672"/>
        <a:ext cx="4014627" cy="293016"/>
      </dsp:txXfrm>
    </dsp:sp>
    <dsp:sp modelId="{97D43AFC-E697-4E33-AEEA-85C6F75AABDB}">
      <dsp:nvSpPr>
        <dsp:cNvPr id="0" name=""/>
        <dsp:cNvSpPr/>
      </dsp:nvSpPr>
      <dsp:spPr>
        <a:xfrm>
          <a:off x="0" y="3738290"/>
          <a:ext cx="5780474" cy="6583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8629" tIns="229108" rIns="448629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200" b="0" i="0" kern="1200" dirty="0"/>
            <a:t>Time series analysis is crucial across various industries, including finance, retail, and manufacturing, for effective demand forecasting.</a:t>
          </a:r>
          <a:endParaRPr lang="en-IN" sz="1200" kern="1200" dirty="0"/>
        </a:p>
      </dsp:txBody>
      <dsp:txXfrm>
        <a:off x="0" y="3738290"/>
        <a:ext cx="5780474" cy="658349"/>
      </dsp:txXfrm>
    </dsp:sp>
    <dsp:sp modelId="{F5046B49-D561-43B3-AB3A-ED456D8D786C}">
      <dsp:nvSpPr>
        <dsp:cNvPr id="0" name=""/>
        <dsp:cNvSpPr/>
      </dsp:nvSpPr>
      <dsp:spPr>
        <a:xfrm>
          <a:off x="289023" y="3575930"/>
          <a:ext cx="4046331" cy="324720"/>
        </a:xfrm>
        <a:prstGeom prst="roundRect">
          <a:avLst/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152942" tIns="0" rIns="152942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i="0" kern="1200" dirty="0"/>
            <a:t>Applications Across Industries</a:t>
          </a:r>
          <a:endParaRPr lang="en-IN" sz="1100" kern="1200" dirty="0"/>
        </a:p>
      </dsp:txBody>
      <dsp:txXfrm>
        <a:off x="304875" y="3591782"/>
        <a:ext cx="4014627" cy="2930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4A172-1D22-4A58-AD9D-EFD332CF9590}" type="datetimeFigureOut">
              <a:rPr lang="en-IN" smtClean="0"/>
              <a:t>06/08/25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FE36D8-A8D2-4881-A8C7-66680C64F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019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FE36D8-A8D2-4881-A8C7-66680C64F3C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418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79F18-9997-7835-D8AD-38283BC94F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F9B08A-EF34-DB59-F491-6C992E493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C93F9-9211-ED51-82D5-A5489C296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46977-A381-4ACC-ADD5-822C17AF846D}" type="datetime1">
              <a:rPr lang="en-IN" smtClean="0"/>
              <a:t>06/08/25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8466B-8BCA-9C65-2253-B0C9ABD01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20AC2-BA0E-C90E-C5FE-36022CDB1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678CB-D366-40A3-8F07-16ECCF296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911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5805F-896F-51C9-5F41-8B121E547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7A953-E8E8-6743-AEF9-8BF529152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49064-4536-AE5F-1B67-F79A630B0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7797-E6EB-4E8E-99D8-1B20B700D3B1}" type="datetime1">
              <a:rPr lang="en-IN" smtClean="0"/>
              <a:t>06/08/25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A1E30-D834-2B4D-E065-F0D5CE42D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Confidential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AC2EE-7A92-93D1-C141-4934DF71D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678CB-D366-40A3-8F07-16ECCF296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383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3EC0-16FF-E77A-D1DB-93684A7F0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FAAE8-57AB-EF27-8ABC-6DF26832A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926FB-9448-C0FA-FC06-BE72FAD6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29CF1-DA20-43EF-99F1-99F074D7ABFD}" type="datetime1">
              <a:rPr lang="en-IN" smtClean="0"/>
              <a:t>06/08/25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1FB93-4C74-8CEF-AB3E-92E8BFFF0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F0BF3-2732-327D-DB6E-A01E0787A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678CB-D366-40A3-8F07-16ECCF296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203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FFFFD-1396-6D15-CC2E-58208A446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75BD2-3705-9CF3-91B6-679DD18BA1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A9F29-11FC-9D59-CD69-2929524AC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524592-A898-CE72-9DDC-675BF287C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C336-176E-46D8-802D-E17D18FA15A4}" type="datetime1">
              <a:rPr lang="en-IN" smtClean="0"/>
              <a:t>06/08/25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4866C-EC8E-725B-2CB4-DFD7934A5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A17F-8E21-A28B-E4EE-E27EF097F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678CB-D366-40A3-8F07-16ECCF296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771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8EC8-7393-7D51-A693-8D017C311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F1F01-EB99-A7FD-22E2-689FA5148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5765A-4B57-1225-D627-4FCA8994F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2AF79E-D4AA-3FA3-5F12-DDD837B95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33BF71-D1E3-9643-B2A9-8CFECE05F4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BE1A68-100F-A2F2-0135-94617B4A2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301AC-D2E0-4E53-A426-6C6CB60CB399}" type="datetime1">
              <a:rPr lang="en-IN" smtClean="0"/>
              <a:t>06/08/25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EB23B1-C465-D960-DC8E-D9645313A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CD3340-3B2E-E35E-E18E-E46AD1C91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678CB-D366-40A3-8F07-16ECCF296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710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96D99-79AB-69D7-90E4-BDFBF9F63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7BF45D-9353-750D-A034-2D5E7492C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3E4E3-EEA2-442B-9EA5-9E76C4F80684}" type="datetime1">
              <a:rPr lang="en-IN" smtClean="0"/>
              <a:t>06/08/25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597B56-9108-1A7F-A3EE-D42C54AEF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647DC-EA55-0A5D-0C51-1DFB23C76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678CB-D366-40A3-8F07-16ECCF296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243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5E08BC-5D11-B73D-251F-B13EA5B4F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FEAF-870E-4B4E-96F2-66FC014E9375}" type="datetime1">
              <a:rPr lang="en-IN" smtClean="0"/>
              <a:t>06/08/25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4ADE9B-F511-97FF-42A3-FF12BD8E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5D9F3-173F-73BF-724E-B82901AB5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678CB-D366-40A3-8F07-16ECCF296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076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C52F4-BE08-07DD-4A34-4B34DA170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7F126-1C77-527E-DE02-AD348F921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E09D5-7BCC-E7A5-9EAB-6F62D92E4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747F5-CCDA-EEAE-19B1-7EB25BB75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7323E-8817-4539-B51B-CF208EFBD5A8}" type="datetime1">
              <a:rPr lang="en-IN" smtClean="0"/>
              <a:t>06/08/25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17604-EEC8-8836-B3E0-30414B60F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6DBD8-AE8A-990A-A9A3-A29F304DE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678CB-D366-40A3-8F07-16ECCF296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170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5444-5D02-3BC6-F795-4FF8E7DAA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5AA824-2F6C-7E26-925A-BC9C7534D5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732ED-C1F6-1310-D24A-9FE802134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1BFEB8-60CA-4288-5B95-6532B7328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29F93-FDB6-4BAB-8BD9-6FE7B3D9D191}" type="datetime1">
              <a:rPr lang="en-IN" smtClean="0"/>
              <a:t>06/08/25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F2DCC-A49C-F827-6E75-6ADE1438A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465BDE-CB59-88F5-8D5A-863B89D15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678CB-D366-40A3-8F07-16ECCF296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405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7571A-27E6-CDB6-9D85-559622C0D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476EA2-1FB9-359B-07DA-879B34842F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E19F3-726F-7AB4-12E9-36B950B5E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4FFE5-4E41-4055-834C-147A9FBFC748}" type="datetime1">
              <a:rPr lang="en-IN" smtClean="0"/>
              <a:t>06/08/25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EE987-B8F6-AFA6-EB09-766F37FAB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B9E46-059C-0903-702F-D76496448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678CB-D366-40A3-8F07-16ECCF296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110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C98DDD-913E-5736-C23C-9B901FBAB3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58DFA3-D7CB-CFB8-5FB4-D27E339BE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DC4A2-78CB-420A-818E-5C5D38886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F9ED-F473-43E0-9A9C-A3407082FFA3}" type="datetime1">
              <a:rPr lang="en-IN" smtClean="0"/>
              <a:t>06/08/25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5E344-AA49-CF2E-9998-4E409C724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640A3-1C5B-93A6-82E1-F2051D4E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678CB-D366-40A3-8F07-16ECCF296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271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10807E-57BF-DE2B-D8E9-93C3E7475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0A610-685C-5909-15E5-8251A4078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35B46-346F-DF4E-8928-E9CBD3977B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11A89-4C1C-4AF5-9AB2-6DFF8B033C8A}" type="datetime1">
              <a:rPr lang="en-IN" smtClean="0"/>
              <a:t>06/08/25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3C6F6-4A66-FC5B-BBCD-750CA9BF13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Confidential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D1B25-A627-A9AA-13F6-C38C955427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678CB-D366-40A3-8F07-16ECCF296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6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7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jpg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21CFC5-0E1E-2876-5305-6C76521D1C33}"/>
              </a:ext>
            </a:extLst>
          </p:cNvPr>
          <p:cNvSpPr/>
          <p:nvPr/>
        </p:nvSpPr>
        <p:spPr>
          <a:xfrm>
            <a:off x="1695634" y="-1"/>
            <a:ext cx="10496366" cy="5433134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E43A63-7B44-C016-E4DB-749E9B1D1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6719" y="2716566"/>
            <a:ext cx="5551502" cy="3553303"/>
          </a:xfrm>
        </p:spPr>
        <p:txBody>
          <a:bodyPr>
            <a:normAutofit/>
          </a:bodyPr>
          <a:lstStyle/>
          <a:p>
            <a:pPr algn="just"/>
            <a:r>
              <a:rPr lang="en-US" b="0" i="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/>
                <a:latin typeface="neue-haas-grotesk-text"/>
              </a:rPr>
              <a:t>Explore various demand forecasting models to empower business and data science professionals in selecting the most effective approach tailored to their unique forecasting needs.</a:t>
            </a:r>
          </a:p>
          <a:p>
            <a:pPr algn="just"/>
            <a:endParaRPr lang="en-IN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4247CDA-588D-7C5F-8C72-A0879452E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6964" y="588130"/>
            <a:ext cx="9144000" cy="907137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Demand Forecasting Models: </a:t>
            </a:r>
            <a:r>
              <a:rPr lang="en-IN" sz="32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Comparative Overview</a:t>
            </a:r>
            <a:endParaRPr lang="en-IN" sz="3200" b="1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C41237-AC9C-568B-DD23-3F1C32A5FFD0}"/>
              </a:ext>
            </a:extLst>
          </p:cNvPr>
          <p:cNvSpPr/>
          <p:nvPr/>
        </p:nvSpPr>
        <p:spPr>
          <a:xfrm>
            <a:off x="0" y="5433134"/>
            <a:ext cx="1695634" cy="142486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003">
            <a:schemeClr val="dk2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 descr="Flexing It® Blogs">
            <a:extLst>
              <a:ext uri="{FF2B5EF4-FFF2-40B4-BE49-F238E27FC236}">
                <a16:creationId xmlns:a16="http://schemas.microsoft.com/office/drawing/2014/main" id="{074539D7-2D7F-119F-98BA-130C0E9953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34" r="16010"/>
          <a:stretch/>
        </p:blipFill>
        <p:spPr bwMode="auto">
          <a:xfrm>
            <a:off x="623806" y="2332003"/>
            <a:ext cx="4584232" cy="3937867"/>
          </a:xfrm>
          <a:prstGeom prst="rect">
            <a:avLst/>
          </a:prstGeom>
          <a:noFill/>
          <a:effectLst>
            <a:softEdge rad="12700"/>
          </a:effectLst>
          <a:scene3d>
            <a:camera prst="obliqueTop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F8808F3-627C-BD54-5875-2C44C63C5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4245106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6DB3DA-C5A0-5B21-6AED-23B0DAA445B8}"/>
              </a:ext>
            </a:extLst>
          </p:cNvPr>
          <p:cNvSpPr/>
          <p:nvPr/>
        </p:nvSpPr>
        <p:spPr>
          <a:xfrm>
            <a:off x="0" y="-5058"/>
            <a:ext cx="4500979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D8B7C9-3691-9AAD-B55E-F44584054651}"/>
              </a:ext>
            </a:extLst>
          </p:cNvPr>
          <p:cNvSpPr/>
          <p:nvPr/>
        </p:nvSpPr>
        <p:spPr>
          <a:xfrm>
            <a:off x="110970" y="1585936"/>
            <a:ext cx="4279038" cy="16068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Core Principles of Time Series Analysis in Forecasting </a:t>
            </a:r>
          </a:p>
          <a:p>
            <a:pPr algn="ctr"/>
            <a:endParaRPr lang="en-US" dirty="0">
              <a:solidFill>
                <a:srgbClr val="FFFFFF"/>
              </a:solidFill>
              <a:latin typeface="neue-haas-grotesk-display"/>
            </a:endParaRPr>
          </a:p>
          <a:p>
            <a:pPr algn="ctr"/>
            <a:endParaRPr lang="en-US" dirty="0">
              <a:solidFill>
                <a:srgbClr val="FFFFFF"/>
              </a:solidFill>
              <a:latin typeface="neue-haas-grotesk-display"/>
            </a:endParaRPr>
          </a:p>
          <a:p>
            <a:pPr algn="ctr"/>
            <a:r>
              <a:rPr lang="en-US" sz="2000" b="0" i="0" dirty="0">
                <a:solidFill>
                  <a:srgbClr val="FFFFFF"/>
                </a:solidFill>
                <a:effectLst/>
                <a:latin typeface="neue-haas-grotesk-text"/>
              </a:rPr>
              <a:t>Understanding the importance of time series analysis as the foundation for quantitative forecasting</a:t>
            </a:r>
            <a:endParaRPr lang="en-IN" sz="2000" dirty="0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FB114B68-787F-3A48-ED7B-AF14B380B6B8}"/>
              </a:ext>
            </a:extLst>
          </p:cNvPr>
          <p:cNvSpPr/>
          <p:nvPr/>
        </p:nvSpPr>
        <p:spPr>
          <a:xfrm>
            <a:off x="5367530" y="1095420"/>
            <a:ext cx="175334" cy="168676"/>
          </a:xfrm>
          <a:prstGeom prst="flowChartConnector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IN" sz="1000" dirty="0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7A7D33F2-C922-8E26-2524-FB11F51FE64E}"/>
              </a:ext>
            </a:extLst>
          </p:cNvPr>
          <p:cNvSpPr/>
          <p:nvPr/>
        </p:nvSpPr>
        <p:spPr>
          <a:xfrm>
            <a:off x="5367530" y="1874438"/>
            <a:ext cx="181992" cy="168676"/>
          </a:xfrm>
          <a:prstGeom prst="flowChartConnector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2</a:t>
            </a:r>
            <a:endParaRPr lang="en-IN" sz="1000" dirty="0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D53F1A8E-9F41-DCF0-823B-268B3CD34956}"/>
              </a:ext>
            </a:extLst>
          </p:cNvPr>
          <p:cNvSpPr/>
          <p:nvPr/>
        </p:nvSpPr>
        <p:spPr>
          <a:xfrm>
            <a:off x="5367530" y="2737793"/>
            <a:ext cx="181992" cy="168676"/>
          </a:xfrm>
          <a:prstGeom prst="flowChartConnector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IN" sz="1000" dirty="0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20BF570B-A549-9477-2459-3D01F3F048B5}"/>
              </a:ext>
            </a:extLst>
          </p:cNvPr>
          <p:cNvSpPr/>
          <p:nvPr/>
        </p:nvSpPr>
        <p:spPr>
          <a:xfrm>
            <a:off x="5367530" y="3601148"/>
            <a:ext cx="181992" cy="168677"/>
          </a:xfrm>
          <a:prstGeom prst="flowChartConnector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4</a:t>
            </a:r>
            <a:endParaRPr lang="en-IN" sz="1000" dirty="0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0B737F81-05A2-1F84-7030-1AEAF3185A06}"/>
              </a:ext>
            </a:extLst>
          </p:cNvPr>
          <p:cNvSpPr/>
          <p:nvPr/>
        </p:nvSpPr>
        <p:spPr>
          <a:xfrm>
            <a:off x="5380846" y="4464504"/>
            <a:ext cx="168676" cy="168676"/>
          </a:xfrm>
          <a:prstGeom prst="flowChartConnector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5</a:t>
            </a:r>
            <a:endParaRPr lang="en-IN" sz="10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C954D7A-5148-6B36-ACA3-004B8AED316B}"/>
              </a:ext>
            </a:extLst>
          </p:cNvPr>
          <p:cNvCxnSpPr>
            <a:cxnSpLocks/>
            <a:stCxn id="9" idx="4"/>
            <a:endCxn id="10" idx="0"/>
          </p:cNvCxnSpPr>
          <p:nvPr/>
        </p:nvCxnSpPr>
        <p:spPr>
          <a:xfrm>
            <a:off x="5455197" y="1264096"/>
            <a:ext cx="3329" cy="61034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EE8322-5494-6B1C-A7CD-BE581C2B06D4}"/>
              </a:ext>
            </a:extLst>
          </p:cNvPr>
          <p:cNvCxnSpPr>
            <a:cxnSpLocks/>
            <a:stCxn id="10" idx="4"/>
            <a:endCxn id="11" idx="0"/>
          </p:cNvCxnSpPr>
          <p:nvPr/>
        </p:nvCxnSpPr>
        <p:spPr>
          <a:xfrm>
            <a:off x="5458526" y="2043114"/>
            <a:ext cx="0" cy="694679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FA15F93-39F9-6222-2E62-43B0074F16B5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>
            <a:off x="5458526" y="2906469"/>
            <a:ext cx="0" cy="694679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3C71C47-ACEF-0877-AA45-309D6C953713}"/>
              </a:ext>
            </a:extLst>
          </p:cNvPr>
          <p:cNvCxnSpPr>
            <a:cxnSpLocks/>
            <a:stCxn id="12" idx="4"/>
            <a:endCxn id="13" idx="0"/>
          </p:cNvCxnSpPr>
          <p:nvPr/>
        </p:nvCxnSpPr>
        <p:spPr>
          <a:xfrm>
            <a:off x="5458526" y="3769825"/>
            <a:ext cx="6658" cy="694679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Diagram 24">
            <a:extLst>
              <a:ext uri="{FF2B5EF4-FFF2-40B4-BE49-F238E27FC236}">
                <a16:creationId xmlns:a16="http://schemas.microsoft.com/office/drawing/2014/main" id="{FDC860F0-40FB-A2DA-6D9A-32CE5B2BBD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7314326"/>
              </p:ext>
            </p:extLst>
          </p:nvPr>
        </p:nvGraphicFramePr>
        <p:xfrm>
          <a:off x="5778121" y="822960"/>
          <a:ext cx="5780474" cy="4452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A36449-F3D7-51D3-F36A-0134495E2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5773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D0AF2F2-7B40-1488-1253-0FBCDEBA0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410" y="1988192"/>
            <a:ext cx="2980444" cy="2553894"/>
          </a:xfrm>
          <a:prstGeom prst="rect">
            <a:avLst/>
          </a:prstGeom>
        </p:spPr>
      </p:pic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B0E20CA2-3D78-4FB8-2A8E-C195F7FA1B96}"/>
              </a:ext>
            </a:extLst>
          </p:cNvPr>
          <p:cNvSpPr/>
          <p:nvPr/>
        </p:nvSpPr>
        <p:spPr>
          <a:xfrm>
            <a:off x="0" y="6200775"/>
            <a:ext cx="1990725" cy="657225"/>
          </a:xfrm>
          <a:prstGeom prst="flowChartProcess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485DDE-1B0E-8FB1-5485-5EC152436002}"/>
              </a:ext>
            </a:extLst>
          </p:cNvPr>
          <p:cNvSpPr txBox="1"/>
          <p:nvPr/>
        </p:nvSpPr>
        <p:spPr>
          <a:xfrm>
            <a:off x="433387" y="1529834"/>
            <a:ext cx="33528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dirty="0">
                <a:solidFill>
                  <a:srgbClr val="2A2E6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Understanding the Components of a Time Series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5ED6C3-3F66-A466-8881-F61EE0295681}"/>
              </a:ext>
            </a:extLst>
          </p:cNvPr>
          <p:cNvSpPr txBox="1"/>
          <p:nvPr/>
        </p:nvSpPr>
        <p:spPr>
          <a:xfrm>
            <a:off x="466724" y="3265139"/>
            <a:ext cx="335280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eue-haas-grotesk-text"/>
              </a:rPr>
              <a:t>Exploring the four essential elements: Trend, Seasonality, Cyclical, and Irregular</a:t>
            </a:r>
            <a:endParaRPr lang="en-IN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AA78C0-0FA6-3531-9F20-272E3936B48C}"/>
              </a:ext>
            </a:extLst>
          </p:cNvPr>
          <p:cNvSpPr/>
          <p:nvPr/>
        </p:nvSpPr>
        <p:spPr>
          <a:xfrm>
            <a:off x="4697121" y="594463"/>
            <a:ext cx="2293904" cy="1313895"/>
          </a:xfrm>
          <a:prstGeom prst="rect">
            <a:avLst/>
          </a:prstGeo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i="0" dirty="0">
              <a:solidFill>
                <a:srgbClr val="FFFFFF"/>
              </a:solidFill>
              <a:effectLst/>
              <a:latin typeface="neue-haas-grotesk-text"/>
            </a:endParaRPr>
          </a:p>
          <a:p>
            <a:pPr algn="ctr"/>
            <a:r>
              <a:rPr lang="en-US" sz="12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Trend signifies the long-term progression.</a:t>
            </a:r>
          </a:p>
          <a:p>
            <a:pPr algn="ctr"/>
            <a:endParaRPr lang="en-US" sz="1050" b="0" i="0" dirty="0">
              <a:solidFill>
                <a:srgbClr val="FFFFFF"/>
              </a:solidFill>
              <a:effectLst/>
              <a:latin typeface="neue-haas-grotesk-text"/>
            </a:endParaRPr>
          </a:p>
          <a:p>
            <a:pPr algn="ctr"/>
            <a:r>
              <a:rPr lang="en-US" sz="1100" b="0" i="0" dirty="0">
                <a:solidFill>
                  <a:srgbClr val="FFFFFF"/>
                </a:solidFill>
                <a:effectLst/>
                <a:latin typeface="neue-haas-grotesk-text"/>
              </a:rPr>
              <a:t>It represents the overall direction of the data over time.</a:t>
            </a:r>
          </a:p>
          <a:p>
            <a:pPr algn="ctr"/>
            <a:endParaRPr lang="en-IN" sz="1200" dirty="0"/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D24D130E-E21C-AA3D-7B1B-54E4B62A32B0}"/>
              </a:ext>
            </a:extLst>
          </p:cNvPr>
          <p:cNvSpPr/>
          <p:nvPr/>
        </p:nvSpPr>
        <p:spPr>
          <a:xfrm>
            <a:off x="4242257" y="2565305"/>
            <a:ext cx="2174111" cy="1313895"/>
          </a:xfrm>
          <a:prstGeom prst="flowChartProcess">
            <a:avLst/>
          </a:prstGeo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b="1" i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12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Cyclical variations occur over longer periods.</a:t>
            </a:r>
          </a:p>
          <a:p>
            <a:pPr algn="ctr"/>
            <a:endParaRPr lang="en-IN" sz="900" dirty="0">
              <a:solidFill>
                <a:srgbClr val="FFFFFF"/>
              </a:solidFill>
              <a:latin typeface="neue-haas-grotesk-text"/>
            </a:endParaRPr>
          </a:p>
          <a:p>
            <a:pPr algn="just"/>
            <a:r>
              <a:rPr lang="en-US" sz="1100" b="0" i="0" dirty="0">
                <a:solidFill>
                  <a:srgbClr val="FFFFFF"/>
                </a:solidFill>
                <a:effectLst/>
                <a:latin typeface="neue-haas-grotesk-text"/>
              </a:rPr>
              <a:t>These are fluctuations related to economic cycles.</a:t>
            </a:r>
          </a:p>
          <a:p>
            <a:pPr algn="ctr"/>
            <a:endParaRPr lang="en-IN" sz="900" dirty="0">
              <a:solidFill>
                <a:srgbClr val="FFFFFF"/>
              </a:solidFill>
              <a:latin typeface="neue-haas-grotesk-text"/>
            </a:endParaRPr>
          </a:p>
          <a:p>
            <a:pPr algn="ctr"/>
            <a:endParaRPr lang="en-IN" sz="900" dirty="0"/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BBADF305-38DC-C68B-3098-75612D80B249}"/>
              </a:ext>
            </a:extLst>
          </p:cNvPr>
          <p:cNvSpPr/>
          <p:nvPr/>
        </p:nvSpPr>
        <p:spPr>
          <a:xfrm>
            <a:off x="4503860" y="4652611"/>
            <a:ext cx="2174111" cy="1313895"/>
          </a:xfrm>
          <a:prstGeom prst="flowChartProcess">
            <a:avLst/>
          </a:prstGeo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0" i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Time series analysis aids in forecasting.</a:t>
            </a:r>
          </a:p>
          <a:p>
            <a:pPr algn="ctr"/>
            <a:endParaRPr lang="en-US" sz="1600" b="0" i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100" b="0" i="0" dirty="0">
                <a:solidFill>
                  <a:srgbClr val="FFFFFF"/>
                </a:solidFill>
                <a:effectLst/>
                <a:latin typeface="neue-haas-grotesk-text"/>
              </a:rPr>
              <a:t>Understanding components improves predictive accuracy.</a:t>
            </a:r>
          </a:p>
          <a:p>
            <a:pPr algn="ctr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0395FE41-74BC-7D0C-73A5-94F2CF0AC931}"/>
              </a:ext>
            </a:extLst>
          </p:cNvPr>
          <p:cNvSpPr/>
          <p:nvPr/>
        </p:nvSpPr>
        <p:spPr>
          <a:xfrm>
            <a:off x="9247271" y="4739160"/>
            <a:ext cx="2444318" cy="1313895"/>
          </a:xfrm>
          <a:prstGeom prst="flowChartProcess">
            <a:avLst/>
          </a:prstGeo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i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Components interact to affect outcomes. </a:t>
            </a:r>
          </a:p>
          <a:p>
            <a:pPr algn="ctr"/>
            <a:endParaRPr lang="en-US" sz="1200" dirty="0">
              <a:solidFill>
                <a:srgbClr val="FFFFFF"/>
              </a:solidFill>
              <a:latin typeface="neue-haas-grotesk-text"/>
            </a:endParaRPr>
          </a:p>
          <a:p>
            <a:pPr algn="ctr"/>
            <a:r>
              <a:rPr lang="en-US" sz="1200" b="0" i="0" dirty="0">
                <a:solidFill>
                  <a:srgbClr val="FFFFFF"/>
                </a:solidFill>
                <a:effectLst/>
                <a:latin typeface="neue-haas-grotesk-text"/>
              </a:rPr>
              <a:t>Analyzing interactions enhances understanding of trends.</a:t>
            </a:r>
          </a:p>
          <a:p>
            <a:pPr algn="ctr"/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D0660526-2DC1-0DCD-F1C6-13AAD4B7F49A}"/>
              </a:ext>
            </a:extLst>
          </p:cNvPr>
          <p:cNvSpPr/>
          <p:nvPr/>
        </p:nvSpPr>
        <p:spPr>
          <a:xfrm>
            <a:off x="9578896" y="2573463"/>
            <a:ext cx="2256034" cy="1313895"/>
          </a:xfrm>
          <a:prstGeom prst="flowChartProcess">
            <a:avLst/>
          </a:prstGeo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Irregular components are unpredictable.</a:t>
            </a:r>
          </a:p>
          <a:p>
            <a:pPr algn="ctr"/>
            <a:endParaRPr lang="en-IN" sz="1200" b="1" i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1200" b="1" i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b="0" i="0" dirty="0">
                <a:solidFill>
                  <a:srgbClr val="FFFFFF"/>
                </a:solidFill>
                <a:effectLst/>
                <a:latin typeface="neue-haas-grotesk-text"/>
              </a:rPr>
              <a:t>These are random or unforeseen events affecting data.</a:t>
            </a:r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6507B12D-C2BB-10F1-BECB-53C81182D196}"/>
              </a:ext>
            </a:extLst>
          </p:cNvPr>
          <p:cNvSpPr/>
          <p:nvPr/>
        </p:nvSpPr>
        <p:spPr>
          <a:xfrm>
            <a:off x="9009951" y="583579"/>
            <a:ext cx="2444318" cy="1306076"/>
          </a:xfrm>
          <a:prstGeom prst="flowChartProcess">
            <a:avLst/>
          </a:prstGeo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i="0" dirty="0">
              <a:solidFill>
                <a:srgbClr val="FFFFFF"/>
              </a:solidFill>
              <a:effectLst/>
              <a:latin typeface="neue-haas-grotesk-text"/>
            </a:endParaRPr>
          </a:p>
          <a:p>
            <a:pPr algn="ctr"/>
            <a:endParaRPr lang="en-IN" sz="1200" b="1" dirty="0">
              <a:solidFill>
                <a:srgbClr val="FFFFFF"/>
              </a:solidFill>
              <a:latin typeface="neue-haas-grotesk-text"/>
            </a:endParaRPr>
          </a:p>
          <a:p>
            <a:pPr algn="ctr"/>
            <a:r>
              <a:rPr lang="en-IN" sz="12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Seasonality reflects periodic fluctuations.</a:t>
            </a:r>
          </a:p>
          <a:p>
            <a:pPr algn="ctr"/>
            <a:endParaRPr lang="en-IN" dirty="0">
              <a:solidFill>
                <a:srgbClr val="FFFFFF"/>
              </a:solidFill>
              <a:latin typeface="neue-haas-grotesk-text"/>
            </a:endParaRPr>
          </a:p>
          <a:p>
            <a:pPr algn="ctr"/>
            <a:r>
              <a:rPr lang="en-US" sz="1100" b="0" i="0" dirty="0">
                <a:solidFill>
                  <a:srgbClr val="FFFFFF"/>
                </a:solidFill>
                <a:effectLst/>
                <a:latin typeface="neue-haas-grotesk-text"/>
              </a:rPr>
              <a:t>These are regular patterns that repeat over specific intervals</a:t>
            </a:r>
            <a:r>
              <a:rPr lang="en-US" b="0" i="0" dirty="0">
                <a:solidFill>
                  <a:srgbClr val="FFFFFF"/>
                </a:solidFill>
                <a:effectLst/>
                <a:latin typeface="neue-haas-grotesk-text"/>
              </a:rPr>
              <a:t>.</a:t>
            </a:r>
          </a:p>
          <a:p>
            <a:pPr algn="ctr"/>
            <a:endParaRPr lang="en-IN" dirty="0"/>
          </a:p>
        </p:txBody>
      </p:sp>
      <p:sp>
        <p:nvSpPr>
          <p:cNvPr id="2" name="AutoShape 2" descr="Image of ">
            <a:extLst>
              <a:ext uri="{FF2B5EF4-FFF2-40B4-BE49-F238E27FC236}">
                <a16:creationId xmlns:a16="http://schemas.microsoft.com/office/drawing/2014/main" id="{0A889F09-D262-141A-E271-377617FCFB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91673" y="373495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D1ECAD12-D297-DF1A-B572-9A7DBAD0C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5041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70A7C1-79A6-9DE1-F261-0C556543D310}"/>
              </a:ext>
            </a:extLst>
          </p:cNvPr>
          <p:cNvSpPr txBox="1"/>
          <p:nvPr/>
        </p:nvSpPr>
        <p:spPr>
          <a:xfrm>
            <a:off x="1023151" y="805194"/>
            <a:ext cx="3344663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00" b="0" i="0" dirty="0">
                <a:solidFill>
                  <a:srgbClr val="2A2E6A"/>
                </a:solidFill>
                <a:effectLst/>
                <a:latin typeface="neue-haas-grotesk-display"/>
              </a:rPr>
              <a:t>Understanding the ARIMA Forecasting Model Components</a:t>
            </a:r>
            <a:endParaRPr lang="en-IN" sz="29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B34C2C-7211-2957-BC49-D0D348FD1918}"/>
              </a:ext>
            </a:extLst>
          </p:cNvPr>
          <p:cNvSpPr txBox="1"/>
          <p:nvPr/>
        </p:nvSpPr>
        <p:spPr>
          <a:xfrm>
            <a:off x="1023151" y="2326819"/>
            <a:ext cx="479172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eue-haas-grotesk-text"/>
              </a:rPr>
              <a:t>A detailed breakdown of the ARIMA model's components: AR, I, and MA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eue-haas-grotesk-text"/>
              </a:rPr>
              <a:t>ARIMA (Auto Regressive Integrated Moving Average) is a powerful statistical model for non-seasonal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neue-haas-grotesk-text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eue-haas-grotesk-text"/>
              </a:rPr>
              <a:t>data.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neue-haas-grotesk-text"/>
              </a:rPr>
              <a:t>It is forecasting model that analyzes a single set of historical data to predict future values. It does this by identifying patterns based on past data points, adjusting for long-term trends in the data, and using past prediction errors to improve future forecasts. This three-part process allows it to generate accurate and reliable predictions for a time series.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neue-haas-grotesk-text"/>
            </a:endParaRPr>
          </a:p>
          <a:p>
            <a:endParaRPr lang="en-IN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5E6954C-84FB-0447-A8A2-B265E7BD40E2}"/>
              </a:ext>
            </a:extLst>
          </p:cNvPr>
          <p:cNvSpPr/>
          <p:nvPr/>
        </p:nvSpPr>
        <p:spPr>
          <a:xfrm>
            <a:off x="8020051" y="342899"/>
            <a:ext cx="2800350" cy="857251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Smart ARIMA Model Overview</a:t>
            </a:r>
            <a:endParaRPr lang="en-IN" sz="16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FF3D824-D240-3FA8-AD5C-8DBF0266EBB7}"/>
              </a:ext>
            </a:extLst>
          </p:cNvPr>
          <p:cNvSpPr/>
          <p:nvPr/>
        </p:nvSpPr>
        <p:spPr>
          <a:xfrm>
            <a:off x="8648700" y="3041021"/>
            <a:ext cx="1543050" cy="775957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 (Integrated)</a:t>
            </a:r>
            <a:endParaRPr lang="en-IN" sz="16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BB33B3C-F7F3-2A1C-7FC9-A93B2670A1EE}"/>
              </a:ext>
            </a:extLst>
          </p:cNvPr>
          <p:cNvSpPr/>
          <p:nvPr/>
        </p:nvSpPr>
        <p:spPr>
          <a:xfrm>
            <a:off x="8482010" y="4482786"/>
            <a:ext cx="1876425" cy="80453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MA (Moving Average)</a:t>
            </a:r>
            <a:endParaRPr lang="en-IN" sz="16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72D7453-E636-8F95-9570-87663B2AECF5}"/>
              </a:ext>
            </a:extLst>
          </p:cNvPr>
          <p:cNvSpPr/>
          <p:nvPr/>
        </p:nvSpPr>
        <p:spPr>
          <a:xfrm>
            <a:off x="8279304" y="1724025"/>
            <a:ext cx="2281839" cy="77595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AR(Auto-Regressive)</a:t>
            </a:r>
            <a:endParaRPr lang="en-IN" sz="16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913DACF-18EC-7751-2A77-C71E2F6A9394}"/>
              </a:ext>
            </a:extLst>
          </p:cNvPr>
          <p:cNvSpPr/>
          <p:nvPr/>
        </p:nvSpPr>
        <p:spPr>
          <a:xfrm>
            <a:off x="8648700" y="5829300"/>
            <a:ext cx="1543050" cy="676275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End of Overview</a:t>
            </a:r>
            <a:endParaRPr lang="en-IN" sz="16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928089B-48C3-A5F4-D49B-80F953BBE3CD}"/>
              </a:ext>
            </a:extLst>
          </p:cNvPr>
          <p:cNvCxnSpPr>
            <a:stCxn id="14" idx="4"/>
            <a:endCxn id="19" idx="0"/>
          </p:cNvCxnSpPr>
          <p:nvPr/>
        </p:nvCxnSpPr>
        <p:spPr>
          <a:xfrm flipH="1">
            <a:off x="9420224" y="1200150"/>
            <a:ext cx="2" cy="5238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CB542E5-589F-9850-3CDF-20B15B6DF187}"/>
              </a:ext>
            </a:extLst>
          </p:cNvPr>
          <p:cNvCxnSpPr>
            <a:stCxn id="19" idx="2"/>
            <a:endCxn id="16" idx="0"/>
          </p:cNvCxnSpPr>
          <p:nvPr/>
        </p:nvCxnSpPr>
        <p:spPr>
          <a:xfrm>
            <a:off x="9420224" y="2499981"/>
            <a:ext cx="1" cy="5410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8CBFAC1-E1FA-EB6E-E428-56F2DEACA007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 flipH="1">
            <a:off x="9420223" y="3816978"/>
            <a:ext cx="2" cy="6658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E582AA9-D73C-8048-2EAB-10FE528CE461}"/>
              </a:ext>
            </a:extLst>
          </p:cNvPr>
          <p:cNvCxnSpPr>
            <a:stCxn id="17" idx="2"/>
            <a:endCxn id="20" idx="0"/>
          </p:cNvCxnSpPr>
          <p:nvPr/>
        </p:nvCxnSpPr>
        <p:spPr>
          <a:xfrm>
            <a:off x="9420223" y="5287316"/>
            <a:ext cx="2" cy="541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7DD2D4B-3C98-C769-E472-94A61BF59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3500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9D6EE"/>
            </a:gs>
            <a:gs pos="6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8E16C5-5707-4D53-0ECC-AE425C991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1845" y="1491482"/>
            <a:ext cx="3468950" cy="19515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92ADC8-A506-4578-3F0E-52CC6D358542}"/>
              </a:ext>
            </a:extLst>
          </p:cNvPr>
          <p:cNvSpPr txBox="1"/>
          <p:nvPr/>
        </p:nvSpPr>
        <p:spPr>
          <a:xfrm>
            <a:off x="366202" y="254777"/>
            <a:ext cx="34689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dirty="0">
                <a:solidFill>
                  <a:srgbClr val="2A2E6A"/>
                </a:solidFill>
                <a:effectLst/>
                <a:latin typeface="neue-haas-grotesk-display"/>
              </a:rPr>
              <a:t>Understanding the SARIMA Forecasting Model</a:t>
            </a:r>
            <a:endParaRPr lang="en-IN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EADA2-2ECC-536B-E54C-BF641C96E105}"/>
              </a:ext>
            </a:extLst>
          </p:cNvPr>
          <p:cNvSpPr txBox="1"/>
          <p:nvPr/>
        </p:nvSpPr>
        <p:spPr>
          <a:xfrm>
            <a:off x="499367" y="2087123"/>
            <a:ext cx="34689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626374"/>
                </a:solidFill>
                <a:effectLst/>
                <a:latin typeface="neue-haas-grotesk-text"/>
              </a:rPr>
              <a:t>An overview of the Seasonal Auto-Regressive Integrated Moving Average methodology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EC4DF0-70B4-BF9C-CE43-55EBA8778B8D}"/>
              </a:ext>
            </a:extLst>
          </p:cNvPr>
          <p:cNvSpPr/>
          <p:nvPr/>
        </p:nvSpPr>
        <p:spPr>
          <a:xfrm>
            <a:off x="5588554" y="379065"/>
            <a:ext cx="2406782" cy="1320717"/>
          </a:xfrm>
          <a:prstGeom prst="rect">
            <a:avLst/>
          </a:prstGeo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="1" dirty="0">
              <a:solidFill>
                <a:srgbClr val="FFFFFF"/>
              </a:solidFill>
              <a:latin typeface="neue-haas-grotesk-text"/>
            </a:endParaRPr>
          </a:p>
          <a:p>
            <a:pPr algn="ctr"/>
            <a:r>
              <a:rPr lang="en-US" sz="14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SARIMA extends ARIMA for seasonality</a:t>
            </a:r>
          </a:p>
          <a:p>
            <a:pPr algn="ctr"/>
            <a:endParaRPr lang="en-US" sz="1100" b="0" i="0" dirty="0">
              <a:solidFill>
                <a:srgbClr val="FFFFFF"/>
              </a:solidFill>
              <a:effectLst/>
              <a:latin typeface="neue-haas-grotesk-text"/>
            </a:endParaRPr>
          </a:p>
          <a:p>
            <a:pPr algn="l"/>
            <a:r>
              <a:rPr lang="en-US" sz="900" b="0" i="0" dirty="0">
                <a:solidFill>
                  <a:srgbClr val="FFFFFF"/>
                </a:solidFill>
                <a:effectLst/>
                <a:latin typeface="neue-haas-grotesk-text"/>
              </a:rPr>
              <a:t>SARIMA (Seasonal Auto-Regressive Integrated Moving Average) is an enhanced version of ARIMA, specifically designed to handle data with seasonal patterns effectively.</a:t>
            </a:r>
          </a:p>
          <a:p>
            <a:pPr algn="ctr"/>
            <a:endParaRPr lang="en-IN" sz="600" dirty="0"/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8B6DBDA3-C4B5-D89B-E563-D35AE36CB350}"/>
              </a:ext>
            </a:extLst>
          </p:cNvPr>
          <p:cNvSpPr/>
          <p:nvPr/>
        </p:nvSpPr>
        <p:spPr>
          <a:xfrm>
            <a:off x="4977257" y="1887955"/>
            <a:ext cx="2406781" cy="1313895"/>
          </a:xfrm>
          <a:prstGeom prst="flowChartProcess">
            <a:avLst/>
          </a:prstGeo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FFFFFF"/>
              </a:solidFill>
              <a:latin typeface="neue-haas-grotesk-display"/>
            </a:endParaRPr>
          </a:p>
          <a:p>
            <a:pPr algn="ctr"/>
            <a:r>
              <a:rPr lang="en-US" sz="14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 parameter: D (Seasonal I)</a:t>
            </a:r>
            <a:endParaRPr lang="en-IN" sz="9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900" dirty="0">
              <a:solidFill>
                <a:srgbClr val="FFFFFF"/>
              </a:solidFill>
              <a:latin typeface="neue-haas-grotesk-text"/>
            </a:endParaRPr>
          </a:p>
          <a:p>
            <a:pPr algn="l"/>
            <a:r>
              <a:rPr lang="en-US" sz="900" b="0" i="0" dirty="0">
                <a:solidFill>
                  <a:srgbClr val="FFFFFF"/>
                </a:solidFill>
                <a:effectLst/>
                <a:latin typeface="neue-haas-grotesk-text"/>
              </a:rPr>
              <a:t>The D parameter stands for seasonal differencing, which is used to make the seasonal data stationary by removing seasonal trends or cycles.</a:t>
            </a:r>
          </a:p>
          <a:p>
            <a:pPr algn="ctr"/>
            <a:endParaRPr lang="en-IN" sz="900" dirty="0">
              <a:solidFill>
                <a:srgbClr val="FFFFFF"/>
              </a:solidFill>
              <a:latin typeface="neue-haas-grotesk-text"/>
            </a:endParaRPr>
          </a:p>
          <a:p>
            <a:pPr algn="ctr"/>
            <a:endParaRPr lang="en-IN" sz="900" dirty="0"/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3922CBC3-1C17-9F43-9C70-C9646759F565}"/>
              </a:ext>
            </a:extLst>
          </p:cNvPr>
          <p:cNvSpPr/>
          <p:nvPr/>
        </p:nvSpPr>
        <p:spPr>
          <a:xfrm>
            <a:off x="5701432" y="3352587"/>
            <a:ext cx="2174111" cy="1313895"/>
          </a:xfrm>
          <a:prstGeom prst="flowChartProcess">
            <a:avLst/>
          </a:prstGeo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0" i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14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SARIMA model applications</a:t>
            </a:r>
          </a:p>
          <a:p>
            <a:pPr algn="ctr"/>
            <a:endParaRPr lang="en-US" sz="1600" b="0" i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900" b="0" i="0" dirty="0">
                <a:solidFill>
                  <a:srgbClr val="FFFFFF"/>
                </a:solidFill>
                <a:effectLst/>
                <a:latin typeface="neue-haas-grotesk-text"/>
              </a:rPr>
              <a:t>SARIMA is widely used in various fields such as economics, meteorology, and inventory management for precise seasonal forecasting and analysis.</a:t>
            </a:r>
          </a:p>
          <a:p>
            <a:pPr algn="ctr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83E6B44B-6EE7-E0D8-D9D5-C74E8967B191}"/>
              </a:ext>
            </a:extLst>
          </p:cNvPr>
          <p:cNvSpPr/>
          <p:nvPr/>
        </p:nvSpPr>
        <p:spPr>
          <a:xfrm>
            <a:off x="9215114" y="3352587"/>
            <a:ext cx="2444318" cy="1313895"/>
          </a:xfrm>
          <a:prstGeom prst="flowChartProcess">
            <a:avLst/>
          </a:prstGeo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i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14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Visual representation of SARIMA</a:t>
            </a:r>
            <a:r>
              <a:rPr lang="en-IN" sz="1200" b="1" i="0" dirty="0">
                <a:solidFill>
                  <a:srgbClr val="FFFFFF"/>
                </a:solidFill>
                <a:effectLst/>
                <a:latin typeface="neue-haas-grotesk-display"/>
              </a:rPr>
              <a:t>.	</a:t>
            </a:r>
          </a:p>
          <a:p>
            <a:pPr algn="ctr"/>
            <a:endParaRPr lang="en-US" sz="1200" dirty="0">
              <a:solidFill>
                <a:srgbClr val="FFFFFF"/>
              </a:solidFill>
              <a:latin typeface="neue-haas-grotesk-text"/>
            </a:endParaRPr>
          </a:p>
          <a:p>
            <a:pPr algn="l"/>
            <a:r>
              <a:rPr lang="en-US" sz="900" b="0" i="0" dirty="0">
                <a:solidFill>
                  <a:srgbClr val="FFFFFF"/>
                </a:solidFill>
                <a:effectLst/>
                <a:latin typeface="neue-haas-grotesk-text"/>
              </a:rPr>
              <a:t>Diagrams and models that illustrate the structure and flow of the SARIMA process, showcasing its seasonal components and relationships.</a:t>
            </a:r>
          </a:p>
          <a:p>
            <a:pPr algn="ctr"/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5D36DCEE-A2A4-8216-D839-EBE5F6C564C4}"/>
              </a:ext>
            </a:extLst>
          </p:cNvPr>
          <p:cNvSpPr/>
          <p:nvPr/>
        </p:nvSpPr>
        <p:spPr>
          <a:xfrm>
            <a:off x="9759028" y="1873147"/>
            <a:ext cx="2256034" cy="1313895"/>
          </a:xfrm>
          <a:prstGeom prst="flowChartProcess">
            <a:avLst/>
          </a:prstGeo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 parameter: Q (Seasonal MA).</a:t>
            </a:r>
            <a:endParaRPr lang="en-IN" sz="1400" b="1" i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1200" b="1" i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900" b="0" i="0" dirty="0">
                <a:solidFill>
                  <a:srgbClr val="FFFFFF"/>
                </a:solidFill>
                <a:effectLst/>
                <a:latin typeface="neue-haas-grotesk-text"/>
              </a:rPr>
              <a:t>The Q parameter indicates the seasonal moving average component, which accounts for the influence of past forecast errors on the current observation.</a:t>
            </a:r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0DCDEEEE-21D3-886E-E61C-221B6C1C90CB}"/>
              </a:ext>
            </a:extLst>
          </p:cNvPr>
          <p:cNvSpPr/>
          <p:nvPr/>
        </p:nvSpPr>
        <p:spPr>
          <a:xfrm>
            <a:off x="8977304" y="379065"/>
            <a:ext cx="2444318" cy="1320718"/>
          </a:xfrm>
          <a:prstGeom prst="flowChartProcess">
            <a:avLst/>
          </a:prstGeo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i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 parameter: P (Seasonal AR).</a:t>
            </a:r>
          </a:p>
          <a:p>
            <a:pPr algn="ctr"/>
            <a:endParaRPr lang="en-IN" sz="1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900" b="0" i="0" dirty="0">
                <a:solidFill>
                  <a:srgbClr val="FFFFFF"/>
                </a:solidFill>
                <a:effectLst/>
                <a:latin typeface="neue-haas-grotesk-text"/>
              </a:rPr>
              <a:t>The parameter P represents the seasonal auto-regressive component, incorporating the influence of past seasonal observations on the current data point.</a:t>
            </a:r>
          </a:p>
          <a:p>
            <a:pPr algn="ctr"/>
            <a:endParaRPr lang="en-IN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B361897E-CA3A-AF2C-22D9-1A4D2499D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IN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751059A-C667-6B2E-F411-02EE4B4D9538}"/>
              </a:ext>
            </a:extLst>
          </p:cNvPr>
          <p:cNvSpPr/>
          <p:nvPr/>
        </p:nvSpPr>
        <p:spPr>
          <a:xfrm>
            <a:off x="394176" y="5213560"/>
            <a:ext cx="2812475" cy="857251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Identification</a:t>
            </a:r>
          </a:p>
          <a:p>
            <a:pPr algn="ctr"/>
            <a:r>
              <a:rPr lang="en-US" sz="1600" dirty="0"/>
              <a:t>(</a:t>
            </a:r>
            <a:r>
              <a:rPr lang="en-US" sz="1600" dirty="0" err="1"/>
              <a:t>p,d,q</a:t>
            </a:r>
            <a:r>
              <a:rPr lang="en-US" sz="1600" dirty="0"/>
              <a:t>)</a:t>
            </a:r>
            <a:endParaRPr lang="en-IN" sz="16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1AA75EC-43B8-6660-2289-6A243236B357}"/>
              </a:ext>
            </a:extLst>
          </p:cNvPr>
          <p:cNvSpPr/>
          <p:nvPr/>
        </p:nvSpPr>
        <p:spPr>
          <a:xfrm>
            <a:off x="6286722" y="5254207"/>
            <a:ext cx="1549731" cy="775957"/>
          </a:xfrm>
          <a:prstGeom prst="roundRect">
            <a:avLst>
              <a:gd name="adj" fmla="val 50000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Diagnostic</a:t>
            </a:r>
            <a:endParaRPr lang="en-IN" sz="16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A4DF5EB-6598-9528-681A-B8077EEAB944}"/>
              </a:ext>
            </a:extLst>
          </p:cNvPr>
          <p:cNvSpPr/>
          <p:nvPr/>
        </p:nvSpPr>
        <p:spPr>
          <a:xfrm>
            <a:off x="3600827" y="5254208"/>
            <a:ext cx="2291719" cy="775956"/>
          </a:xfrm>
          <a:prstGeom prst="roundRect">
            <a:avLst>
              <a:gd name="adj" fmla="val 50000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Estimation of Parameter</a:t>
            </a:r>
            <a:endParaRPr lang="en-IN" sz="16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F2E75C0-6120-68B5-38D7-3A7695E3CC75}"/>
              </a:ext>
            </a:extLst>
          </p:cNvPr>
          <p:cNvCxnSpPr>
            <a:cxnSpLocks/>
            <a:stCxn id="20" idx="6"/>
            <a:endCxn id="23" idx="1"/>
          </p:cNvCxnSpPr>
          <p:nvPr/>
        </p:nvCxnSpPr>
        <p:spPr>
          <a:xfrm>
            <a:off x="3206651" y="5642186"/>
            <a:ext cx="39417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2AD8C6C-F7AC-6FBA-A63A-4266E156B018}"/>
              </a:ext>
            </a:extLst>
          </p:cNvPr>
          <p:cNvCxnSpPr>
            <a:cxnSpLocks/>
            <a:stCxn id="23" idx="3"/>
            <a:endCxn id="21" idx="1"/>
          </p:cNvCxnSpPr>
          <p:nvPr/>
        </p:nvCxnSpPr>
        <p:spPr>
          <a:xfrm>
            <a:off x="5892546" y="5642186"/>
            <a:ext cx="39417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DC218D9-1DF1-583E-4E8D-D0F0C9F94F3D}"/>
              </a:ext>
            </a:extLst>
          </p:cNvPr>
          <p:cNvCxnSpPr>
            <a:cxnSpLocks/>
            <a:stCxn id="21" idx="3"/>
            <a:endCxn id="88" idx="1"/>
          </p:cNvCxnSpPr>
          <p:nvPr/>
        </p:nvCxnSpPr>
        <p:spPr>
          <a:xfrm>
            <a:off x="7836453" y="5642186"/>
            <a:ext cx="394176" cy="22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5808B3E5-3E5B-6054-2B46-1E2C1D28C688}"/>
              </a:ext>
            </a:extLst>
          </p:cNvPr>
          <p:cNvSpPr/>
          <p:nvPr/>
        </p:nvSpPr>
        <p:spPr>
          <a:xfrm>
            <a:off x="9579005" y="5619567"/>
            <a:ext cx="798991" cy="3284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Yes</a:t>
            </a:r>
            <a:endParaRPr lang="en-IN" dirty="0"/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FC529A31-111F-B54F-0139-D795245F8E63}"/>
              </a:ext>
            </a:extLst>
          </p:cNvPr>
          <p:cNvCxnSpPr>
            <a:cxnSpLocks/>
            <a:stCxn id="62" idx="0"/>
            <a:endCxn id="20" idx="0"/>
          </p:cNvCxnSpPr>
          <p:nvPr/>
        </p:nvCxnSpPr>
        <p:spPr>
          <a:xfrm rot="16200000" flipV="1">
            <a:off x="5686455" y="1327520"/>
            <a:ext cx="406007" cy="8178087"/>
          </a:xfrm>
          <a:prstGeom prst="bentConnector3">
            <a:avLst>
              <a:gd name="adj1" fmla="val 15630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4CE956BB-D911-6728-AF40-B2A2CD790600}"/>
              </a:ext>
            </a:extLst>
          </p:cNvPr>
          <p:cNvSpPr/>
          <p:nvPr/>
        </p:nvSpPr>
        <p:spPr>
          <a:xfrm>
            <a:off x="4074850" y="4616388"/>
            <a:ext cx="1020933" cy="2929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</a:t>
            </a:r>
            <a:endParaRPr lang="en-IN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C39116F4-43C7-1147-D8A8-D020D4FB1A29}"/>
              </a:ext>
            </a:extLst>
          </p:cNvPr>
          <p:cNvSpPr/>
          <p:nvPr/>
        </p:nvSpPr>
        <p:spPr>
          <a:xfrm>
            <a:off x="10336479" y="5296650"/>
            <a:ext cx="1683288" cy="676275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End</a:t>
            </a:r>
            <a:endParaRPr lang="en-IN" sz="1600" dirty="0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FB4F4848-40B6-3C39-2882-7EEA4865E92D}"/>
              </a:ext>
            </a:extLst>
          </p:cNvPr>
          <p:cNvSpPr/>
          <p:nvPr/>
        </p:nvSpPr>
        <p:spPr>
          <a:xfrm>
            <a:off x="8230629" y="5256420"/>
            <a:ext cx="1489733" cy="775957"/>
          </a:xfrm>
          <a:prstGeom prst="roundRect">
            <a:avLst>
              <a:gd name="adj" fmla="val 25974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Forecasting</a:t>
            </a:r>
            <a:endParaRPr lang="en-IN" sz="1600" dirty="0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51A45498-1AB8-A687-39E5-03D1FBC4A083}"/>
              </a:ext>
            </a:extLst>
          </p:cNvPr>
          <p:cNvCxnSpPr>
            <a:cxnSpLocks/>
            <a:stCxn id="88" idx="3"/>
            <a:endCxn id="86" idx="2"/>
          </p:cNvCxnSpPr>
          <p:nvPr/>
        </p:nvCxnSpPr>
        <p:spPr>
          <a:xfrm flipV="1">
            <a:off x="9720362" y="5634788"/>
            <a:ext cx="616117" cy="96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222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9D6EE"/>
            </a:gs>
            <a:gs pos="6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7BBAACE6-E823-96A0-A025-6FB6B7C72CF3}"/>
              </a:ext>
            </a:extLst>
          </p:cNvPr>
          <p:cNvSpPr/>
          <p:nvPr/>
        </p:nvSpPr>
        <p:spPr>
          <a:xfrm>
            <a:off x="-9331" y="4273"/>
            <a:ext cx="4500979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E35C62-AE41-A8AC-FA3C-A9E708C3C46E}"/>
              </a:ext>
            </a:extLst>
          </p:cNvPr>
          <p:cNvSpPr txBox="1"/>
          <p:nvPr/>
        </p:nvSpPr>
        <p:spPr>
          <a:xfrm>
            <a:off x="302503" y="1202453"/>
            <a:ext cx="34334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Understanding the Prophet Forecasting Model</a:t>
            </a:r>
            <a:endParaRPr lang="en-IN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D4E6A5-8B53-DBF6-CF35-EE1B56B992EA}"/>
              </a:ext>
            </a:extLst>
          </p:cNvPr>
          <p:cNvSpPr txBox="1"/>
          <p:nvPr/>
        </p:nvSpPr>
        <p:spPr>
          <a:xfrm>
            <a:off x="323295" y="3272733"/>
            <a:ext cx="31138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neue-haas-grotesk-text"/>
              </a:rPr>
              <a:t>An overview of Prophet's components for effective demand forecasting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A8AE2D-D6A7-8BE0-A72E-BBDBEF06DED3}"/>
              </a:ext>
            </a:extLst>
          </p:cNvPr>
          <p:cNvSpPr/>
          <p:nvPr/>
        </p:nvSpPr>
        <p:spPr>
          <a:xfrm>
            <a:off x="5903747" y="983138"/>
            <a:ext cx="2406782" cy="1320717"/>
          </a:xfrm>
          <a:prstGeom prst="rect">
            <a:avLst/>
          </a:prstGeo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</a:p>
          <a:p>
            <a:pPr algn="ctr"/>
            <a:endParaRPr lang="en-IN" sz="12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12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12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Automated Additive Model</a:t>
            </a:r>
          </a:p>
          <a:p>
            <a:pPr algn="ctr"/>
            <a:endParaRPr lang="en-IN" sz="8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8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9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Prophet employs an automated model for forecasting.</a:t>
            </a:r>
          </a:p>
          <a:p>
            <a:pPr algn="ctr"/>
            <a:endParaRPr lang="en-IN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9A4286-76AB-8060-7DD9-A8134C7E562F}"/>
              </a:ext>
            </a:extLst>
          </p:cNvPr>
          <p:cNvSpPr/>
          <p:nvPr/>
        </p:nvSpPr>
        <p:spPr>
          <a:xfrm>
            <a:off x="5355505" y="2768641"/>
            <a:ext cx="2406782" cy="1320717"/>
          </a:xfrm>
          <a:prstGeom prst="rect">
            <a:avLst/>
          </a:prstGeo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i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1200" b="1" i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12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Components of Forecasting</a:t>
            </a:r>
          </a:p>
          <a:p>
            <a:pPr algn="ctr"/>
            <a:endParaRPr lang="en-IN" sz="1200" b="1" i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9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Includes trend, seasonality, and holidays</a:t>
            </a:r>
            <a:r>
              <a:rPr lang="en-US" sz="105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7346D5-2AE9-F687-ED2D-7799FD0EEC84}"/>
              </a:ext>
            </a:extLst>
          </p:cNvPr>
          <p:cNvSpPr/>
          <p:nvPr/>
        </p:nvSpPr>
        <p:spPr>
          <a:xfrm>
            <a:off x="5903747" y="4565149"/>
            <a:ext cx="2406782" cy="1320717"/>
          </a:xfrm>
          <a:prstGeom prst="rect">
            <a:avLst/>
          </a:prstGeo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i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12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12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Seasonality Insights</a:t>
            </a:r>
          </a:p>
          <a:p>
            <a:pPr algn="ctr"/>
            <a:endParaRPr lang="en-IN" sz="12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9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Captures recurring patterns over time.</a:t>
            </a:r>
          </a:p>
          <a:p>
            <a:pPr algn="ctr"/>
            <a:endParaRPr lang="en-IN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4E0928-BC2B-0874-07FF-23149447781D}"/>
              </a:ext>
            </a:extLst>
          </p:cNvPr>
          <p:cNvSpPr/>
          <p:nvPr/>
        </p:nvSpPr>
        <p:spPr>
          <a:xfrm>
            <a:off x="9108392" y="4565149"/>
            <a:ext cx="2406782" cy="1320717"/>
          </a:xfrm>
          <a:prstGeom prst="rect">
            <a:avLst/>
          </a:prstGeo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i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12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1200" b="1" i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12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Holiday Effects</a:t>
            </a:r>
          </a:p>
          <a:p>
            <a:pPr algn="ctr"/>
            <a:endParaRPr lang="en-IN" sz="1200" b="1" i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9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Adjusts forecasts based on holidays' impact.</a:t>
            </a:r>
          </a:p>
          <a:p>
            <a:pPr algn="ctr"/>
            <a:endParaRPr lang="en-IN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B44011-24D9-8865-012E-671AD3BF06F8}"/>
              </a:ext>
            </a:extLst>
          </p:cNvPr>
          <p:cNvSpPr/>
          <p:nvPr/>
        </p:nvSpPr>
        <p:spPr>
          <a:xfrm>
            <a:off x="9661260" y="2812367"/>
            <a:ext cx="2406782" cy="1320717"/>
          </a:xfrm>
          <a:prstGeom prst="rect">
            <a:avLst/>
          </a:prstGeo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i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12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12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Trend Analysis</a:t>
            </a:r>
          </a:p>
          <a:p>
            <a:pPr algn="ctr"/>
            <a:endParaRPr lang="en-IN" sz="1200" b="1" i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8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9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Identifies long-term changes in data.</a:t>
            </a:r>
          </a:p>
          <a:p>
            <a:pPr algn="ctr"/>
            <a:endParaRPr lang="en-IN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37D253-D4C0-A9E3-717C-FC3EE0176F71}"/>
              </a:ext>
            </a:extLst>
          </p:cNvPr>
          <p:cNvSpPr/>
          <p:nvPr/>
        </p:nvSpPr>
        <p:spPr>
          <a:xfrm>
            <a:off x="9413880" y="972134"/>
            <a:ext cx="2403223" cy="1331721"/>
          </a:xfrm>
          <a:prstGeom prst="rect">
            <a:avLst/>
          </a:prstGeo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i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12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12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12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Equation Representation</a:t>
            </a:r>
          </a:p>
          <a:p>
            <a:pPr algn="ctr"/>
            <a:endParaRPr lang="en-IN" sz="1200" b="1" i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9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Forecast is represented as y(t) = g(t) + s(t) + h(t) + </a:t>
            </a:r>
            <a:r>
              <a:rPr lang="el-GR" sz="9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ϵ(</a:t>
            </a:r>
            <a:r>
              <a:rPr lang="en-IN" sz="9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t).</a:t>
            </a:r>
          </a:p>
          <a:p>
            <a:pPr algn="ctr"/>
            <a:endParaRPr lang="en-IN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E43C5B6-DC16-D011-4F2C-64FC466276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5368" y="1184790"/>
            <a:ext cx="471044" cy="44770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9B5DB78-2CE3-0EA0-5E24-B45F4BDF58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799" y="2807673"/>
            <a:ext cx="573752" cy="46506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C599780-E66B-6502-7345-6155D5F2A6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8008" y="4654873"/>
            <a:ext cx="547479" cy="42464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7C813B9-BFD9-84EC-FA61-E08C90CB17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7622" y="1019989"/>
            <a:ext cx="492001" cy="36492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19738CC-BEEA-3360-E6F5-2CF9ED47CF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5487" y="2897292"/>
            <a:ext cx="586296" cy="37544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5053FB9-0618-DA99-281E-E1D93993E7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551" y="4615361"/>
            <a:ext cx="634093" cy="464161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AA67A9B-FEBD-68C4-6256-2BC508230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4671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9D6EE"/>
            </a:gs>
            <a:gs pos="6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7355513F-FE40-B5B9-8FA6-38B86E9DE915}"/>
              </a:ext>
            </a:extLst>
          </p:cNvPr>
          <p:cNvSpPr/>
          <p:nvPr/>
        </p:nvSpPr>
        <p:spPr>
          <a:xfrm>
            <a:off x="0" y="0"/>
            <a:ext cx="12192000" cy="141813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6AE218-EB16-940D-CDBE-CF20FFF551CF}"/>
              </a:ext>
            </a:extLst>
          </p:cNvPr>
          <p:cNvSpPr txBox="1"/>
          <p:nvPr/>
        </p:nvSpPr>
        <p:spPr>
          <a:xfrm>
            <a:off x="902440" y="334667"/>
            <a:ext cx="71716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Understanding the Delphi Method in Forecasting</a:t>
            </a:r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DCB7E2-9E22-4F84-1733-39F18A156866}"/>
              </a:ext>
            </a:extLst>
          </p:cNvPr>
          <p:cNvSpPr txBox="1"/>
          <p:nvPr/>
        </p:nvSpPr>
        <p:spPr>
          <a:xfrm>
            <a:off x="1008972" y="796332"/>
            <a:ext cx="96205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qualitative approach for data-deficient scenarios through expert feedback.</a:t>
            </a:r>
            <a:endParaRPr lang="en-IN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3B940-E21A-2C73-6244-5D64D7617F44}"/>
              </a:ext>
            </a:extLst>
          </p:cNvPr>
          <p:cNvGrpSpPr/>
          <p:nvPr/>
        </p:nvGrpSpPr>
        <p:grpSpPr>
          <a:xfrm>
            <a:off x="8035015" y="1909104"/>
            <a:ext cx="1592852" cy="887767"/>
            <a:chOff x="3155" y="1940527"/>
            <a:chExt cx="3844032" cy="1537612"/>
          </a:xfrm>
          <a:solidFill>
            <a:srgbClr val="002060"/>
          </a:solidFill>
        </p:grpSpPr>
        <p:sp>
          <p:nvSpPr>
            <p:cNvPr id="12" name="Arrow: Chevron 11">
              <a:extLst>
                <a:ext uri="{FF2B5EF4-FFF2-40B4-BE49-F238E27FC236}">
                  <a16:creationId xmlns:a16="http://schemas.microsoft.com/office/drawing/2014/main" id="{5D5E860A-F3EC-33E8-EDDA-71B73AF4BF33}"/>
                </a:ext>
              </a:extLst>
            </p:cNvPr>
            <p:cNvSpPr/>
            <p:nvPr/>
          </p:nvSpPr>
          <p:spPr>
            <a:xfrm>
              <a:off x="3155" y="1940527"/>
              <a:ext cx="3844032" cy="1537612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Arrow: Chevron 4">
              <a:extLst>
                <a:ext uri="{FF2B5EF4-FFF2-40B4-BE49-F238E27FC236}">
                  <a16:creationId xmlns:a16="http://schemas.microsoft.com/office/drawing/2014/main" id="{E88861D2-6B98-406F-7A74-A4486EC487DC}"/>
                </a:ext>
              </a:extLst>
            </p:cNvPr>
            <p:cNvSpPr txBox="1"/>
            <p:nvPr/>
          </p:nvSpPr>
          <p:spPr>
            <a:xfrm>
              <a:off x="771962" y="1940527"/>
              <a:ext cx="2306420" cy="153761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68021" tIns="56007" rIns="56007" bIns="56007" numCol="1" spcCol="1270" anchor="ctr" anchorCtr="0">
              <a:noAutofit/>
            </a:bodyPr>
            <a:lstStyle/>
            <a:p>
              <a:pPr marL="0" lvl="0" indent="0" algn="ctr" defTabSz="1866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104B8C-966F-1F65-9396-FD0058180D28}"/>
              </a:ext>
            </a:extLst>
          </p:cNvPr>
          <p:cNvGrpSpPr/>
          <p:nvPr/>
        </p:nvGrpSpPr>
        <p:grpSpPr>
          <a:xfrm>
            <a:off x="9915555" y="1906274"/>
            <a:ext cx="1592852" cy="887767"/>
            <a:chOff x="3155" y="1940527"/>
            <a:chExt cx="3844032" cy="1537612"/>
          </a:xfrm>
          <a:solidFill>
            <a:srgbClr val="002060"/>
          </a:solidFill>
        </p:grpSpPr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01A48029-8419-FE01-B75D-4222F41E7DD5}"/>
                </a:ext>
              </a:extLst>
            </p:cNvPr>
            <p:cNvSpPr/>
            <p:nvPr/>
          </p:nvSpPr>
          <p:spPr>
            <a:xfrm>
              <a:off x="3155" y="1940527"/>
              <a:ext cx="3844032" cy="1537612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Arrow: Chevron 4">
              <a:extLst>
                <a:ext uri="{FF2B5EF4-FFF2-40B4-BE49-F238E27FC236}">
                  <a16:creationId xmlns:a16="http://schemas.microsoft.com/office/drawing/2014/main" id="{BCB044B9-2975-4D4A-49B0-CD123C6721BB}"/>
                </a:ext>
              </a:extLst>
            </p:cNvPr>
            <p:cNvSpPr txBox="1"/>
            <p:nvPr/>
          </p:nvSpPr>
          <p:spPr>
            <a:xfrm>
              <a:off x="771961" y="1940527"/>
              <a:ext cx="2306420" cy="153761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68021" tIns="56007" rIns="56007" bIns="56007" numCol="1" spcCol="1270" anchor="ctr" anchorCtr="0">
              <a:noAutofit/>
            </a:bodyPr>
            <a:lstStyle/>
            <a:p>
              <a:pPr marL="0" lvl="0" indent="0" algn="ctr" defTabSz="1866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dirty="0">
                  <a:solidFill>
                    <a:schemeClr val="bg1"/>
                  </a:solidFill>
                </a:rPr>
                <a:t>6</a:t>
              </a:r>
              <a:endParaRPr lang="en-IN" sz="2400" kern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69ABC21-003B-2B6C-B41C-61FD505F1B19}"/>
              </a:ext>
            </a:extLst>
          </p:cNvPr>
          <p:cNvGrpSpPr/>
          <p:nvPr/>
        </p:nvGrpSpPr>
        <p:grpSpPr>
          <a:xfrm>
            <a:off x="539481" y="1876831"/>
            <a:ext cx="1592852" cy="887767"/>
            <a:chOff x="3155" y="1940527"/>
            <a:chExt cx="3844032" cy="1537612"/>
          </a:xfrm>
          <a:solidFill>
            <a:srgbClr val="002060"/>
          </a:solidFill>
        </p:grpSpPr>
        <p:sp>
          <p:nvSpPr>
            <p:cNvPr id="19" name="Arrow: Chevron 18">
              <a:extLst>
                <a:ext uri="{FF2B5EF4-FFF2-40B4-BE49-F238E27FC236}">
                  <a16:creationId xmlns:a16="http://schemas.microsoft.com/office/drawing/2014/main" id="{E30C83D7-18EE-FF88-AA7C-D68D561D32EB}"/>
                </a:ext>
              </a:extLst>
            </p:cNvPr>
            <p:cNvSpPr/>
            <p:nvPr/>
          </p:nvSpPr>
          <p:spPr>
            <a:xfrm>
              <a:off x="3155" y="1940527"/>
              <a:ext cx="3844032" cy="1537612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Arrow: Chevron 4">
              <a:extLst>
                <a:ext uri="{FF2B5EF4-FFF2-40B4-BE49-F238E27FC236}">
                  <a16:creationId xmlns:a16="http://schemas.microsoft.com/office/drawing/2014/main" id="{C388703E-B203-74CC-0F75-AB13A2691935}"/>
                </a:ext>
              </a:extLst>
            </p:cNvPr>
            <p:cNvSpPr txBox="1"/>
            <p:nvPr/>
          </p:nvSpPr>
          <p:spPr>
            <a:xfrm>
              <a:off x="771961" y="1940527"/>
              <a:ext cx="2306420" cy="153761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68021" tIns="56007" rIns="56007" bIns="56007" numCol="1" spcCol="1270" anchor="ctr" anchorCtr="0">
              <a:noAutofit/>
            </a:bodyPr>
            <a:lstStyle/>
            <a:p>
              <a:pPr marL="0" lvl="0" indent="0" algn="ctr" defTabSz="1866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>
                  <a:solidFill>
                    <a:schemeClr val="bg1"/>
                  </a:solidFill>
                </a:rPr>
                <a:t>1</a:t>
              </a:r>
              <a:endParaRPr lang="en-IN" sz="2400" kern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0D80979-7B45-FA30-BC9E-FB475E4B5637}"/>
              </a:ext>
            </a:extLst>
          </p:cNvPr>
          <p:cNvGrpSpPr/>
          <p:nvPr/>
        </p:nvGrpSpPr>
        <p:grpSpPr>
          <a:xfrm>
            <a:off x="2411145" y="1876832"/>
            <a:ext cx="1592852" cy="887767"/>
            <a:chOff x="3155" y="1940527"/>
            <a:chExt cx="3844032" cy="1537612"/>
          </a:xfrm>
          <a:solidFill>
            <a:srgbClr val="002060"/>
          </a:solidFill>
        </p:grpSpPr>
        <p:sp>
          <p:nvSpPr>
            <p:cNvPr id="22" name="Arrow: Chevron 21">
              <a:extLst>
                <a:ext uri="{FF2B5EF4-FFF2-40B4-BE49-F238E27FC236}">
                  <a16:creationId xmlns:a16="http://schemas.microsoft.com/office/drawing/2014/main" id="{98953901-05DE-5C8D-E44D-68BE93E7413D}"/>
                </a:ext>
              </a:extLst>
            </p:cNvPr>
            <p:cNvSpPr/>
            <p:nvPr/>
          </p:nvSpPr>
          <p:spPr>
            <a:xfrm>
              <a:off x="3155" y="1940527"/>
              <a:ext cx="3844032" cy="1537612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Arrow: Chevron 4">
              <a:extLst>
                <a:ext uri="{FF2B5EF4-FFF2-40B4-BE49-F238E27FC236}">
                  <a16:creationId xmlns:a16="http://schemas.microsoft.com/office/drawing/2014/main" id="{BC28A2A1-A0F1-1538-C6CC-34E0B92FBD05}"/>
                </a:ext>
              </a:extLst>
            </p:cNvPr>
            <p:cNvSpPr txBox="1"/>
            <p:nvPr/>
          </p:nvSpPr>
          <p:spPr>
            <a:xfrm>
              <a:off x="771961" y="1940527"/>
              <a:ext cx="2306420" cy="153761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68021" tIns="56007" rIns="56007" bIns="56007" numCol="1" spcCol="1270" anchor="ctr" anchorCtr="0">
              <a:noAutofit/>
            </a:bodyPr>
            <a:lstStyle/>
            <a:p>
              <a:pPr marL="0" lvl="0" indent="0" algn="ctr" defTabSz="1866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dirty="0">
                  <a:solidFill>
                    <a:schemeClr val="bg1"/>
                  </a:solidFill>
                </a:rPr>
                <a:t>2</a:t>
              </a:r>
              <a:endParaRPr lang="en-IN" sz="2400" kern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8E8583C-D763-EF6B-4E89-CF584CDB35E2}"/>
              </a:ext>
            </a:extLst>
          </p:cNvPr>
          <p:cNvGrpSpPr/>
          <p:nvPr/>
        </p:nvGrpSpPr>
        <p:grpSpPr>
          <a:xfrm>
            <a:off x="6154473" y="1900226"/>
            <a:ext cx="1592852" cy="887767"/>
            <a:chOff x="3155" y="1940527"/>
            <a:chExt cx="3844032" cy="1537612"/>
          </a:xfrm>
          <a:solidFill>
            <a:srgbClr val="002060"/>
          </a:solidFill>
        </p:grpSpPr>
        <p:sp>
          <p:nvSpPr>
            <p:cNvPr id="25" name="Arrow: Chevron 24">
              <a:extLst>
                <a:ext uri="{FF2B5EF4-FFF2-40B4-BE49-F238E27FC236}">
                  <a16:creationId xmlns:a16="http://schemas.microsoft.com/office/drawing/2014/main" id="{E33A5B75-328F-2658-DD35-9B39C9210CE1}"/>
                </a:ext>
              </a:extLst>
            </p:cNvPr>
            <p:cNvSpPr/>
            <p:nvPr/>
          </p:nvSpPr>
          <p:spPr>
            <a:xfrm>
              <a:off x="3155" y="1940527"/>
              <a:ext cx="3844032" cy="1537612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Arrow: Chevron 4">
              <a:extLst>
                <a:ext uri="{FF2B5EF4-FFF2-40B4-BE49-F238E27FC236}">
                  <a16:creationId xmlns:a16="http://schemas.microsoft.com/office/drawing/2014/main" id="{353A6739-4848-249B-0237-196103FBBA0A}"/>
                </a:ext>
              </a:extLst>
            </p:cNvPr>
            <p:cNvSpPr txBox="1"/>
            <p:nvPr/>
          </p:nvSpPr>
          <p:spPr>
            <a:xfrm>
              <a:off x="771961" y="1940527"/>
              <a:ext cx="2306420" cy="153761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68021" tIns="56007" rIns="56007" bIns="56007" numCol="1" spcCol="1270" anchor="ctr" anchorCtr="0">
              <a:noAutofit/>
            </a:bodyPr>
            <a:lstStyle/>
            <a:p>
              <a:pPr marL="0" lvl="0" indent="0" algn="ctr" defTabSz="1866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dirty="0">
                  <a:solidFill>
                    <a:schemeClr val="bg1"/>
                  </a:solidFill>
                </a:rPr>
                <a:t>4</a:t>
              </a:r>
              <a:endParaRPr lang="en-IN" sz="2400" kern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2299820-C3AE-2D3B-0DF1-A6DCD255E828}"/>
              </a:ext>
            </a:extLst>
          </p:cNvPr>
          <p:cNvGrpSpPr/>
          <p:nvPr/>
        </p:nvGrpSpPr>
        <p:grpSpPr>
          <a:xfrm>
            <a:off x="4282809" y="1888520"/>
            <a:ext cx="1592852" cy="887767"/>
            <a:chOff x="3155" y="1940527"/>
            <a:chExt cx="3844032" cy="1537612"/>
          </a:xfrm>
          <a:solidFill>
            <a:srgbClr val="002060"/>
          </a:solidFill>
        </p:grpSpPr>
        <p:sp>
          <p:nvSpPr>
            <p:cNvPr id="28" name="Arrow: Chevron 27">
              <a:extLst>
                <a:ext uri="{FF2B5EF4-FFF2-40B4-BE49-F238E27FC236}">
                  <a16:creationId xmlns:a16="http://schemas.microsoft.com/office/drawing/2014/main" id="{50B9BC1C-3865-F3E0-7DD2-C113E166270E}"/>
                </a:ext>
              </a:extLst>
            </p:cNvPr>
            <p:cNvSpPr/>
            <p:nvPr/>
          </p:nvSpPr>
          <p:spPr>
            <a:xfrm>
              <a:off x="3155" y="1940527"/>
              <a:ext cx="3844032" cy="1537612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Arrow: Chevron 4">
              <a:extLst>
                <a:ext uri="{FF2B5EF4-FFF2-40B4-BE49-F238E27FC236}">
                  <a16:creationId xmlns:a16="http://schemas.microsoft.com/office/drawing/2014/main" id="{652A517D-D97A-6F72-6FD8-441AA3D686D2}"/>
                </a:ext>
              </a:extLst>
            </p:cNvPr>
            <p:cNvSpPr txBox="1"/>
            <p:nvPr/>
          </p:nvSpPr>
          <p:spPr>
            <a:xfrm>
              <a:off x="771961" y="1940527"/>
              <a:ext cx="2306420" cy="153761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68021" tIns="56007" rIns="56007" bIns="56007" numCol="1" spcCol="1270" anchor="ctr" anchorCtr="0">
              <a:noAutofit/>
            </a:bodyPr>
            <a:lstStyle/>
            <a:p>
              <a:pPr marL="0" lvl="0" indent="0" algn="ctr" defTabSz="1866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dirty="0">
                  <a:solidFill>
                    <a:schemeClr val="bg1"/>
                  </a:solidFill>
                </a:rPr>
                <a:t>3</a:t>
              </a:r>
              <a:endParaRPr lang="en-IN" sz="2400" kern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1204951D-2C2D-B44E-3266-4FEFEF79DFD0}"/>
              </a:ext>
            </a:extLst>
          </p:cNvPr>
          <p:cNvSpPr txBox="1"/>
          <p:nvPr/>
        </p:nvSpPr>
        <p:spPr>
          <a:xfrm>
            <a:off x="571059" y="2801491"/>
            <a:ext cx="19548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080A29"/>
                </a:solidFill>
                <a:effectLst/>
                <a:latin typeface="neue-haas-grotesk-display"/>
              </a:rPr>
              <a:t>Qualitative forecasting approach</a:t>
            </a:r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216628-6790-3637-902D-5A4B0864461F}"/>
              </a:ext>
            </a:extLst>
          </p:cNvPr>
          <p:cNvSpPr txBox="1"/>
          <p:nvPr/>
        </p:nvSpPr>
        <p:spPr>
          <a:xfrm>
            <a:off x="571059" y="3668972"/>
            <a:ext cx="159285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080A29"/>
                </a:solidFill>
                <a:effectLst/>
                <a:latin typeface="neue-haas-grotesk-text"/>
              </a:rPr>
              <a:t>The </a:t>
            </a:r>
            <a:r>
              <a:rPr lang="en-US" sz="1400" b="1" i="0" dirty="0">
                <a:solidFill>
                  <a:srgbClr val="080A29"/>
                </a:solidFill>
                <a:effectLst/>
                <a:latin typeface="neue-haas-grotesk-text"/>
              </a:rPr>
              <a:t>Delphi Method</a:t>
            </a:r>
            <a:r>
              <a:rPr lang="en-US" sz="1400" b="0" i="0" dirty="0">
                <a:solidFill>
                  <a:srgbClr val="080A29"/>
                </a:solidFill>
                <a:effectLst/>
                <a:latin typeface="neue-haas-grotesk-text"/>
              </a:rPr>
              <a:t> serves as a qualitative forecasting tool when there is a lack of quantitative data.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5F0943-B948-4C3C-A907-54AA6C93E277}"/>
              </a:ext>
            </a:extLst>
          </p:cNvPr>
          <p:cNvSpPr txBox="1"/>
          <p:nvPr/>
        </p:nvSpPr>
        <p:spPr>
          <a:xfrm>
            <a:off x="8198145" y="2801491"/>
            <a:ext cx="14891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080A29"/>
                </a:solidFill>
                <a:effectLst/>
                <a:latin typeface="neue-haas-grotesk-display"/>
              </a:rPr>
              <a:t>Iterative feedback process</a:t>
            </a:r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B2B5A6-1064-3A16-F2B5-9ADD089611A8}"/>
              </a:ext>
            </a:extLst>
          </p:cNvPr>
          <p:cNvSpPr txBox="1"/>
          <p:nvPr/>
        </p:nvSpPr>
        <p:spPr>
          <a:xfrm>
            <a:off x="2226526" y="3668972"/>
            <a:ext cx="181763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080A29"/>
                </a:solidFill>
                <a:effectLst/>
                <a:latin typeface="neue-haas-grotesk-text"/>
              </a:rPr>
              <a:t>Experts provide their insights in a series of </a:t>
            </a:r>
            <a:r>
              <a:rPr lang="en-US" sz="1400" b="1" i="0" dirty="0">
                <a:solidFill>
                  <a:srgbClr val="080A29"/>
                </a:solidFill>
                <a:effectLst/>
                <a:latin typeface="neue-haas-grotesk-text"/>
              </a:rPr>
              <a:t>iterations</a:t>
            </a:r>
            <a:r>
              <a:rPr lang="en-US" sz="1400" b="0" i="0" dirty="0">
                <a:solidFill>
                  <a:srgbClr val="080A29"/>
                </a:solidFill>
                <a:effectLst/>
                <a:latin typeface="neue-haas-grotesk-text"/>
              </a:rPr>
              <a:t>, refining their responses with each round of feedback.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C6C4E5A-BC49-1564-A4F3-92D6D9DEE8A1}"/>
              </a:ext>
            </a:extLst>
          </p:cNvPr>
          <p:cNvSpPr txBox="1"/>
          <p:nvPr/>
        </p:nvSpPr>
        <p:spPr>
          <a:xfrm>
            <a:off x="4400292" y="2801491"/>
            <a:ext cx="1264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080A29"/>
                </a:solidFill>
                <a:effectLst/>
                <a:latin typeface="neue-haas-grotesk-display"/>
              </a:rPr>
              <a:t>Anonymity of experts</a:t>
            </a:r>
            <a:endParaRPr lang="en-I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ACAF0D-9F96-CB67-8D3A-5CC33908BFF6}"/>
              </a:ext>
            </a:extLst>
          </p:cNvPr>
          <p:cNvSpPr txBox="1"/>
          <p:nvPr/>
        </p:nvSpPr>
        <p:spPr>
          <a:xfrm>
            <a:off x="4275175" y="3668972"/>
            <a:ext cx="165991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080A29"/>
                </a:solidFill>
                <a:effectLst/>
                <a:latin typeface="neue-haas-grotesk-text"/>
              </a:rPr>
              <a:t>Experts participate anonymously, which encourages </a:t>
            </a:r>
            <a:r>
              <a:rPr lang="en-US" sz="1400" b="1" i="0" dirty="0">
                <a:solidFill>
                  <a:srgbClr val="080A29"/>
                </a:solidFill>
                <a:effectLst/>
                <a:latin typeface="neue-haas-grotesk-text"/>
              </a:rPr>
              <a:t>honest</a:t>
            </a:r>
            <a:r>
              <a:rPr lang="en-US" sz="1400" b="0" i="0" dirty="0">
                <a:solidFill>
                  <a:srgbClr val="080A29"/>
                </a:solidFill>
                <a:effectLst/>
                <a:latin typeface="neue-haas-grotesk-text"/>
              </a:rPr>
              <a:t> opinions without influence from others in the group.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7AB5B6-5F8F-4A71-5E03-068B05275EEE}"/>
              </a:ext>
            </a:extLst>
          </p:cNvPr>
          <p:cNvSpPr txBox="1"/>
          <p:nvPr/>
        </p:nvSpPr>
        <p:spPr>
          <a:xfrm>
            <a:off x="6179481" y="2801491"/>
            <a:ext cx="1592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080A29"/>
                </a:solidFill>
                <a:effectLst/>
                <a:latin typeface="neue-haas-grotesk-display"/>
              </a:rPr>
              <a:t>Consensus building</a:t>
            </a:r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4F51812-CF59-F313-60D9-FD2F33B58F55}"/>
              </a:ext>
            </a:extLst>
          </p:cNvPr>
          <p:cNvSpPr txBox="1"/>
          <p:nvPr/>
        </p:nvSpPr>
        <p:spPr>
          <a:xfrm>
            <a:off x="6063557" y="3668972"/>
            <a:ext cx="170877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080A29"/>
                </a:solidFill>
                <a:effectLst/>
                <a:latin typeface="neue-haas-grotesk-text"/>
              </a:rPr>
              <a:t>The method aims to reach a </a:t>
            </a:r>
            <a:r>
              <a:rPr lang="en-US" sz="1400" b="1" i="0" dirty="0">
                <a:solidFill>
                  <a:srgbClr val="080A29"/>
                </a:solidFill>
                <a:effectLst/>
                <a:latin typeface="neue-haas-grotesk-text"/>
              </a:rPr>
              <a:t>consensus</a:t>
            </a:r>
            <a:r>
              <a:rPr lang="en-US" sz="1400" b="0" i="0" dirty="0">
                <a:solidFill>
                  <a:srgbClr val="080A29"/>
                </a:solidFill>
                <a:effectLst/>
                <a:latin typeface="neue-haas-grotesk-text"/>
              </a:rPr>
              <a:t> among experts, helping to improve the reliability of the forecast.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0170F54-A634-51F0-7586-D6CAE5520A00}"/>
              </a:ext>
            </a:extLst>
          </p:cNvPr>
          <p:cNvSpPr txBox="1"/>
          <p:nvPr/>
        </p:nvSpPr>
        <p:spPr>
          <a:xfrm>
            <a:off x="2274245" y="2801491"/>
            <a:ext cx="186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080A29"/>
                </a:solidFill>
                <a:effectLst/>
                <a:latin typeface="neue-haas-grotesk-display"/>
              </a:rPr>
              <a:t>No prior data requirement</a:t>
            </a:r>
            <a:endParaRPr lang="en-I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3A9C0E9-5A74-115C-D45B-490944B30483}"/>
              </a:ext>
            </a:extLst>
          </p:cNvPr>
          <p:cNvSpPr txBox="1"/>
          <p:nvPr/>
        </p:nvSpPr>
        <p:spPr>
          <a:xfrm>
            <a:off x="8119869" y="3668972"/>
            <a:ext cx="164567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080A29"/>
                </a:solidFill>
                <a:effectLst/>
                <a:latin typeface="neue-haas-grotesk-text"/>
              </a:rPr>
              <a:t>This method is particularly useful when there is </a:t>
            </a:r>
            <a:r>
              <a:rPr lang="en-US" sz="1400" b="1" i="0" dirty="0">
                <a:solidFill>
                  <a:srgbClr val="080A29"/>
                </a:solidFill>
                <a:effectLst/>
                <a:latin typeface="neue-haas-grotesk-text"/>
              </a:rPr>
              <a:t>insufficient historical data</a:t>
            </a:r>
            <a:r>
              <a:rPr lang="en-US" sz="1400" b="0" i="0" dirty="0">
                <a:solidFill>
                  <a:srgbClr val="080A29"/>
                </a:solidFill>
                <a:effectLst/>
                <a:latin typeface="neue-haas-grotesk-text"/>
              </a:rPr>
              <a:t> to guide traditional forecasting methods.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EA269A2-8868-3313-49B3-FAFF979D8C55}"/>
              </a:ext>
            </a:extLst>
          </p:cNvPr>
          <p:cNvSpPr txBox="1"/>
          <p:nvPr/>
        </p:nvSpPr>
        <p:spPr>
          <a:xfrm>
            <a:off x="9970889" y="3668972"/>
            <a:ext cx="158228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080A29"/>
                </a:solidFill>
                <a:effectLst/>
                <a:latin typeface="neue-haas-grotesk-text"/>
              </a:rPr>
              <a:t>The </a:t>
            </a:r>
            <a:r>
              <a:rPr lang="en-US" sz="1400" b="1" i="0" dirty="0">
                <a:solidFill>
                  <a:srgbClr val="080A29"/>
                </a:solidFill>
                <a:effectLst/>
                <a:latin typeface="neue-haas-grotesk-text"/>
              </a:rPr>
              <a:t>Delphi Method</a:t>
            </a:r>
            <a:r>
              <a:rPr lang="en-US" sz="1400" b="0" i="0" dirty="0">
                <a:solidFill>
                  <a:srgbClr val="080A29"/>
                </a:solidFill>
                <a:effectLst/>
                <a:latin typeface="neue-haas-grotesk-text"/>
              </a:rPr>
              <a:t> leverages the knowledge and experience of experts to generate valuable insights for forecasting.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7DB42BF-13DB-2CBD-9286-D021EEACBCF4}"/>
              </a:ext>
            </a:extLst>
          </p:cNvPr>
          <p:cNvSpPr txBox="1"/>
          <p:nvPr/>
        </p:nvSpPr>
        <p:spPr>
          <a:xfrm>
            <a:off x="9945850" y="2801491"/>
            <a:ext cx="15639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080A29"/>
                </a:solidFill>
                <a:effectLst/>
                <a:latin typeface="neue-haas-grotesk-display"/>
              </a:rPr>
              <a:t>Expert driven insights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4FE4C2-DFAC-0834-95E1-EA95AD3FC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IN" dirty="0"/>
          </a:p>
        </p:txBody>
      </p:sp>
      <p:sp>
        <p:nvSpPr>
          <p:cNvPr id="46" name="Arrow: Curved Down 45">
            <a:extLst>
              <a:ext uri="{FF2B5EF4-FFF2-40B4-BE49-F238E27FC236}">
                <a16:creationId xmlns:a16="http://schemas.microsoft.com/office/drawing/2014/main" id="{A8107033-0D38-CE94-73DD-215783BA3A5D}"/>
              </a:ext>
            </a:extLst>
          </p:cNvPr>
          <p:cNvSpPr/>
          <p:nvPr/>
        </p:nvSpPr>
        <p:spPr>
          <a:xfrm flipH="1">
            <a:off x="994505" y="1571348"/>
            <a:ext cx="7841531" cy="346229"/>
          </a:xfrm>
          <a:prstGeom prst="curvedDownArrow">
            <a:avLst>
              <a:gd name="adj1" fmla="val 0"/>
              <a:gd name="adj2" fmla="val 86185"/>
              <a:gd name="adj3" fmla="val 25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C2F736B-88B5-B693-79F4-71C009AA9397}"/>
              </a:ext>
            </a:extLst>
          </p:cNvPr>
          <p:cNvCxnSpPr>
            <a:stCxn id="19" idx="3"/>
            <a:endCxn id="23" idx="1"/>
          </p:cNvCxnSpPr>
          <p:nvPr/>
        </p:nvCxnSpPr>
        <p:spPr>
          <a:xfrm>
            <a:off x="2132333" y="2320715"/>
            <a:ext cx="597382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AC89D3A-24E1-F1DF-0654-AF9E991553F6}"/>
              </a:ext>
            </a:extLst>
          </p:cNvPr>
          <p:cNvCxnSpPr>
            <a:stCxn id="22" idx="3"/>
            <a:endCxn id="29" idx="1"/>
          </p:cNvCxnSpPr>
          <p:nvPr/>
        </p:nvCxnSpPr>
        <p:spPr>
          <a:xfrm>
            <a:off x="4003997" y="2320716"/>
            <a:ext cx="597382" cy="116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97F4E8F-74C8-3DA6-D7F4-5FF2F77CE235}"/>
              </a:ext>
            </a:extLst>
          </p:cNvPr>
          <p:cNvCxnSpPr>
            <a:cxnSpLocks/>
            <a:stCxn id="28" idx="3"/>
            <a:endCxn id="26" idx="1"/>
          </p:cNvCxnSpPr>
          <p:nvPr/>
        </p:nvCxnSpPr>
        <p:spPr>
          <a:xfrm>
            <a:off x="5875661" y="2332404"/>
            <a:ext cx="597382" cy="117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B54EAFF-BA9D-92C5-582B-C73ACFE8DB68}"/>
              </a:ext>
            </a:extLst>
          </p:cNvPr>
          <p:cNvCxnSpPr>
            <a:stCxn id="25" idx="3"/>
            <a:endCxn id="13" idx="1"/>
          </p:cNvCxnSpPr>
          <p:nvPr/>
        </p:nvCxnSpPr>
        <p:spPr>
          <a:xfrm>
            <a:off x="7747325" y="2344110"/>
            <a:ext cx="606261" cy="88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D6D6C03-D23D-FE27-FE7A-E3DAB03FE20E}"/>
              </a:ext>
            </a:extLst>
          </p:cNvPr>
          <p:cNvCxnSpPr>
            <a:stCxn id="12" idx="3"/>
            <a:endCxn id="16" idx="1"/>
          </p:cNvCxnSpPr>
          <p:nvPr/>
        </p:nvCxnSpPr>
        <p:spPr>
          <a:xfrm flipV="1">
            <a:off x="9627867" y="2350158"/>
            <a:ext cx="606258" cy="28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524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9D6EE"/>
            </a:gs>
            <a:gs pos="6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B9883E3-CAF6-D922-DD0B-CB115C90C864}"/>
              </a:ext>
            </a:extLst>
          </p:cNvPr>
          <p:cNvSpPr/>
          <p:nvPr/>
        </p:nvSpPr>
        <p:spPr>
          <a:xfrm>
            <a:off x="0" y="-5058"/>
            <a:ext cx="4500979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9F34C2-C4DA-6C4C-3373-144F6F4F32D3}"/>
              </a:ext>
            </a:extLst>
          </p:cNvPr>
          <p:cNvSpPr txBox="1"/>
          <p:nvPr/>
        </p:nvSpPr>
        <p:spPr>
          <a:xfrm>
            <a:off x="552635" y="1160301"/>
            <a:ext cx="30960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Comparative Analysis of Demand Forecasting Models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461618-999B-7FC0-947C-61EF03E8BD23}"/>
              </a:ext>
            </a:extLst>
          </p:cNvPr>
          <p:cNvSpPr txBox="1"/>
          <p:nvPr/>
        </p:nvSpPr>
        <p:spPr>
          <a:xfrm>
            <a:off x="552635" y="2554165"/>
            <a:ext cx="30960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FFFFFF"/>
                </a:solidFill>
                <a:effectLst/>
                <a:latin typeface="neue-haas-grotesk-text"/>
              </a:rPr>
              <a:t>An overview of various forecasting models and their applications</a:t>
            </a:r>
            <a:endParaRPr lang="en-IN" sz="14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A37CC03-3DAC-F3C5-6EF3-5414972DC9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989337"/>
              </p:ext>
            </p:extLst>
          </p:nvPr>
        </p:nvGraphicFramePr>
        <p:xfrm>
          <a:off x="4942644" y="876792"/>
          <a:ext cx="6865396" cy="39824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869">
                  <a:extLst>
                    <a:ext uri="{9D8B030D-6E8A-4147-A177-3AD203B41FA5}">
                      <a16:colId xmlns:a16="http://schemas.microsoft.com/office/drawing/2014/main" val="3554797115"/>
                    </a:ext>
                  </a:extLst>
                </a:gridCol>
                <a:gridCol w="2379215">
                  <a:extLst>
                    <a:ext uri="{9D8B030D-6E8A-4147-A177-3AD203B41FA5}">
                      <a16:colId xmlns:a16="http://schemas.microsoft.com/office/drawing/2014/main" val="2893311068"/>
                    </a:ext>
                  </a:extLst>
                </a:gridCol>
                <a:gridCol w="1606858">
                  <a:extLst>
                    <a:ext uri="{9D8B030D-6E8A-4147-A177-3AD203B41FA5}">
                      <a16:colId xmlns:a16="http://schemas.microsoft.com/office/drawing/2014/main" val="1021915857"/>
                    </a:ext>
                  </a:extLst>
                </a:gridCol>
                <a:gridCol w="1545454">
                  <a:extLst>
                    <a:ext uri="{9D8B030D-6E8A-4147-A177-3AD203B41FA5}">
                      <a16:colId xmlns:a16="http://schemas.microsoft.com/office/drawing/2014/main" val="121092699"/>
                    </a:ext>
                  </a:extLst>
                </a:gridCol>
              </a:tblGrid>
              <a:tr h="64675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/>
                        <a:t>Model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lang="en-IN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Seasonality Handling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Required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Best For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501089"/>
                  </a:ext>
                </a:extLst>
              </a:tr>
              <a:tr h="87030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/>
                        <a:t>ARIMA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 series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General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6958764"/>
                  </a:ext>
                </a:extLst>
              </a:tr>
              <a:tr h="87030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/>
                        <a:t>SARIMA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Seasonal data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Seasonal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839069"/>
                  </a:ext>
                </a:extLst>
              </a:tr>
              <a:tr h="10199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Prophet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Historical data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Flexible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6538554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BD08C62-E458-29E3-E14A-7919F1BFF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5046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9D6EE"/>
            </a:gs>
            <a:gs pos="6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08DE47D7-5230-C54E-D90C-EABF000802DD}"/>
              </a:ext>
            </a:extLst>
          </p:cNvPr>
          <p:cNvSpPr/>
          <p:nvPr/>
        </p:nvSpPr>
        <p:spPr>
          <a:xfrm>
            <a:off x="0" y="-332"/>
            <a:ext cx="12192000" cy="194350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A9C2E06-58EA-B8FF-0F86-FC65468206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5"/>
          <a:stretch/>
        </p:blipFill>
        <p:spPr>
          <a:xfrm>
            <a:off x="783689" y="2171801"/>
            <a:ext cx="1095528" cy="106900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C167265-9E5F-2EBD-E193-1B967A28F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375" y="2171801"/>
            <a:ext cx="1057423" cy="10764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30AD24B-DF8E-88A1-9467-3B7A1FD76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9115" y="2181327"/>
            <a:ext cx="1086002" cy="106694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3C55076-0A13-F108-B2DE-DB93BD090DB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608"/>
          <a:stretch/>
        </p:blipFill>
        <p:spPr>
          <a:xfrm>
            <a:off x="7469113" y="2171801"/>
            <a:ext cx="1086002" cy="106695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4EC533D-CF39-2A55-53A6-37C656123C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110" y="2181327"/>
            <a:ext cx="1066949" cy="10764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B297403-060A-F325-B7E5-ECDCF602031D}"/>
              </a:ext>
            </a:extLst>
          </p:cNvPr>
          <p:cNvSpPr txBox="1"/>
          <p:nvPr/>
        </p:nvSpPr>
        <p:spPr>
          <a:xfrm>
            <a:off x="534896" y="299166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Summary of Demand Forecasting Models</a:t>
            </a:r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FAD9A6-D4E5-7C1C-150F-7079AD178F37}"/>
              </a:ext>
            </a:extLst>
          </p:cNvPr>
          <p:cNvSpPr txBox="1"/>
          <p:nvPr/>
        </p:nvSpPr>
        <p:spPr>
          <a:xfrm>
            <a:off x="534896" y="739642"/>
            <a:ext cx="6094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chemeClr val="bg1"/>
                </a:solidFill>
                <a:effectLst/>
                <a:latin typeface="neue-haas-grotesk-text"/>
              </a:rPr>
              <a:t>Key insights into demand forecasting models and their applications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58D8B2-8FB3-15FB-AD8F-18F53E0DEEC4}"/>
              </a:ext>
            </a:extLst>
          </p:cNvPr>
          <p:cNvSpPr txBox="1"/>
          <p:nvPr/>
        </p:nvSpPr>
        <p:spPr>
          <a:xfrm>
            <a:off x="668178" y="3420501"/>
            <a:ext cx="17200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80A29"/>
                </a:solidFill>
                <a:effectLst/>
                <a:latin typeface="neue-haas-grotesk-display"/>
              </a:rPr>
              <a:t>Recap the main purpose of each model.</a:t>
            </a:r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652FF9-F229-FCEA-6F45-4BBEB284D126}"/>
              </a:ext>
            </a:extLst>
          </p:cNvPr>
          <p:cNvSpPr txBox="1"/>
          <p:nvPr/>
        </p:nvSpPr>
        <p:spPr>
          <a:xfrm>
            <a:off x="2740293" y="3420501"/>
            <a:ext cx="21139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80A29"/>
                </a:solidFill>
                <a:effectLst/>
                <a:latin typeface="neue-haas-grotesk-display"/>
              </a:rPr>
              <a:t>Final thought: The best model depends on the specific problem at hand.</a:t>
            </a:r>
            <a:endParaRPr lang="en-I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FFE776C-2132-5449-4F90-ABD1E258BD2A}"/>
              </a:ext>
            </a:extLst>
          </p:cNvPr>
          <p:cNvSpPr txBox="1"/>
          <p:nvPr/>
        </p:nvSpPr>
        <p:spPr>
          <a:xfrm>
            <a:off x="5051411" y="3420501"/>
            <a:ext cx="15957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80A29"/>
                </a:solidFill>
                <a:effectLst/>
                <a:latin typeface="neue-haas-grotesk-display"/>
              </a:rPr>
              <a:t>Importance of understanding model strengths.</a:t>
            </a:r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0F93C2-4CDC-BDA8-28B8-E7A60AD8C553}"/>
              </a:ext>
            </a:extLst>
          </p:cNvPr>
          <p:cNvSpPr txBox="1"/>
          <p:nvPr/>
        </p:nvSpPr>
        <p:spPr>
          <a:xfrm>
            <a:off x="7321651" y="3420501"/>
            <a:ext cx="2466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80A29"/>
                </a:solidFill>
                <a:effectLst/>
                <a:latin typeface="neue-haas-grotesk-display"/>
              </a:rPr>
              <a:t>Consideration of data availability and quality.</a:t>
            </a:r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EA440ED-B986-FCD2-349C-87C10C85F86C}"/>
              </a:ext>
            </a:extLst>
          </p:cNvPr>
          <p:cNvSpPr txBox="1"/>
          <p:nvPr/>
        </p:nvSpPr>
        <p:spPr>
          <a:xfrm>
            <a:off x="9662595" y="3420500"/>
            <a:ext cx="2466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80A29"/>
                </a:solidFill>
                <a:effectLst/>
                <a:latin typeface="neue-haas-grotesk-display"/>
              </a:rPr>
              <a:t>Need for continuous model evaluation.</a:t>
            </a:r>
            <a:endParaRPr lang="en-I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D341B35-E330-FCFC-FD2A-45F96DD00FE9}"/>
              </a:ext>
            </a:extLst>
          </p:cNvPr>
          <p:cNvSpPr txBox="1"/>
          <p:nvPr/>
        </p:nvSpPr>
        <p:spPr>
          <a:xfrm>
            <a:off x="612108" y="4615284"/>
            <a:ext cx="18353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dirty="0">
                <a:solidFill>
                  <a:srgbClr val="080A29"/>
                </a:solidFill>
                <a:effectLst/>
                <a:latin typeface="neue-haas-grotesk-text"/>
              </a:rPr>
              <a:t>Each model serves a unique purpose in demand forecasting, enhancing accuracy and reliability.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FE12CD-AB1A-0366-EC26-56575B5D917F}"/>
              </a:ext>
            </a:extLst>
          </p:cNvPr>
          <p:cNvSpPr txBox="1"/>
          <p:nvPr/>
        </p:nvSpPr>
        <p:spPr>
          <a:xfrm>
            <a:off x="2700677" y="4615284"/>
            <a:ext cx="229527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dirty="0">
                <a:solidFill>
                  <a:srgbClr val="080A29"/>
                </a:solidFill>
                <a:effectLst/>
                <a:latin typeface="neue-haas-grotesk-text"/>
              </a:rPr>
              <a:t>Selecting the right model is crucial and should align with the specific forecasting challenge faced.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FCDE5D6-FFB7-D916-5E42-F89CBE839EE1}"/>
              </a:ext>
            </a:extLst>
          </p:cNvPr>
          <p:cNvSpPr txBox="1"/>
          <p:nvPr/>
        </p:nvSpPr>
        <p:spPr>
          <a:xfrm>
            <a:off x="5026379" y="4615284"/>
            <a:ext cx="229527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dirty="0">
                <a:solidFill>
                  <a:srgbClr val="080A29"/>
                </a:solidFill>
                <a:effectLst/>
                <a:latin typeface="neue-haas-grotesk-text"/>
              </a:rPr>
              <a:t>Selecting the right model is crucial and should align with the specific forecasting challenge faced.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DF01602-C4C5-D75E-59D8-6A991AA85B82}"/>
              </a:ext>
            </a:extLst>
          </p:cNvPr>
          <p:cNvSpPr txBox="1"/>
          <p:nvPr/>
        </p:nvSpPr>
        <p:spPr>
          <a:xfrm>
            <a:off x="7321651" y="4615284"/>
            <a:ext cx="21139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dirty="0">
                <a:solidFill>
                  <a:srgbClr val="080A29"/>
                </a:solidFill>
                <a:effectLst/>
                <a:latin typeface="neue-haas-grotesk-text"/>
              </a:rPr>
              <a:t>The choice of model may depend significantly on the quality and type of data available for analysis.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8F6F71F-80B7-DCB9-770B-279108B34A25}"/>
              </a:ext>
            </a:extLst>
          </p:cNvPr>
          <p:cNvSpPr txBox="1"/>
          <p:nvPr/>
        </p:nvSpPr>
        <p:spPr>
          <a:xfrm>
            <a:off x="9788578" y="4615284"/>
            <a:ext cx="248145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dirty="0">
                <a:solidFill>
                  <a:srgbClr val="080A29"/>
                </a:solidFill>
                <a:effectLst/>
                <a:latin typeface="neue-haas-grotesk-text"/>
              </a:rPr>
              <a:t>Regularly evaluating model performance is essential for maintaining forecasting accuracy over time.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602D674-5483-E2C4-4F8C-D878E83D0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8888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9D6EE"/>
            </a:gs>
            <a:gs pos="6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CB57F66-FC71-ABC2-1CEA-5789599E866A}"/>
              </a:ext>
            </a:extLst>
          </p:cNvPr>
          <p:cNvSpPr/>
          <p:nvPr/>
        </p:nvSpPr>
        <p:spPr>
          <a:xfrm>
            <a:off x="0" y="2689934"/>
            <a:ext cx="12192000" cy="416806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0" i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6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600" b="0" i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6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400" b="0" i="0" dirty="0">
              <a:solidFill>
                <a:srgbClr val="FFFFFF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algn="ctr"/>
            <a:r>
              <a:rPr lang="en-US" sz="2800" b="0" i="0" dirty="0">
                <a:solidFill>
                  <a:srgbClr val="FFFFFF"/>
                </a:solidFill>
                <a:effectLst/>
                <a:latin typeface="+mj-lt"/>
                <a:cs typeface="Arial" panose="020B0604020202020204" pitchFamily="34" charset="0"/>
              </a:rPr>
              <a:t>Assess your forecasting options and elevate your planning strategy</a:t>
            </a:r>
          </a:p>
          <a:p>
            <a:endParaRPr lang="en-US" sz="28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Evaluate the demand forecasting models discussed in this presentation to identify the most suitable approach for your organization. This assessment aims to improve your decision-making processes and enhance your strategic planning capabilities.</a:t>
            </a:r>
          </a:p>
          <a:p>
            <a:pPr algn="ctr"/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DEDCCF-7DC0-B2A8-C23C-F9AC43DAF2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133" y="115410"/>
            <a:ext cx="10604977" cy="3968317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8470CCF-CF56-D316-7B95-2655804D1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0506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310</TotalTime>
  <Words>1079</Words>
  <Application>Microsoft Macintosh PowerPoint</Application>
  <PresentationFormat>Widescreen</PresentationFormat>
  <Paragraphs>196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neue-haas-grotesk-display</vt:lpstr>
      <vt:lpstr>neue-haas-grotesk-text</vt:lpstr>
      <vt:lpstr>Office Theme</vt:lpstr>
      <vt:lpstr>Demand Forecasting Models: A Comparative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 S</dc:creator>
  <cp:lastModifiedBy>Lokesh  Gowda</cp:lastModifiedBy>
  <cp:revision>6</cp:revision>
  <dcterms:created xsi:type="dcterms:W3CDTF">2025-08-05T04:47:45Z</dcterms:created>
  <dcterms:modified xsi:type="dcterms:W3CDTF">2025-08-06T07:22:36Z</dcterms:modified>
</cp:coreProperties>
</file>