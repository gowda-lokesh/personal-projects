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dat" ContentType="application/x-fontdata"/>
  <Default Extension="bin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image10.bin" ContentType="image/jpe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media/image61.bin" ContentType="image/jpeg"/>
  <Override PartName="/ppt/media/image62.bin" ContentType="image/jpeg"/>
  <Override PartName="/ppt/media/image63.bin" ContentType="image/jpeg"/>
  <Override PartName="/ppt/media/image64.bin" ContentType="image/jpeg"/>
  <Override PartName="/ppt/slides/slide5.xml" ContentType="application/vnd.openxmlformats-officedocument.presentationml.slide+xml"/>
  <Override PartName="/ppt/media/image76.bin" ContentType="image/jpeg"/>
  <Override PartName="/ppt/media/image77.bin" ContentType="image/jpeg"/>
  <Override PartName="/ppt/media/image78.bin" ContentType="image/jpeg"/>
  <Override PartName="/ppt/media/image79.bin" ContentType="image/jpeg"/>
  <Override PartName="/ppt/slides/slide6.xml" ContentType="application/vnd.openxmlformats-officedocument.presentationml.slide+xml"/>
  <Override PartName="/ppt/media/image92.bin" ContentType="image/svg+xml"/>
  <Override PartName="/ppt/media/image95.bin" ContentType="image/svg+xml"/>
  <Override PartName="/ppt/media/image98.bin" ContentType="image/svg+xml"/>
  <Override PartName="/ppt/slides/slide7.xml" ContentType="application/vnd.openxmlformats-officedocument.presentationml.slide+xml"/>
  <Override PartName="/ppt/media/image114.bin" ContentType="image/jpeg"/>
  <Override PartName="/ppt/media/image117.bin" ContentType="image/jpeg"/>
  <Override PartName="/ppt/media/image120.bin" ContentType="image/jpeg"/>
  <Override PartName="/ppt/media/image123.bin" ContentType="image/jpe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187.bin" ContentType="image/svg+xml"/>
  <Override PartName="/ppt/media/image190.bin" ContentType="image/svg+xml"/>
  <Override PartName="/ppt/media/image193.bin" ContentType="image/svg+xml"/>
  <Override PartName="/ppt/slides/slide10.xml" ContentType="application/vnd.openxmlformats-officedocument.presentationml.slide+xml"/>
  <Override PartName="/ppt/media/image200.bin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72" r:id="rId1"/>
  </p:sldMasterIdLst>
  <p:sldIdLst>
    <p:sldId id="301" r:id="rId10"/>
    <p:sldId id="330" r:id="rId34"/>
    <p:sldId id="405" r:id="rId82"/>
    <p:sldId id="488" r:id="rId120"/>
    <p:sldId id="539" r:id="rId152"/>
    <p:sldId id="590" r:id="rId184"/>
    <p:sldId id="649" r:id="rId227"/>
    <p:sldId id="704" r:id="rId275"/>
    <p:sldId id="840" r:id="rId373"/>
    <p:sldId id="899" r:id="rId416"/>
  </p:sldIdLst>
  <p:sldSz cx="18288000" cy="10287000"/>
  <p:notesSz cx="18288000" cy="10287000"/>
  <p:embeddedFontLst>
    <p:embeddedFont>
      <p:font typeface="Inter SemiBold" pitchFamily="2" charset="77"/>
      <p:regular r:id="rId6"/>
    </p:embeddedFont>
    <p:embeddedFont>
      <p:font typeface="Inter" pitchFamily="2" charset="77"/>
      <p:regular r:id="rId7"/>
      <p:bold r:id="rId8"/>
    </p:embeddedFont>
    <p:embeddedFont>
      <p:font typeface="Archivo" pitchFamily="2" charset="77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font" Target="/ppt/fonts/font.dat" Id="rId6" /><Relationship Type="http://schemas.openxmlformats.org/officeDocument/2006/relationships/font" Target="/ppt/fonts/font2.dat" Id="rId7" /><Relationship Type="http://schemas.openxmlformats.org/officeDocument/2006/relationships/font" Target="/ppt/fonts/font3.dat" Id="rId8" /><Relationship Type="http://schemas.openxmlformats.org/officeDocument/2006/relationships/font" Target="/ppt/fonts/font4.dat" Id="rId9" /><Relationship Type="http://schemas.openxmlformats.org/officeDocument/2006/relationships/slide" Target="/ppt/slides/slide1.xml" Id="rId10" /><Relationship Type="http://schemas.openxmlformats.org/officeDocument/2006/relationships/slide" Target="/ppt/slides/slide2.xml" Id="rId34" /><Relationship Type="http://schemas.openxmlformats.org/officeDocument/2006/relationships/slide" Target="/ppt/slides/slide3.xml" Id="rId82" /><Relationship Type="http://schemas.openxmlformats.org/officeDocument/2006/relationships/slide" Target="/ppt/slides/slide4.xml" Id="rId120" /><Relationship Type="http://schemas.openxmlformats.org/officeDocument/2006/relationships/slide" Target="/ppt/slides/slide5.xml" Id="rId152" /><Relationship Type="http://schemas.openxmlformats.org/officeDocument/2006/relationships/slide" Target="/ppt/slides/slide6.xml" Id="rId184" /><Relationship Type="http://schemas.openxmlformats.org/officeDocument/2006/relationships/slide" Target="/ppt/slides/slide7.xml" Id="rId227" /><Relationship Type="http://schemas.openxmlformats.org/officeDocument/2006/relationships/slide" Target="/ppt/slides/slide8.xml" Id="rId275" /><Relationship Type="http://schemas.openxmlformats.org/officeDocument/2006/relationships/slide" Target="/ppt/slides/slide9.xml" Id="rId373" /><Relationship Type="http://schemas.openxmlformats.org/officeDocument/2006/relationships/slide" Target="/ppt/slides/slide10.xml" Id="rId416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1" /><Relationship Type="http://schemas.openxmlformats.org/officeDocument/2006/relationships/image" Target="/ppt/media/image.bin" Id="rId13" /><Relationship Type="http://schemas.openxmlformats.org/officeDocument/2006/relationships/image" Target="/ppt/media/image2.bin" Id="rId15" /><Relationship Type="http://schemas.openxmlformats.org/officeDocument/2006/relationships/image" Target="/ppt/media/image3.bin" Id="rId17" /><Relationship Type="http://schemas.openxmlformats.org/officeDocument/2006/relationships/image" Target="/ppt/media/image4.bin" Id="rId19" /><Relationship Type="http://schemas.openxmlformats.org/officeDocument/2006/relationships/image" Target="/ppt/media/image5.bin" Id="rId21" /><Relationship Type="http://schemas.openxmlformats.org/officeDocument/2006/relationships/image" Target="/ppt/media/image6.bin" Id="rId23" /><Relationship Type="http://schemas.openxmlformats.org/officeDocument/2006/relationships/image" Target="/ppt/media/image7.bin" Id="rId25" /><Relationship Type="http://schemas.openxmlformats.org/officeDocument/2006/relationships/image" Target="/ppt/media/image8.bin" Id="rId27" /><Relationship Type="http://schemas.openxmlformats.org/officeDocument/2006/relationships/image" Target="/ppt/media/image9.bin" Id="rId29" /><Relationship Type="http://schemas.openxmlformats.org/officeDocument/2006/relationships/image" Target="/ppt/media/image10.bin" Id="rId31" /><Relationship Type="http://schemas.openxmlformats.org/officeDocument/2006/relationships/image" Target="/ppt/media/image11.bin" Id="rId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5" /><Relationship Type="http://schemas.openxmlformats.org/officeDocument/2006/relationships/image" Target="/ppt/media/image12.bin" Id="rId37" /><Relationship Type="http://schemas.openxmlformats.org/officeDocument/2006/relationships/image" Target="/ppt/media/image13.bin" Id="rId39" /><Relationship Type="http://schemas.openxmlformats.org/officeDocument/2006/relationships/image" Target="/ppt/media/image14.bin" Id="rId41" /><Relationship Type="http://schemas.openxmlformats.org/officeDocument/2006/relationships/image" Target="/ppt/media/image15.bin" Id="rId43" /><Relationship Type="http://schemas.openxmlformats.org/officeDocument/2006/relationships/image" Target="/ppt/media/image16.bin" Id="rId45" /><Relationship Type="http://schemas.openxmlformats.org/officeDocument/2006/relationships/image" Target="/ppt/media/image17.bin" Id="rId47" /><Relationship Type="http://schemas.openxmlformats.org/officeDocument/2006/relationships/image" Target="/ppt/media/image18.bin" Id="rId49" /><Relationship Type="http://schemas.openxmlformats.org/officeDocument/2006/relationships/image" Target="/ppt/media/image19.bin" Id="rId51" /><Relationship Type="http://schemas.openxmlformats.org/officeDocument/2006/relationships/image" Target="/ppt/media/image20.bin" Id="rId53" /><Relationship Type="http://schemas.openxmlformats.org/officeDocument/2006/relationships/image" Target="/ppt/media/image21.bin" Id="rId55" /><Relationship Type="http://schemas.openxmlformats.org/officeDocument/2006/relationships/image" Target="/ppt/media/image22.bin" Id="rId57" /><Relationship Type="http://schemas.openxmlformats.org/officeDocument/2006/relationships/image" Target="/ppt/media/image23.bin" Id="rId59" /><Relationship Type="http://schemas.openxmlformats.org/officeDocument/2006/relationships/image" Target="/ppt/media/image24.bin" Id="rId61" /><Relationship Type="http://schemas.openxmlformats.org/officeDocument/2006/relationships/image" Target="/ppt/media/image25.bin" Id="rId63" /><Relationship Type="http://schemas.openxmlformats.org/officeDocument/2006/relationships/image" Target="/ppt/media/image26.bin" Id="rId65" /><Relationship Type="http://schemas.openxmlformats.org/officeDocument/2006/relationships/image" Target="/ppt/media/image27.bin" Id="rId67" /><Relationship Type="http://schemas.openxmlformats.org/officeDocument/2006/relationships/image" Target="/ppt/media/image28.bin" Id="rId69" /><Relationship Type="http://schemas.openxmlformats.org/officeDocument/2006/relationships/image" Target="/ppt/media/image29.bin" Id="rId71" /><Relationship Type="http://schemas.openxmlformats.org/officeDocument/2006/relationships/image" Target="/ppt/media/image30.bin" Id="rId73" /><Relationship Type="http://schemas.openxmlformats.org/officeDocument/2006/relationships/image" Target="/ppt/media/image31.bin" Id="rId75" /><Relationship Type="http://schemas.openxmlformats.org/officeDocument/2006/relationships/image" Target="/ppt/media/image32.bin" Id="rId77" /><Relationship Type="http://schemas.openxmlformats.org/officeDocument/2006/relationships/image" Target="/ppt/media/image33.bin" Id="rId79" /><Relationship Type="http://schemas.openxmlformats.org/officeDocument/2006/relationships/image" Target="/ppt/media/image34.bin" Id="rId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83" /><Relationship Type="http://schemas.openxmlformats.org/officeDocument/2006/relationships/image" Target="/ppt/media/image35.bin" Id="rId85" /><Relationship Type="http://schemas.openxmlformats.org/officeDocument/2006/relationships/image" Target="/ppt/media/image36.bin" Id="rId87" /><Relationship Type="http://schemas.openxmlformats.org/officeDocument/2006/relationships/image" Target="/ppt/media/image37.bin" Id="rId89" /><Relationship Type="http://schemas.openxmlformats.org/officeDocument/2006/relationships/image" Target="/ppt/media/image38.bin" Id="rId91" /><Relationship Type="http://schemas.openxmlformats.org/officeDocument/2006/relationships/image" Target="/ppt/media/image39.bin" Id="rId93" /><Relationship Type="http://schemas.openxmlformats.org/officeDocument/2006/relationships/image" Target="/ppt/media/image40.bin" Id="rId95" /><Relationship Type="http://schemas.openxmlformats.org/officeDocument/2006/relationships/image" Target="/ppt/media/image41.bin" Id="rId97" /><Relationship Type="http://schemas.openxmlformats.org/officeDocument/2006/relationships/image" Target="/ppt/media/image42.bin" Id="rId99" /><Relationship Type="http://schemas.openxmlformats.org/officeDocument/2006/relationships/image" Target="/ppt/media/image43.bin" Id="rId101" /><Relationship Type="http://schemas.openxmlformats.org/officeDocument/2006/relationships/image" Target="/ppt/media/image44.bin" Id="rId103" /><Relationship Type="http://schemas.openxmlformats.org/officeDocument/2006/relationships/image" Target="/ppt/media/image45.bin" Id="rId105" /><Relationship Type="http://schemas.openxmlformats.org/officeDocument/2006/relationships/image" Target="/ppt/media/image46.bin" Id="rId107" /><Relationship Type="http://schemas.openxmlformats.org/officeDocument/2006/relationships/image" Target="/ppt/media/image47.bin" Id="rId109" /><Relationship Type="http://schemas.openxmlformats.org/officeDocument/2006/relationships/image" Target="/ppt/media/image48.bin" Id="rId111" /><Relationship Type="http://schemas.openxmlformats.org/officeDocument/2006/relationships/image" Target="/ppt/media/image49.bin" Id="rId113" /><Relationship Type="http://schemas.openxmlformats.org/officeDocument/2006/relationships/image" Target="/ppt/media/image50.bin" Id="rId115" /><Relationship Type="http://schemas.openxmlformats.org/officeDocument/2006/relationships/image" Target="/ppt/media/image51.bin" Id="rId117" /><Relationship Type="http://schemas.openxmlformats.org/officeDocument/2006/relationships/image" Target="/ppt/media/image52.bin" Id="rId1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21" /><Relationship Type="http://schemas.openxmlformats.org/officeDocument/2006/relationships/image" Target="/ppt/media/image53.bin" Id="rId123" /><Relationship Type="http://schemas.openxmlformats.org/officeDocument/2006/relationships/image" Target="/ppt/media/image54.bin" Id="rId125" /><Relationship Type="http://schemas.openxmlformats.org/officeDocument/2006/relationships/image" Target="/ppt/media/image55.bin" Id="rId127" /><Relationship Type="http://schemas.openxmlformats.org/officeDocument/2006/relationships/image" Target="/ppt/media/image56.bin" Id="rId129" /><Relationship Type="http://schemas.openxmlformats.org/officeDocument/2006/relationships/image" Target="/ppt/media/image57.bin" Id="rId131" /><Relationship Type="http://schemas.openxmlformats.org/officeDocument/2006/relationships/image" Target="/ppt/media/image58.bin" Id="rId133" /><Relationship Type="http://schemas.openxmlformats.org/officeDocument/2006/relationships/image" Target="/ppt/media/image59.bin" Id="rId135" /><Relationship Type="http://schemas.openxmlformats.org/officeDocument/2006/relationships/image" Target="/ppt/media/image60.bin" Id="rId137" /><Relationship Type="http://schemas.openxmlformats.org/officeDocument/2006/relationships/image" Target="/ppt/media/image61.bin" Id="rId139" /><Relationship Type="http://schemas.openxmlformats.org/officeDocument/2006/relationships/image" Target="/ppt/media/image62.bin" Id="rId141" /><Relationship Type="http://schemas.openxmlformats.org/officeDocument/2006/relationships/image" Target="/ppt/media/image63.bin" Id="rId143" /><Relationship Type="http://schemas.openxmlformats.org/officeDocument/2006/relationships/image" Target="/ppt/media/image64.bin" Id="rId145" /><Relationship Type="http://schemas.openxmlformats.org/officeDocument/2006/relationships/image" Target="/ppt/media/image65.bin" Id="rId147" /><Relationship Type="http://schemas.openxmlformats.org/officeDocument/2006/relationships/image" Target="/ppt/media/image66.bin" Id="rId149" /><Relationship Type="http://schemas.openxmlformats.org/officeDocument/2006/relationships/image" Target="/ppt/media/image67.bin" Id="rId1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53" /><Relationship Type="http://schemas.openxmlformats.org/officeDocument/2006/relationships/image" Target="/ppt/media/image68.bin" Id="rId155" /><Relationship Type="http://schemas.openxmlformats.org/officeDocument/2006/relationships/image" Target="/ppt/media/image69.bin" Id="rId157" /><Relationship Type="http://schemas.openxmlformats.org/officeDocument/2006/relationships/image" Target="/ppt/media/image70.bin" Id="rId159" /><Relationship Type="http://schemas.openxmlformats.org/officeDocument/2006/relationships/image" Target="/ppt/media/image71.bin" Id="rId161" /><Relationship Type="http://schemas.openxmlformats.org/officeDocument/2006/relationships/image" Target="/ppt/media/image72.bin" Id="rId163" /><Relationship Type="http://schemas.openxmlformats.org/officeDocument/2006/relationships/image" Target="/ppt/media/image73.bin" Id="rId165" /><Relationship Type="http://schemas.openxmlformats.org/officeDocument/2006/relationships/image" Target="/ppt/media/image74.bin" Id="rId167" /><Relationship Type="http://schemas.openxmlformats.org/officeDocument/2006/relationships/image" Target="/ppt/media/image75.bin" Id="rId169" /><Relationship Type="http://schemas.openxmlformats.org/officeDocument/2006/relationships/image" Target="/ppt/media/image76.bin" Id="rId171" /><Relationship Type="http://schemas.openxmlformats.org/officeDocument/2006/relationships/image" Target="/ppt/media/image77.bin" Id="rId173" /><Relationship Type="http://schemas.openxmlformats.org/officeDocument/2006/relationships/image" Target="/ppt/media/image78.bin" Id="rId175" /><Relationship Type="http://schemas.openxmlformats.org/officeDocument/2006/relationships/image" Target="/ppt/media/image79.bin" Id="rId177" /><Relationship Type="http://schemas.openxmlformats.org/officeDocument/2006/relationships/image" Target="/ppt/media/image80.bin" Id="rId179" /><Relationship Type="http://schemas.openxmlformats.org/officeDocument/2006/relationships/image" Target="/ppt/media/image81.bin" Id="rId181" /><Relationship Type="http://schemas.openxmlformats.org/officeDocument/2006/relationships/image" Target="/ppt/media/image82.bin" Id="rId1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85" /><Relationship Type="http://schemas.openxmlformats.org/officeDocument/2006/relationships/image" Target="/ppt/media/image83.bin" Id="rId187" /><Relationship Type="http://schemas.openxmlformats.org/officeDocument/2006/relationships/image" Target="/ppt/media/image84.bin" Id="rId189" /><Relationship Type="http://schemas.openxmlformats.org/officeDocument/2006/relationships/image" Target="/ppt/media/image85.bin" Id="rId191" /><Relationship Type="http://schemas.openxmlformats.org/officeDocument/2006/relationships/image" Target="/ppt/media/image86.bin" Id="rId193" /><Relationship Type="http://schemas.openxmlformats.org/officeDocument/2006/relationships/image" Target="/ppt/media/image87.bin" Id="rId195" /><Relationship Type="http://schemas.openxmlformats.org/officeDocument/2006/relationships/image" Target="/ppt/media/image88.bin" Id="rId197" /><Relationship Type="http://schemas.openxmlformats.org/officeDocument/2006/relationships/image" Target="/ppt/media/image89.bin" Id="rId199" /><Relationship Type="http://schemas.openxmlformats.org/officeDocument/2006/relationships/image" Target="/ppt/media/image90.bin" Id="rId201" /><Relationship Type="http://schemas.openxmlformats.org/officeDocument/2006/relationships/image" Target="/ppt/media/image91.bin" Id="rId203" /><Relationship Type="http://schemas.openxmlformats.org/officeDocument/2006/relationships/image" Target="/ppt/media/image92.bin" Id="rId205" /><Relationship Type="http://schemas.openxmlformats.org/officeDocument/2006/relationships/image" Target="/ppt/media/image93.bin" Id="rId206" /><Relationship Type="http://schemas.openxmlformats.org/officeDocument/2006/relationships/image" Target="/ppt/media/image94.bin" Id="rId208" /><Relationship Type="http://schemas.openxmlformats.org/officeDocument/2006/relationships/image" Target="/ppt/media/image95.bin" Id="rId210" /><Relationship Type="http://schemas.openxmlformats.org/officeDocument/2006/relationships/image" Target="/ppt/media/image96.bin" Id="rId211" /><Relationship Type="http://schemas.openxmlformats.org/officeDocument/2006/relationships/image" Target="/ppt/media/image97.bin" Id="rId213" /><Relationship Type="http://schemas.openxmlformats.org/officeDocument/2006/relationships/image" Target="/ppt/media/image98.bin" Id="rId215" /><Relationship Type="http://schemas.openxmlformats.org/officeDocument/2006/relationships/image" Target="/ppt/media/image99.bin" Id="rId216" /><Relationship Type="http://schemas.openxmlformats.org/officeDocument/2006/relationships/image" Target="/ppt/media/image100.bin" Id="rId218" /><Relationship Type="http://schemas.openxmlformats.org/officeDocument/2006/relationships/image" Target="/ppt/media/image101.bin" Id="rId220" /><Relationship Type="http://schemas.openxmlformats.org/officeDocument/2006/relationships/image" Target="/ppt/media/image102.bin" Id="rId222" /><Relationship Type="http://schemas.openxmlformats.org/officeDocument/2006/relationships/image" Target="/ppt/media/image103.bin" Id="rId224" /><Relationship Type="http://schemas.openxmlformats.org/officeDocument/2006/relationships/image" Target="/ppt/media/image104.bin" Id="rId2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28" /><Relationship Type="http://schemas.openxmlformats.org/officeDocument/2006/relationships/image" Target="/ppt/media/image105.bin" Id="rId230" /><Relationship Type="http://schemas.openxmlformats.org/officeDocument/2006/relationships/image" Target="/ppt/media/image106.bin" Id="rId232" /><Relationship Type="http://schemas.openxmlformats.org/officeDocument/2006/relationships/image" Target="/ppt/media/image107.bin" Id="rId234" /><Relationship Type="http://schemas.openxmlformats.org/officeDocument/2006/relationships/image" Target="/ppt/media/image108.bin" Id="rId236" /><Relationship Type="http://schemas.openxmlformats.org/officeDocument/2006/relationships/image" Target="/ppt/media/image109.bin" Id="rId238" /><Relationship Type="http://schemas.openxmlformats.org/officeDocument/2006/relationships/image" Target="/ppt/media/image110.bin" Id="rId240" /><Relationship Type="http://schemas.openxmlformats.org/officeDocument/2006/relationships/image" Target="/ppt/media/image111.bin" Id="rId242" /><Relationship Type="http://schemas.openxmlformats.org/officeDocument/2006/relationships/image" Target="/ppt/media/image112.bin" Id="rId244" /><Relationship Type="http://schemas.openxmlformats.org/officeDocument/2006/relationships/image" Target="/ppt/media/image113.bin" Id="rId246" /><Relationship Type="http://schemas.openxmlformats.org/officeDocument/2006/relationships/image" Target="/ppt/media/image114.bin" Id="rId248" /><Relationship Type="http://schemas.openxmlformats.org/officeDocument/2006/relationships/image" Target="/ppt/media/image115.bin" Id="rId250" /><Relationship Type="http://schemas.openxmlformats.org/officeDocument/2006/relationships/image" Target="/ppt/media/image116.bin" Id="rId252" /><Relationship Type="http://schemas.openxmlformats.org/officeDocument/2006/relationships/image" Target="/ppt/media/image117.bin" Id="rId254" /><Relationship Type="http://schemas.openxmlformats.org/officeDocument/2006/relationships/image" Target="/ppt/media/image118.bin" Id="rId256" /><Relationship Type="http://schemas.openxmlformats.org/officeDocument/2006/relationships/image" Target="/ppt/media/image119.bin" Id="rId258" /><Relationship Type="http://schemas.openxmlformats.org/officeDocument/2006/relationships/image" Target="/ppt/media/image120.bin" Id="rId260" /><Relationship Type="http://schemas.openxmlformats.org/officeDocument/2006/relationships/image" Target="/ppt/media/image121.bin" Id="rId262" /><Relationship Type="http://schemas.openxmlformats.org/officeDocument/2006/relationships/image" Target="/ppt/media/image122.bin" Id="rId264" /><Relationship Type="http://schemas.openxmlformats.org/officeDocument/2006/relationships/image" Target="/ppt/media/image123.bin" Id="rId266" /><Relationship Type="http://schemas.openxmlformats.org/officeDocument/2006/relationships/image" Target="/ppt/media/image124.bin" Id="rId268" /><Relationship Type="http://schemas.openxmlformats.org/officeDocument/2006/relationships/image" Target="/ppt/media/image125.bin" Id="rId270" /><Relationship Type="http://schemas.openxmlformats.org/officeDocument/2006/relationships/image" Target="/ppt/media/image126.bin" Id="rId272" /><Relationship Type="http://schemas.openxmlformats.org/officeDocument/2006/relationships/image" Target="/ppt/media/image127.bin" Id="rId2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76" /><Relationship Type="http://schemas.openxmlformats.org/officeDocument/2006/relationships/image" Target="/ppt/media/image128.bin" Id="rId278" /><Relationship Type="http://schemas.openxmlformats.org/officeDocument/2006/relationships/image" Target="/ppt/media/image129.bin" Id="rId280" /><Relationship Type="http://schemas.openxmlformats.org/officeDocument/2006/relationships/image" Target="/ppt/media/image130.bin" Id="rId282" /><Relationship Type="http://schemas.openxmlformats.org/officeDocument/2006/relationships/image" Target="/ppt/media/image131.bin" Id="rId284" /><Relationship Type="http://schemas.openxmlformats.org/officeDocument/2006/relationships/image" Target="/ppt/media/image132.bin" Id="rId286" /><Relationship Type="http://schemas.openxmlformats.org/officeDocument/2006/relationships/image" Target="/ppt/media/image133.bin" Id="rId288" /><Relationship Type="http://schemas.openxmlformats.org/officeDocument/2006/relationships/image" Target="/ppt/media/image134.bin" Id="rId290" /><Relationship Type="http://schemas.openxmlformats.org/officeDocument/2006/relationships/image" Target="/ppt/media/image135.bin" Id="rId292" /><Relationship Type="http://schemas.openxmlformats.org/officeDocument/2006/relationships/image" Target="/ppt/media/image136.bin" Id="rId294" /><Relationship Type="http://schemas.openxmlformats.org/officeDocument/2006/relationships/image" Target="/ppt/media/image137.bin" Id="rId296" /><Relationship Type="http://schemas.openxmlformats.org/officeDocument/2006/relationships/image" Target="/ppt/media/image138.bin" Id="rId298" /><Relationship Type="http://schemas.openxmlformats.org/officeDocument/2006/relationships/image" Target="/ppt/media/image139.bin" Id="rId300" /><Relationship Type="http://schemas.openxmlformats.org/officeDocument/2006/relationships/image" Target="/ppt/media/image140.bin" Id="rId302" /><Relationship Type="http://schemas.openxmlformats.org/officeDocument/2006/relationships/image" Target="/ppt/media/image141.bin" Id="rId304" /><Relationship Type="http://schemas.openxmlformats.org/officeDocument/2006/relationships/image" Target="/ppt/media/image142.bin" Id="rId306" /><Relationship Type="http://schemas.openxmlformats.org/officeDocument/2006/relationships/image" Target="/ppt/media/image143.bin" Id="rId308" /><Relationship Type="http://schemas.openxmlformats.org/officeDocument/2006/relationships/image" Target="/ppt/media/image144.bin" Id="rId310" /><Relationship Type="http://schemas.openxmlformats.org/officeDocument/2006/relationships/image" Target="/ppt/media/image145.bin" Id="rId312" /><Relationship Type="http://schemas.openxmlformats.org/officeDocument/2006/relationships/image" Target="/ppt/media/image146.bin" Id="rId314" /><Relationship Type="http://schemas.openxmlformats.org/officeDocument/2006/relationships/image" Target="/ppt/media/image147.bin" Id="rId316" /><Relationship Type="http://schemas.openxmlformats.org/officeDocument/2006/relationships/image" Target="/ppt/media/image148.bin" Id="rId318" /><Relationship Type="http://schemas.openxmlformats.org/officeDocument/2006/relationships/image" Target="/ppt/media/image149.bin" Id="rId320" /><Relationship Type="http://schemas.openxmlformats.org/officeDocument/2006/relationships/image" Target="/ppt/media/image150.bin" Id="rId322" /><Relationship Type="http://schemas.openxmlformats.org/officeDocument/2006/relationships/image" Target="/ppt/media/image151.bin" Id="rId324" /><Relationship Type="http://schemas.openxmlformats.org/officeDocument/2006/relationships/image" Target="/ppt/media/image152.bin" Id="rId326" /><Relationship Type="http://schemas.openxmlformats.org/officeDocument/2006/relationships/image" Target="/ppt/media/image153.bin" Id="rId328" /><Relationship Type="http://schemas.openxmlformats.org/officeDocument/2006/relationships/image" Target="/ppt/media/image154.bin" Id="rId330" /><Relationship Type="http://schemas.openxmlformats.org/officeDocument/2006/relationships/image" Target="/ppt/media/image155.bin" Id="rId332" /><Relationship Type="http://schemas.openxmlformats.org/officeDocument/2006/relationships/image" Target="/ppt/media/image156.bin" Id="rId334" /><Relationship Type="http://schemas.openxmlformats.org/officeDocument/2006/relationships/image" Target="/ppt/media/image157.bin" Id="rId336" /><Relationship Type="http://schemas.openxmlformats.org/officeDocument/2006/relationships/image" Target="/ppt/media/image158.bin" Id="rId338" /><Relationship Type="http://schemas.openxmlformats.org/officeDocument/2006/relationships/image" Target="/ppt/media/image159.bin" Id="rId340" /><Relationship Type="http://schemas.openxmlformats.org/officeDocument/2006/relationships/image" Target="/ppt/media/image160.bin" Id="rId342" /><Relationship Type="http://schemas.openxmlformats.org/officeDocument/2006/relationships/image" Target="/ppt/media/image161.bin" Id="rId344" /><Relationship Type="http://schemas.openxmlformats.org/officeDocument/2006/relationships/image" Target="/ppt/media/image162.bin" Id="rId346" /><Relationship Type="http://schemas.openxmlformats.org/officeDocument/2006/relationships/image" Target="/ppt/media/image163.bin" Id="rId348" /><Relationship Type="http://schemas.openxmlformats.org/officeDocument/2006/relationships/image" Target="/ppt/media/image164.bin" Id="rId350" /><Relationship Type="http://schemas.openxmlformats.org/officeDocument/2006/relationships/image" Target="/ppt/media/image165.bin" Id="rId352" /><Relationship Type="http://schemas.openxmlformats.org/officeDocument/2006/relationships/image" Target="/ppt/media/image166.bin" Id="rId354" /><Relationship Type="http://schemas.openxmlformats.org/officeDocument/2006/relationships/image" Target="/ppt/media/image167.bin" Id="rId356" /><Relationship Type="http://schemas.openxmlformats.org/officeDocument/2006/relationships/image" Target="/ppt/media/image168.bin" Id="rId358" /><Relationship Type="http://schemas.openxmlformats.org/officeDocument/2006/relationships/image" Target="/ppt/media/image169.bin" Id="rId360" /><Relationship Type="http://schemas.openxmlformats.org/officeDocument/2006/relationships/image" Target="/ppt/media/image170.bin" Id="rId362" /><Relationship Type="http://schemas.openxmlformats.org/officeDocument/2006/relationships/image" Target="/ppt/media/image171.bin" Id="rId364" /><Relationship Type="http://schemas.openxmlformats.org/officeDocument/2006/relationships/image" Target="/ppt/media/image172.bin" Id="rId366" /><Relationship Type="http://schemas.openxmlformats.org/officeDocument/2006/relationships/image" Target="/ppt/media/image173.bin" Id="rId368" /><Relationship Type="http://schemas.openxmlformats.org/officeDocument/2006/relationships/image" Target="/ppt/media/image174.bin" Id="rId370" /><Relationship Type="http://schemas.openxmlformats.org/officeDocument/2006/relationships/image" Target="/ppt/media/image175.bin" Id="rId3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74" /><Relationship Type="http://schemas.openxmlformats.org/officeDocument/2006/relationships/image" Target="/ppt/media/image176.bin" Id="rId376" /><Relationship Type="http://schemas.openxmlformats.org/officeDocument/2006/relationships/image" Target="/ppt/media/image177.bin" Id="rId378" /><Relationship Type="http://schemas.openxmlformats.org/officeDocument/2006/relationships/image" Target="/ppt/media/image178.bin" Id="rId380" /><Relationship Type="http://schemas.openxmlformats.org/officeDocument/2006/relationships/image" Target="/ppt/media/image179.bin" Id="rId382" /><Relationship Type="http://schemas.openxmlformats.org/officeDocument/2006/relationships/image" Target="/ppt/media/image180.bin" Id="rId384" /><Relationship Type="http://schemas.openxmlformats.org/officeDocument/2006/relationships/image" Target="/ppt/media/image181.bin" Id="rId386" /><Relationship Type="http://schemas.openxmlformats.org/officeDocument/2006/relationships/image" Target="/ppt/media/image182.bin" Id="rId388" /><Relationship Type="http://schemas.openxmlformats.org/officeDocument/2006/relationships/image" Target="/ppt/media/image183.bin" Id="rId390" /><Relationship Type="http://schemas.openxmlformats.org/officeDocument/2006/relationships/image" Target="/ppt/media/image184.bin" Id="rId392" /><Relationship Type="http://schemas.openxmlformats.org/officeDocument/2006/relationships/image" Target="/ppt/media/image185.bin" Id="rId394" /><Relationship Type="http://schemas.openxmlformats.org/officeDocument/2006/relationships/image" Target="/ppt/media/image186.bin" Id="rId396" /><Relationship Type="http://schemas.openxmlformats.org/officeDocument/2006/relationships/image" Target="/ppt/media/image187.bin" Id="rId398" /><Relationship Type="http://schemas.openxmlformats.org/officeDocument/2006/relationships/image" Target="/ppt/media/image188.bin" Id="rId399" /><Relationship Type="http://schemas.openxmlformats.org/officeDocument/2006/relationships/image" Target="/ppt/media/image189.bin" Id="rId401" /><Relationship Type="http://schemas.openxmlformats.org/officeDocument/2006/relationships/image" Target="/ppt/media/image190.bin" Id="rId403" /><Relationship Type="http://schemas.openxmlformats.org/officeDocument/2006/relationships/image" Target="/ppt/media/image191.bin" Id="rId404" /><Relationship Type="http://schemas.openxmlformats.org/officeDocument/2006/relationships/image" Target="/ppt/media/image192.bin" Id="rId406" /><Relationship Type="http://schemas.openxmlformats.org/officeDocument/2006/relationships/image" Target="/ppt/media/image193.bin" Id="rId408" /><Relationship Type="http://schemas.openxmlformats.org/officeDocument/2006/relationships/image" Target="/ppt/media/image194.bin" Id="rId409" /><Relationship Type="http://schemas.openxmlformats.org/officeDocument/2006/relationships/image" Target="/ppt/media/image195.bin" Id="rId411" /><Relationship Type="http://schemas.openxmlformats.org/officeDocument/2006/relationships/image" Target="/ppt/media/image196.bin" Id="rId413" /><Relationship Type="http://schemas.openxmlformats.org/officeDocument/2006/relationships/image" Target="/ppt/media/image197.bin" Id="rId4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17" /><Relationship Type="http://schemas.openxmlformats.org/officeDocument/2006/relationships/image" Target="/ppt/media/image198.bin" Id="rId419" /><Relationship Type="http://schemas.openxmlformats.org/officeDocument/2006/relationships/image" Target="/ppt/media/image199.bin" Id="rId421" /><Relationship Type="http://schemas.openxmlformats.org/officeDocument/2006/relationships/image" Target="/ppt/media/image200.bin" Id="rId423" /><Relationship Type="http://schemas.openxmlformats.org/officeDocument/2006/relationships/image" Target="/ppt/media/image201.bin" Id="rId425" /><Relationship Type="http://schemas.openxmlformats.org/officeDocument/2006/relationships/image" Target="/ppt/media/image202.bin" Id="rId427" /><Relationship Type="http://schemas.openxmlformats.org/officeDocument/2006/relationships/image" Target="/ppt/media/image203.bin" Id="rId429" /><Relationship Type="http://schemas.openxmlformats.org/officeDocument/2006/relationships/image" Target="/ppt/media/image204.bin" Id="rId431" /><Relationship Type="http://schemas.openxmlformats.org/officeDocument/2006/relationships/image" Target="/ppt/media/image205.bin" Id="rId433" /><Relationship Type="http://schemas.openxmlformats.org/officeDocument/2006/relationships/image" Target="/ppt/media/image206.bin" Id="rId435" /><Relationship Type="http://schemas.openxmlformats.org/officeDocument/2006/relationships/image" Target="/ppt/media/image207.bin" Id="rId437" /><Relationship Type="http://schemas.openxmlformats.org/officeDocument/2006/relationships/image" Target="/ppt/media/image208.bin" Id="rId439" /><Relationship Type="http://schemas.openxmlformats.org/officeDocument/2006/relationships/image" Target="/ppt/media/image209.bin" Id="rId441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alphaModFix amt="100000"/>
          </a:blip>
          <a:stretch/>
        </p:blipFill>
        <p:spPr>
          <a:xfrm>
            <a:off x="2286000" y="0"/>
            <a:ext cx="9525" cy="10287000"/>
          </a:xfrm>
          <a:prstGeom prst="rect">
            <a:avLst/>
          </a:prstGeom>
        </p:spPr>
      </p:pic>
      <p:pic>
        <p:nvPicPr>
          <p:cNvPr id="3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alphaModFix amt="100000"/>
          </a:blip>
          <a:stretch/>
        </p:blipFill>
        <p:spPr>
          <a:xfrm>
            <a:off x="4572000" y="0"/>
            <a:ext cx="9525" cy="10287000"/>
          </a:xfrm>
          <a:prstGeom prst="rect">
            <a:avLst/>
          </a:prstGeom>
        </p:spPr>
      </p:pic>
      <p:pic>
        <p:nvPicPr>
          <p:cNvPr id="3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alphaModFix amt="100000"/>
          </a:blip>
          <a:stretch/>
        </p:blipFill>
        <p:spPr>
          <a:xfrm>
            <a:off x="6858000" y="0"/>
            <a:ext cx="9525" cy="10287000"/>
          </a:xfrm>
          <a:prstGeom prst="rect">
            <a:avLst/>
          </a:prstGeom>
        </p:spPr>
      </p:pic>
      <p:pic>
        <p:nvPicPr>
          <p:cNvPr id="3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alphaModFix amt="100000"/>
          </a:blip>
          <a:stretch/>
        </p:blipFill>
        <p:spPr>
          <a:xfrm>
            <a:off x="9144000" y="0"/>
            <a:ext cx="9525" cy="10287000"/>
          </a:xfrm>
          <a:prstGeom prst="rect">
            <a:avLst/>
          </a:prstGeom>
        </p:spPr>
      </p:pic>
      <p:pic>
        <p:nvPicPr>
          <p:cNvPr id="3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alphaModFix amt="100000"/>
          </a:blip>
          <a:stretch/>
        </p:blipFill>
        <p:spPr>
          <a:xfrm>
            <a:off x="11430000" y="0"/>
            <a:ext cx="9525" cy="10287000"/>
          </a:xfrm>
          <a:prstGeom prst="rect">
            <a:avLst/>
          </a:prstGeom>
        </p:spPr>
      </p:pic>
      <p:pic>
        <p:nvPicPr>
          <p:cNvPr id="3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alphaModFix amt="100000"/>
          </a:blip>
          <a:stretch/>
        </p:blipFill>
        <p:spPr>
          <a:xfrm>
            <a:off x="13716000" y="0"/>
            <a:ext cx="9525" cy="10287000"/>
          </a:xfrm>
          <a:prstGeom prst="rect">
            <a:avLst/>
          </a:prstGeom>
        </p:spPr>
      </p:pic>
      <p:pic>
        <p:nvPicPr>
          <p:cNvPr id="3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alphaModFix amt="100000"/>
          </a:blip>
          <a:stretch/>
        </p:blipFill>
        <p:spPr>
          <a:xfrm>
            <a:off x="16002000" y="0"/>
            <a:ext cx="9525" cy="10287000"/>
          </a:xfrm>
          <a:prstGeom prst="rect">
            <a:avLst/>
          </a:prstGeom>
        </p:spPr>
      </p:pic>
      <p:pic>
        <p:nvPicPr>
          <p:cNvPr id="3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alphaModFix amt="100000"/>
          </a:blip>
          <a:stretch/>
        </p:blipFill>
        <p:spPr>
          <a:xfrm>
            <a:off x="9144000" y="8001286"/>
            <a:ext cx="2286000" cy="2286000"/>
          </a:xfrm>
          <a:prstGeom prst="rect">
            <a:avLst/>
          </a:prstGeom>
        </p:spPr>
      </p:pic>
      <p:pic>
        <p:nvPicPr>
          <p:cNvPr id="319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1">
            <a:alphaModFix amt="100000"/>
          </a:blip>
          <a:stretch/>
        </p:blipFill>
        <p:spPr>
          <a:xfrm>
            <a:off x="11448288" y="1143000"/>
            <a:ext cx="4552950" cy="9144000"/>
          </a:xfrm>
          <a:prstGeom prst="rect">
            <a:avLst/>
          </a:prstGeom>
        </p:spPr>
      </p:pic>
      <p:sp>
        <p:nvSpPr>
          <p:cNvPr id="321" name="Presenter Name-48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7415498"/>
            <a:ext cx="8320088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1E55EB">
                    <a:alpha val="100000"/>
                  </a:srgbClr>
                </a:solidFill>
                <a:latin typeface="Inter SemiBold" panose="00000700000000000000" pitchFamily="2" charset="0"/>
              </a:rPr>
              <a:t>Lokesh </a:t>
            </a:r>
          </a:p>
        </p:txBody>
      </p:sp>
      <p:sp>
        <p:nvSpPr>
          <p:cNvPr id="32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2804827"/>
            <a:ext cx="8434388" cy="2781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68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Demystifying Machine Learning Models: Regression and Ensemble Methods for Business Impact in 2025</a:t>
            </a:r>
          </a:p>
        </p:txBody>
      </p:sp>
      <p:sp>
        <p:nvSpPr>
          <p:cNvPr id="32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6168962"/>
            <a:ext cx="843438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A practical guide to understanding regression, decision trees, and ensemble methods to drive informed business decisions in 2025</a:t>
            </a:r>
          </a:p>
        </p:txBody>
      </p:sp>
      <p:pic>
        <p:nvPicPr>
          <p:cNvPr id="3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alphaModFix amt="100000"/>
          </a:blip>
          <a:stretch/>
        </p:blipFill>
        <p:spPr>
          <a:xfrm>
            <a:off x="2286000" y="5843302"/>
            <a:ext cx="1143000" cy="5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p:transition spd="med" p14:dur="700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04" dur="12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06" dur="12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08" dur="12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10" dur="12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12" dur="12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14" dur="12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16" dur="12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1.1302807E-06 L 0 1.1302807E-06 E" pathEditMode="relative" ptsTypes="">
                                      <p:cBhvr>
                                        <p:cTn id="318" dur="12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2604262 0 L 9.536743E-07 0 E" pathEditMode="relative" ptsTypes="">
                                      <p:cBhvr>
                                        <p:cTn id="320" dur="6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26041666 1.1302807E-06 L 0 1.1302807E-06 E" pathEditMode="relative" ptsTypes="">
                                      <p:cBhvr>
                                        <p:cTn id="322" dur="6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26041666 -1.1585377E-06 L 0 -1.1585377E-06 E" pathEditMode="relative" ptsTypes="">
                                      <p:cBhvr>
                                        <p:cTn id="324" dur="6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26041666 -3.447356E-06 L 0 -3.447356E-06 E" pathEditMode="relative" ptsTypes="">
                                      <p:cBhvr>
                                        <p:cTn id="326" dur="6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26041666 -1.1302807E-06 L 0 -1.1302807E-06 E" pathEditMode="relative" ptsTypes="">
                                      <p:cBhvr>
                                        <p:cTn id="328" dur="6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/>
      <p:bldP spid="303" grpId="0"/>
      <p:bldP spid="305" grpId="0"/>
      <p:bldP spid="305" grpId="0"/>
      <p:bldP spid="307" grpId="0"/>
      <p:bldP spid="307" grpId="0"/>
      <p:bldP spid="309" grpId="0"/>
      <p:bldP spid="309" grpId="0"/>
      <p:bldP spid="311" grpId="0"/>
      <p:bldP spid="311" grpId="0"/>
      <p:bldP spid="313" grpId="0"/>
      <p:bldP spid="313" grpId="0"/>
      <p:bldP spid="315" grpId="0"/>
      <p:bldP spid="315" grpId="0"/>
      <p:bldP spid="317" grpId="0"/>
      <p:bldP spid="317" grpId="0"/>
      <p:bldP spid="319" grpId="0"/>
      <p:bldP spid="319" grpId="0"/>
      <p:bldP spid="321" grpId="0"/>
      <p:bldP spid="321" grpId="0"/>
      <p:bldP spid="323" grpId="0"/>
      <p:bldP spid="323" grpId="0"/>
      <p:bldP spid="325" grpId="0"/>
      <p:bldP spid="325" grpId="0"/>
      <p:bldP spid="327" grpId="0"/>
      <p:bldP spid="327" grpId="0"/>
    </p:bldLst>
  </p:timing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alphaModFix amt="100000"/>
          </a:blip>
          <a:stretch/>
        </p:blipFill>
        <p:spPr>
          <a:xfrm>
            <a:off x="2286000" y="0"/>
            <a:ext cx="9525" cy="10287000"/>
          </a:xfrm>
          <a:prstGeom prst="rect">
            <a:avLst/>
          </a:prstGeom>
        </p:spPr>
      </p:pic>
      <p:pic>
        <p:nvPicPr>
          <p:cNvPr id="3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">
            <a:alphaModFix amt="100000"/>
          </a:blip>
          <a:stretch/>
        </p:blipFill>
        <p:spPr>
          <a:xfrm>
            <a:off x="4572000" y="0"/>
            <a:ext cx="9525" cy="10287000"/>
          </a:xfrm>
          <a:prstGeom prst="rect">
            <a:avLst/>
          </a:prstGeom>
        </p:spPr>
      </p:pic>
      <p:pic>
        <p:nvPicPr>
          <p:cNvPr id="3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alphaModFix amt="100000"/>
          </a:blip>
          <a:stretch/>
        </p:blipFill>
        <p:spPr>
          <a:xfrm>
            <a:off x="6858000" y="0"/>
            <a:ext cx="9525" cy="10287000"/>
          </a:xfrm>
          <a:prstGeom prst="rect">
            <a:avLst/>
          </a:prstGeom>
        </p:spPr>
      </p:pic>
      <p:pic>
        <p:nvPicPr>
          <p:cNvPr id="3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alphaModFix amt="100000"/>
          </a:blip>
          <a:stretch/>
        </p:blipFill>
        <p:spPr>
          <a:xfrm>
            <a:off x="9144000" y="0"/>
            <a:ext cx="9525" cy="10287000"/>
          </a:xfrm>
          <a:prstGeom prst="rect">
            <a:avLst/>
          </a:prstGeom>
        </p:spPr>
      </p:pic>
      <p:pic>
        <p:nvPicPr>
          <p:cNvPr id="3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">
            <a:alphaModFix amt="100000"/>
          </a:blip>
          <a:stretch/>
        </p:blipFill>
        <p:spPr>
          <a:xfrm>
            <a:off x="11430000" y="0"/>
            <a:ext cx="9525" cy="10287000"/>
          </a:xfrm>
          <a:prstGeom prst="rect">
            <a:avLst/>
          </a:prstGeom>
        </p:spPr>
      </p:pic>
      <p:pic>
        <p:nvPicPr>
          <p:cNvPr id="3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alphaModFix amt="100000"/>
          </a:blip>
          <a:stretch/>
        </p:blipFill>
        <p:spPr>
          <a:xfrm>
            <a:off x="13716000" y="0"/>
            <a:ext cx="9525" cy="10287000"/>
          </a:xfrm>
          <a:prstGeom prst="rect">
            <a:avLst/>
          </a:prstGeom>
        </p:spPr>
      </p:pic>
      <p:pic>
        <p:nvPicPr>
          <p:cNvPr id="3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">
            <a:alphaModFix amt="100000"/>
          </a:blip>
          <a:stretch/>
        </p:blipFill>
        <p:spPr>
          <a:xfrm>
            <a:off x="16002000" y="0"/>
            <a:ext cx="9525" cy="10287000"/>
          </a:xfrm>
          <a:prstGeom prst="rect">
            <a:avLst/>
          </a:prstGeom>
        </p:spPr>
      </p:pic>
      <p:pic>
        <p:nvPicPr>
          <p:cNvPr id="3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">
            <a:alphaModFix amt="100000"/>
          </a:blip>
          <a:stretch/>
        </p:blipFill>
        <p:spPr>
          <a:xfrm>
            <a:off x="2286000" y="3387947"/>
            <a:ext cx="15240000" cy="809625"/>
          </a:xfrm>
          <a:prstGeom prst="rect">
            <a:avLst/>
          </a:prstGeom>
        </p:spPr>
      </p:pic>
      <p:pic>
        <p:nvPicPr>
          <p:cNvPr id="3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">
            <a:alphaModFix amt="100000"/>
          </a:blip>
          <a:stretch/>
        </p:blipFill>
        <p:spPr>
          <a:xfrm>
            <a:off x="2514600" y="3616547"/>
            <a:ext cx="342900" cy="342900"/>
          </a:xfrm>
          <a:prstGeom prst="rect">
            <a:avLst/>
          </a:prstGeom>
        </p:spPr>
      </p:pic>
      <p:sp>
        <p:nvSpPr>
          <p:cNvPr id="350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632329" y="3633597"/>
            <a:ext cx="13811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1</a:t>
            </a:r>
          </a:p>
        </p:txBody>
      </p:sp>
      <p:sp>
        <p:nvSpPr>
          <p:cNvPr id="35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48000" y="3616547"/>
            <a:ext cx="142827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2E2E2E">
                    <a:alpha val="100000"/>
                  </a:srgbClr>
                </a:solidFill>
                <a:latin typeface="Inter" panose="00000700000000000000" pitchFamily="2" charset="0"/>
              </a:rPr>
              <a:t>Understand core ML models for business decisions</a:t>
            </a:r>
          </a:p>
        </p:txBody>
      </p:sp>
      <p:pic>
        <p:nvPicPr>
          <p:cNvPr id="3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">
            <a:alphaModFix amt="100000"/>
          </a:blip>
          <a:stretch/>
        </p:blipFill>
        <p:spPr>
          <a:xfrm>
            <a:off x="2286000" y="4354068"/>
            <a:ext cx="15240000" cy="809625"/>
          </a:xfrm>
          <a:prstGeom prst="rect">
            <a:avLst/>
          </a:prstGeom>
        </p:spPr>
      </p:pic>
      <p:pic>
        <p:nvPicPr>
          <p:cNvPr id="3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alphaModFix amt="100000"/>
          </a:blip>
          <a:stretch/>
        </p:blipFill>
        <p:spPr>
          <a:xfrm>
            <a:off x="2514600" y="4582668"/>
            <a:ext cx="342900" cy="342900"/>
          </a:xfrm>
          <a:prstGeom prst="rect">
            <a:avLst/>
          </a:prstGeom>
        </p:spPr>
      </p:pic>
      <p:sp>
        <p:nvSpPr>
          <p:cNvPr id="358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627757" y="4599813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2</a:t>
            </a:r>
          </a:p>
        </p:txBody>
      </p:sp>
      <p:sp>
        <p:nvSpPr>
          <p:cNvPr id="36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48000" y="4582668"/>
            <a:ext cx="142827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2E2E2E">
                    <a:alpha val="100000"/>
                  </a:srgbClr>
                </a:solidFill>
                <a:latin typeface="Inter" panose="00000700000000000000" pitchFamily="2" charset="0"/>
              </a:rPr>
              <a:t>Explore Regression, Decision Trees, Ensemble Methods</a:t>
            </a:r>
          </a:p>
        </p:txBody>
      </p:sp>
      <p:pic>
        <p:nvPicPr>
          <p:cNvPr id="3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1">
            <a:alphaModFix amt="100000"/>
          </a:blip>
          <a:stretch/>
        </p:blipFill>
        <p:spPr>
          <a:xfrm>
            <a:off x="2286000" y="5320284"/>
            <a:ext cx="15240000" cy="809625"/>
          </a:xfrm>
          <a:prstGeom prst="rect">
            <a:avLst/>
          </a:prstGeom>
        </p:spPr>
      </p:pic>
      <p:pic>
        <p:nvPicPr>
          <p:cNvPr id="3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alphaModFix amt="100000"/>
          </a:blip>
          <a:stretch/>
        </p:blipFill>
        <p:spPr>
          <a:xfrm>
            <a:off x="2514600" y="5548884"/>
            <a:ext cx="342900" cy="342900"/>
          </a:xfrm>
          <a:prstGeom prst="rect">
            <a:avLst/>
          </a:prstGeom>
        </p:spPr>
      </p:pic>
      <p:sp>
        <p:nvSpPr>
          <p:cNvPr id="366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626995" y="5566029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3</a:t>
            </a:r>
          </a:p>
        </p:txBody>
      </p:sp>
      <p:sp>
        <p:nvSpPr>
          <p:cNvPr id="36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48000" y="5548884"/>
            <a:ext cx="142827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2E2E2E">
                    <a:alpha val="100000"/>
                  </a:srgbClr>
                </a:solidFill>
                <a:latin typeface="Inter" panose="00000700000000000000" pitchFamily="2" charset="0"/>
              </a:rPr>
              <a:t>Review ML market growth and future trends</a:t>
            </a:r>
          </a:p>
        </p:txBody>
      </p:sp>
      <p:pic>
        <p:nvPicPr>
          <p:cNvPr id="3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alphaModFix amt="100000"/>
          </a:blip>
          <a:stretch/>
        </p:blipFill>
        <p:spPr>
          <a:xfrm>
            <a:off x="2286000" y="6286500"/>
            <a:ext cx="15240000" cy="809625"/>
          </a:xfrm>
          <a:prstGeom prst="rect">
            <a:avLst/>
          </a:prstGeom>
        </p:spPr>
      </p:pic>
      <p:pic>
        <p:nvPicPr>
          <p:cNvPr id="3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">
            <a:alphaModFix amt="100000"/>
          </a:blip>
          <a:stretch/>
        </p:blipFill>
        <p:spPr>
          <a:xfrm>
            <a:off x="2514600" y="6515100"/>
            <a:ext cx="342900" cy="342900"/>
          </a:xfrm>
          <a:prstGeom prst="rect">
            <a:avLst/>
          </a:prstGeom>
        </p:spPr>
      </p:pic>
      <p:sp>
        <p:nvSpPr>
          <p:cNvPr id="374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628900" y="6532245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4</a:t>
            </a:r>
          </a:p>
        </p:txBody>
      </p:sp>
      <p:sp>
        <p:nvSpPr>
          <p:cNvPr id="376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48000" y="6515100"/>
            <a:ext cx="142827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2E2E2E">
                    <a:alpha val="100000"/>
                  </a:srgbClr>
                </a:solidFill>
                <a:latin typeface="Inter" panose="00000700000000000000" pitchFamily="2" charset="0"/>
              </a:rPr>
              <a:t>Discuss business use cases across industries</a:t>
            </a:r>
          </a:p>
        </p:txBody>
      </p:sp>
      <p:pic>
        <p:nvPicPr>
          <p:cNvPr id="3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alphaModFix amt="100000"/>
          </a:blip>
          <a:stretch/>
        </p:blipFill>
        <p:spPr>
          <a:xfrm>
            <a:off x="2286000" y="7252716"/>
            <a:ext cx="15240000" cy="809625"/>
          </a:xfrm>
          <a:prstGeom prst="rect">
            <a:avLst/>
          </a:prstGeom>
        </p:spPr>
      </p:pic>
      <p:pic>
        <p:nvPicPr>
          <p:cNvPr id="3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">
            <a:alphaModFix amt="100000"/>
          </a:blip>
          <a:stretch/>
        </p:blipFill>
        <p:spPr>
          <a:xfrm>
            <a:off x="2514600" y="7481316"/>
            <a:ext cx="342900" cy="342900"/>
          </a:xfrm>
          <a:prstGeom prst="rect">
            <a:avLst/>
          </a:prstGeom>
        </p:spPr>
      </p:pic>
      <p:sp>
        <p:nvSpPr>
          <p:cNvPr id="382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627281" y="7498366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5</a:t>
            </a:r>
          </a:p>
        </p:txBody>
      </p:sp>
      <p:sp>
        <p:nvSpPr>
          <p:cNvPr id="384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48000" y="7481316"/>
            <a:ext cx="142827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2E2E2E">
                    <a:alpha val="100000"/>
                  </a:srgbClr>
                </a:solidFill>
                <a:latin typeface="Inter" panose="00000700000000000000" pitchFamily="2" charset="0"/>
              </a:rPr>
              <a:t>Address talent shortages and project challenges</a:t>
            </a:r>
          </a:p>
        </p:txBody>
      </p:sp>
      <p:pic>
        <p:nvPicPr>
          <p:cNvPr id="3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">
            <a:alphaModFix amt="100000"/>
          </a:blip>
          <a:stretch/>
        </p:blipFill>
        <p:spPr>
          <a:xfrm>
            <a:off x="2286000" y="8218932"/>
            <a:ext cx="15240000" cy="809625"/>
          </a:xfrm>
          <a:prstGeom prst="rect">
            <a:avLst/>
          </a:prstGeom>
        </p:spPr>
      </p:pic>
      <p:pic>
        <p:nvPicPr>
          <p:cNvPr id="3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">
            <a:alphaModFix amt="100000"/>
          </a:blip>
          <a:stretch/>
        </p:blipFill>
        <p:spPr>
          <a:xfrm>
            <a:off x="2514600" y="8447532"/>
            <a:ext cx="342900" cy="342900"/>
          </a:xfrm>
          <a:prstGeom prst="rect">
            <a:avLst/>
          </a:prstGeom>
        </p:spPr>
      </p:pic>
      <p:sp>
        <p:nvSpPr>
          <p:cNvPr id="390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626995" y="8464582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6</a:t>
            </a:r>
          </a:p>
        </p:txBody>
      </p:sp>
      <p:sp>
        <p:nvSpPr>
          <p:cNvPr id="392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48000" y="8447532"/>
            <a:ext cx="142827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2E2E2E">
                    <a:alpha val="100000"/>
                  </a:srgbClr>
                </a:solidFill>
                <a:latin typeface="Inter" panose="00000700000000000000" pitchFamily="2" charset="0"/>
              </a:rPr>
              <a:t>Guide model selection balancing accuracy and needs</a:t>
            </a:r>
          </a:p>
        </p:txBody>
      </p:sp>
      <p:sp>
        <p:nvSpPr>
          <p:cNvPr id="39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723900"/>
            <a:ext cx="11425238" cy="704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68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Agenda: Core ML Models &amp; Business Value</a:t>
            </a:r>
          </a:p>
        </p:txBody>
      </p:sp>
      <p:pic>
        <p:nvPicPr>
          <p:cNvPr id="3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">
            <a:alphaModFix amt="100000"/>
          </a:blip>
          <a:stretch/>
        </p:blipFill>
        <p:spPr>
          <a:xfrm>
            <a:off x="4610100" y="1571625"/>
            <a:ext cx="1143000" cy="57150"/>
          </a:xfrm>
          <a:prstGeom prst="rect">
            <a:avLst/>
          </a:prstGeom>
        </p:spPr>
      </p:pic>
      <p:pic>
        <p:nvPicPr>
          <p:cNvPr id="3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9">
            <a:alphaModFix amt="100000"/>
          </a:blip>
          <a:stretch/>
        </p:blipFill>
        <p:spPr>
          <a:xfrm>
            <a:off x="0" y="0"/>
            <a:ext cx="2286000" cy="2476500"/>
          </a:xfrm>
          <a:prstGeom prst="rect">
            <a:avLst/>
          </a:prstGeom>
        </p:spPr>
      </p:pic>
      <p:pic>
        <p:nvPicPr>
          <p:cNvPr id="4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1">
            <a:alphaModFix amt="100000"/>
          </a:blip>
          <a:stretch/>
        </p:blipFill>
        <p:spPr>
          <a:xfrm>
            <a:off x="11430000" y="9524810"/>
            <a:ext cx="2286000" cy="762000"/>
          </a:xfrm>
          <a:prstGeom prst="rect">
            <a:avLst/>
          </a:prstGeom>
        </p:spPr>
      </p:pic>
      <p:sp>
        <p:nvSpPr>
          <p:cNvPr id="40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1790700"/>
            <a:ext cx="114252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Explore key ML models, market trends, and business impacts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p:transition spd="med" p14:dur="700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33" dur="12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35" dur="12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37" dur="12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39" dur="12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41" dur="12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43" dur="12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45" dur="12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2.3170753E-06 L 0 -2.3170753E-06 E" pathEditMode="relative" ptsTypes="">
                                      <p:cBhvr>
                                        <p:cTn id="347" dur="10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2.3170753E-06 L 0 -2.3170753E-06 E" pathEditMode="relative" ptsTypes="">
                                      <p:cBhvr>
                                        <p:cTn id="349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35 4.0407535E-06 L -3.1789145E-07 4.0407535E-06 E" pathEditMode="relative" ptsTypes="">
                                      <p:cBhvr>
                                        <p:cTn id="351" dur="10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2.3170753E-06 L 0 -2.3170753E-06 E" pathEditMode="relative" ptsTypes="">
                                      <p:cBhvr>
                                        <p:cTn id="353" dur="10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4.6341506E-06 L 0 4.6341506E-06 E" pathEditMode="relative" ptsTypes="">
                                      <p:cBhvr>
                                        <p:cTn id="355" dur="10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4.6341506E-06 L 0 4.6341506E-06 E" pathEditMode="relative" ptsTypes="">
                                      <p:cBhvr>
                                        <p:cTn id="357" dur="10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3906 1.723678E-06 L -2.6067098E-06 1.723678E-06 E" pathEditMode="relative" ptsTypes="">
                                      <p:cBhvr>
                                        <p:cTn id="359" dur="10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4.6341506E-06 L 0 4.6341506E-06 E" pathEditMode="relative" ptsTypes="">
                                      <p:cBhvr>
                                        <p:cTn id="361" dur="10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363" dur="10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365" dur="10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0046 -5.6514034E-07 L -1.6212464E-06 -5.6514034E-07 E" pathEditMode="relative" ptsTypes="">
                                      <p:cBhvr>
                                        <p:cTn id="367" dur="10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369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371" dur="1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373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-2.8822158E-06 L 0 -2.8822158E-06 E" pathEditMode="relative" ptsTypes="">
                                      <p:cBhvr>
                                        <p:cTn id="375" dur="10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377" dur="10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26041666 -2.3170753E-06 L 0 -2.3170753E-06 E" pathEditMode="relative" ptsTypes="">
                                      <p:cBhvr>
                                        <p:cTn id="379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26041666 -2.3170753E-06 L 0 -2.3170753E-06 E" pathEditMode="relative" ptsTypes="">
                                      <p:cBhvr>
                                        <p:cTn id="381" dur="100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26040697 4.0690106E-06 L -9.695689E-07 4.0690106E-06 E" pathEditMode="relative" ptsTypes="">
                                      <p:cBhvr>
                                        <p:cTn id="383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26041666 -2.3170753E-06 L 0 -2.3170753E-06 E" pathEditMode="relative" ptsTypes="">
                                      <p:cBhvr>
                                        <p:cTn id="385" dur="10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6041666 -4.6341506E-06 L 0 -4.6341506E-06 E" pathEditMode="relative" ptsTypes="">
                                      <p:cBhvr>
                                        <p:cTn id="387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6041666 -4.6341506E-06 L 0 -4.6341506E-06 E" pathEditMode="relative" ptsTypes="">
                                      <p:cBhvr>
                                        <p:cTn id="389" dur="10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6040046 1.7519351E-06 L -1.6212464E-06 1.7519351E-06 E" pathEditMode="relative" ptsTypes="">
                                      <p:cBhvr>
                                        <p:cTn id="391" dur="10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6041666 -4.6341506E-06 L 0 -4.6341506E-06 E" pathEditMode="relative" ptsTypes="">
                                      <p:cBhvr>
                                        <p:cTn id="393" dur="10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395" dur="60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397" dur="6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399" dur="12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4.0690106E-06 L 0 4.0690106E-06 E" pathEditMode="relative" ptsTypes="">
                                      <p:cBhvr>
                                        <p:cTn id="401" dur="12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03" dur="6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" grpId="0"/>
      <p:bldP spid="332" grpId="0"/>
      <p:bldP spid="334" grpId="0"/>
      <p:bldP spid="334" grpId="0"/>
      <p:bldP spid="336" grpId="0"/>
      <p:bldP spid="336" grpId="0"/>
      <p:bldP spid="338" grpId="0"/>
      <p:bldP spid="338" grpId="0"/>
      <p:bldP spid="340" grpId="0"/>
      <p:bldP spid="340" grpId="0"/>
      <p:bldP spid="342" grpId="0"/>
      <p:bldP spid="342" grpId="0"/>
      <p:bldP spid="344" grpId="0"/>
      <p:bldP spid="344" grpId="0"/>
      <p:bldP spid="346" grpId="0"/>
      <p:bldP spid="346" grpId="0"/>
      <p:bldP spid="348" grpId="0"/>
      <p:bldP spid="348" grpId="0"/>
      <p:bldP spid="350" grpId="0"/>
      <p:bldP spid="350" grpId="0"/>
      <p:bldP spid="352" grpId="0"/>
      <p:bldP spid="352" grpId="0"/>
      <p:bldP spid="354" grpId="0"/>
      <p:bldP spid="354" grpId="0"/>
      <p:bldP spid="356" grpId="0"/>
      <p:bldP spid="356" grpId="0"/>
      <p:bldP spid="358" grpId="0"/>
      <p:bldP spid="358" grpId="0"/>
      <p:bldP spid="360" grpId="0"/>
      <p:bldP spid="360" grpId="0"/>
      <p:bldP spid="362" grpId="0"/>
      <p:bldP spid="362" grpId="0"/>
      <p:bldP spid="364" grpId="0"/>
      <p:bldP spid="364" grpId="0"/>
      <p:bldP spid="366" grpId="0"/>
      <p:bldP spid="366" grpId="0"/>
      <p:bldP spid="368" grpId="0"/>
      <p:bldP spid="368" grpId="0"/>
      <p:bldP spid="370" grpId="0"/>
      <p:bldP spid="370" grpId="0"/>
      <p:bldP spid="372" grpId="0"/>
      <p:bldP spid="372" grpId="0"/>
      <p:bldP spid="374" grpId="0"/>
      <p:bldP spid="374" grpId="0"/>
      <p:bldP spid="376" grpId="0"/>
      <p:bldP spid="376" grpId="0"/>
      <p:bldP spid="378" grpId="0"/>
      <p:bldP spid="378" grpId="0"/>
      <p:bldP spid="380" grpId="0"/>
      <p:bldP spid="380" grpId="0"/>
      <p:bldP spid="382" grpId="0"/>
      <p:bldP spid="382" grpId="0"/>
      <p:bldP spid="384" grpId="0"/>
      <p:bldP spid="384" grpId="0"/>
      <p:bldP spid="386" grpId="0"/>
      <p:bldP spid="386" grpId="0"/>
      <p:bldP spid="388" grpId="0"/>
      <p:bldP spid="388" grpId="0"/>
      <p:bldP spid="390" grpId="0"/>
      <p:bldP spid="390" grpId="0"/>
      <p:bldP spid="392" grpId="0"/>
      <p:bldP spid="392" grpId="0"/>
      <p:bldP spid="394" grpId="0"/>
      <p:bldP spid="394" grpId="0"/>
      <p:bldP spid="396" grpId="0"/>
      <p:bldP spid="396" grpId="0"/>
      <p:bldP spid="398" grpId="0"/>
      <p:bldP spid="398" grpId="0"/>
      <p:bldP spid="400" grpId="0"/>
      <p:bldP spid="400" grpId="0"/>
      <p:bldP spid="402" grpId="0"/>
      <p:bldP spid="402" grpId="0"/>
    </p:bldLst>
  </p:timing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7">
            <a:alphaModFix amt="100000"/>
          </a:blip>
          <a:stretch/>
        </p:blipFill>
        <p:spPr>
          <a:xfrm>
            <a:off x="2286000" y="0"/>
            <a:ext cx="9525" cy="10287000"/>
          </a:xfrm>
          <a:prstGeom prst="rect">
            <a:avLst/>
          </a:prstGeom>
        </p:spPr>
      </p:pic>
      <p:pic>
        <p:nvPicPr>
          <p:cNvPr id="4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9">
            <a:alphaModFix amt="100000"/>
          </a:blip>
          <a:stretch/>
        </p:blipFill>
        <p:spPr>
          <a:xfrm>
            <a:off x="4572000" y="0"/>
            <a:ext cx="9525" cy="10287000"/>
          </a:xfrm>
          <a:prstGeom prst="rect">
            <a:avLst/>
          </a:prstGeom>
        </p:spPr>
      </p:pic>
      <p:pic>
        <p:nvPicPr>
          <p:cNvPr id="4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1">
            <a:alphaModFix amt="100000"/>
          </a:blip>
          <a:stretch/>
        </p:blipFill>
        <p:spPr>
          <a:xfrm>
            <a:off x="6858000" y="0"/>
            <a:ext cx="9525" cy="10287000"/>
          </a:xfrm>
          <a:prstGeom prst="rect">
            <a:avLst/>
          </a:prstGeom>
        </p:spPr>
      </p:pic>
      <p:pic>
        <p:nvPicPr>
          <p:cNvPr id="4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3">
            <a:alphaModFix amt="100000"/>
          </a:blip>
          <a:stretch/>
        </p:blipFill>
        <p:spPr>
          <a:xfrm>
            <a:off x="9144000" y="0"/>
            <a:ext cx="9525" cy="10287000"/>
          </a:xfrm>
          <a:prstGeom prst="rect">
            <a:avLst/>
          </a:prstGeom>
        </p:spPr>
      </p:pic>
      <p:pic>
        <p:nvPicPr>
          <p:cNvPr id="4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5">
            <a:alphaModFix amt="100000"/>
          </a:blip>
          <a:stretch/>
        </p:blipFill>
        <p:spPr>
          <a:xfrm>
            <a:off x="11430000" y="0"/>
            <a:ext cx="9525" cy="10287000"/>
          </a:xfrm>
          <a:prstGeom prst="rect">
            <a:avLst/>
          </a:prstGeom>
        </p:spPr>
      </p:pic>
      <p:pic>
        <p:nvPicPr>
          <p:cNvPr id="4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">
            <a:alphaModFix amt="100000"/>
          </a:blip>
          <a:stretch/>
        </p:blipFill>
        <p:spPr>
          <a:xfrm>
            <a:off x="13716000" y="0"/>
            <a:ext cx="9525" cy="10287000"/>
          </a:xfrm>
          <a:prstGeom prst="rect">
            <a:avLst/>
          </a:prstGeom>
        </p:spPr>
      </p:pic>
      <p:pic>
        <p:nvPicPr>
          <p:cNvPr id="4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9">
            <a:alphaModFix amt="100000"/>
          </a:blip>
          <a:stretch/>
        </p:blipFill>
        <p:spPr>
          <a:xfrm>
            <a:off x="16002000" y="0"/>
            <a:ext cx="9525" cy="10287000"/>
          </a:xfrm>
          <a:prstGeom prst="rect">
            <a:avLst/>
          </a:prstGeom>
        </p:spPr>
      </p:pic>
      <p:pic>
        <p:nvPicPr>
          <p:cNvPr id="4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1">
            <a:alphaModFix amt="100000"/>
          </a:blip>
          <a:stretch/>
        </p:blipFill>
        <p:spPr>
          <a:xfrm>
            <a:off x="2286000" y="4514850"/>
            <a:ext cx="342900" cy="342900"/>
          </a:xfrm>
          <a:prstGeom prst="rect">
            <a:avLst/>
          </a:prstGeom>
        </p:spPr>
      </p:pic>
      <p:sp>
        <p:nvSpPr>
          <p:cNvPr id="423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03729" y="4531995"/>
            <a:ext cx="13811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1</a:t>
            </a:r>
          </a:p>
        </p:txBody>
      </p:sp>
      <p:sp>
        <p:nvSpPr>
          <p:cNvPr id="42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4972050"/>
            <a:ext cx="3557588" cy="6858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spc="-72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Machine Learning market expected to reach $225B by 2030</a:t>
            </a:r>
          </a:p>
        </p:txBody>
      </p:sp>
      <p:sp>
        <p:nvSpPr>
          <p:cNvPr id="42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5686711"/>
            <a:ext cx="3557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b="1" spc="-3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Rapid expansion</a:t>
            </a:r>
            <a:r>
              <a:rPr lang="en-US" sz="1650" spc="-3" dirty="0">
                <a:solidFill>
                  <a:srgbClr val="7C7C7C"/>
                </a:solidFill>
                <a:latin typeface="Inter" panose="00000700000000000000" pitchFamily="2" charset="0"/>
              </a:rPr>
              <a:t> forecast</a:t>
            </a:r>
          </a:p>
        </p:txBody>
      </p:sp>
      <p:pic>
        <p:nvPicPr>
          <p:cNvPr id="4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3">
            <a:alphaModFix amt="100000"/>
          </a:blip>
          <a:stretch/>
        </p:blipFill>
        <p:spPr>
          <a:xfrm>
            <a:off x="6191250" y="4514850"/>
            <a:ext cx="342900" cy="342900"/>
          </a:xfrm>
          <a:prstGeom prst="rect">
            <a:avLst/>
          </a:prstGeom>
        </p:spPr>
      </p:pic>
      <p:sp>
        <p:nvSpPr>
          <p:cNvPr id="431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04407" y="4531995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2</a:t>
            </a:r>
          </a:p>
        </p:txBody>
      </p:sp>
      <p:sp>
        <p:nvSpPr>
          <p:cNvPr id="43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191250" y="4972050"/>
            <a:ext cx="3557588" cy="1028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spc="-72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Widespread adoption across diverse industries enhances predictive insights</a:t>
            </a:r>
          </a:p>
        </p:txBody>
      </p:sp>
      <p:sp>
        <p:nvSpPr>
          <p:cNvPr id="43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191250" y="6025039"/>
            <a:ext cx="3557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b="1" spc="-3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Business adoption</a:t>
            </a:r>
            <a:r>
              <a:rPr lang="en-US" sz="1650" spc="-3" dirty="0">
                <a:solidFill>
                  <a:srgbClr val="7C7C7C"/>
                </a:solidFill>
                <a:latin typeface="Inter" panose="00000700000000000000" pitchFamily="2" charset="0"/>
              </a:rPr>
              <a:t> increases</a:t>
            </a:r>
          </a:p>
        </p:txBody>
      </p:sp>
      <p:pic>
        <p:nvPicPr>
          <p:cNvPr id="4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5">
            <a:alphaModFix amt="100000"/>
          </a:blip>
          <a:stretch/>
        </p:blipFill>
        <p:spPr>
          <a:xfrm>
            <a:off x="10096500" y="4514850"/>
            <a:ext cx="342900" cy="342900"/>
          </a:xfrm>
          <a:prstGeom prst="rect">
            <a:avLst/>
          </a:prstGeom>
        </p:spPr>
      </p:pic>
      <p:sp>
        <p:nvSpPr>
          <p:cNvPr id="439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08895" y="4531995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3</a:t>
            </a:r>
          </a:p>
        </p:txBody>
      </p:sp>
      <p:sp>
        <p:nvSpPr>
          <p:cNvPr id="44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6500" y="4972050"/>
            <a:ext cx="3557588" cy="6858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spc="-72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Significant shortage of skilled data scientists and ML experts exists</a:t>
            </a:r>
          </a:p>
        </p:txBody>
      </p:sp>
      <p:sp>
        <p:nvSpPr>
          <p:cNvPr id="44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6500" y="5686711"/>
            <a:ext cx="3557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b="1" spc="-3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Talent shortages</a:t>
            </a:r>
            <a:r>
              <a:rPr lang="en-US" sz="1650" spc="-3" dirty="0">
                <a:solidFill>
                  <a:srgbClr val="7C7C7C"/>
                </a:solidFill>
                <a:latin typeface="Inter" panose="00000700000000000000" pitchFamily="2" charset="0"/>
              </a:rPr>
              <a:t> challenge</a:t>
            </a:r>
          </a:p>
        </p:txBody>
      </p:sp>
      <p:pic>
        <p:nvPicPr>
          <p:cNvPr id="4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7">
            <a:alphaModFix amt="100000"/>
          </a:blip>
          <a:stretch/>
        </p:blipFill>
        <p:spPr>
          <a:xfrm>
            <a:off x="14001750" y="4514850"/>
            <a:ext cx="342900" cy="342900"/>
          </a:xfrm>
          <a:prstGeom prst="rect">
            <a:avLst/>
          </a:prstGeom>
        </p:spPr>
      </p:pic>
      <p:sp>
        <p:nvSpPr>
          <p:cNvPr id="447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6050" y="4531995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4</a:t>
            </a:r>
          </a:p>
        </p:txBody>
      </p:sp>
      <p:sp>
        <p:nvSpPr>
          <p:cNvPr id="449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001750" y="4972050"/>
            <a:ext cx="3557588" cy="1028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spc="-72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Balancing accuracy, interpretability, and scalability remains a major project challenge</a:t>
            </a:r>
          </a:p>
        </p:txBody>
      </p:sp>
      <p:sp>
        <p:nvSpPr>
          <p:cNvPr id="45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001750" y="6025039"/>
            <a:ext cx="3557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b="1" spc="-3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Project challenges</a:t>
            </a:r>
            <a:r>
              <a:rPr lang="en-US" sz="1650" spc="-3" dirty="0">
                <a:solidFill>
                  <a:srgbClr val="7C7C7C"/>
                </a:solidFill>
                <a:latin typeface="Inter" panose="00000700000000000000" pitchFamily="2" charset="0"/>
              </a:rPr>
              <a:t> persist</a:t>
            </a:r>
          </a:p>
        </p:txBody>
      </p:sp>
      <p:pic>
        <p:nvPicPr>
          <p:cNvPr id="4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9">
            <a:alphaModFix amt="100000"/>
          </a:blip>
          <a:stretch/>
        </p:blipFill>
        <p:spPr>
          <a:xfrm>
            <a:off x="2286000" y="6743700"/>
            <a:ext cx="342900" cy="342900"/>
          </a:xfrm>
          <a:prstGeom prst="rect">
            <a:avLst/>
          </a:prstGeom>
        </p:spPr>
      </p:pic>
      <p:sp>
        <p:nvSpPr>
          <p:cNvPr id="455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398681" y="6760845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5</a:t>
            </a:r>
          </a:p>
        </p:txBody>
      </p:sp>
      <p:sp>
        <p:nvSpPr>
          <p:cNvPr id="457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7200900"/>
            <a:ext cx="3557588" cy="1028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spc="-72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Urgent need for ML models delivering practical business impact efficiently</a:t>
            </a:r>
          </a:p>
        </p:txBody>
      </p:sp>
      <p:sp>
        <p:nvSpPr>
          <p:cNvPr id="459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8253889"/>
            <a:ext cx="3557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b="1" spc="-3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Efficiency and impact</a:t>
            </a:r>
            <a:r>
              <a:rPr lang="en-US" sz="1650" spc="-3" dirty="0">
                <a:solidFill>
                  <a:srgbClr val="7C7C7C"/>
                </a:solidFill>
                <a:latin typeface="Inter" panose="00000700000000000000" pitchFamily="2" charset="0"/>
              </a:rPr>
              <a:t> needed</a:t>
            </a:r>
          </a:p>
        </p:txBody>
      </p:sp>
      <p:pic>
        <p:nvPicPr>
          <p:cNvPr id="4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1">
            <a:alphaModFix amt="100000"/>
          </a:blip>
          <a:stretch/>
        </p:blipFill>
        <p:spPr>
          <a:xfrm>
            <a:off x="6191250" y="6743700"/>
            <a:ext cx="342900" cy="342900"/>
          </a:xfrm>
          <a:prstGeom prst="rect">
            <a:avLst/>
          </a:prstGeom>
        </p:spPr>
      </p:pic>
      <p:sp>
        <p:nvSpPr>
          <p:cNvPr id="463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03645" y="6760845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6</a:t>
            </a:r>
          </a:p>
        </p:txBody>
      </p:sp>
      <p:sp>
        <p:nvSpPr>
          <p:cNvPr id="465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191250" y="7200900"/>
            <a:ext cx="3557588" cy="1028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spc="-72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Organizations prioritize models that combine performance with clarity</a:t>
            </a:r>
          </a:p>
        </p:txBody>
      </p:sp>
      <p:sp>
        <p:nvSpPr>
          <p:cNvPr id="467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191250" y="8253889"/>
            <a:ext cx="3557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b="1" spc="-3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Model interpretability</a:t>
            </a:r>
            <a:r>
              <a:rPr lang="en-US" sz="1650" spc="-3" dirty="0">
                <a:solidFill>
                  <a:srgbClr val="7C7C7C"/>
                </a:solidFill>
                <a:latin typeface="Inter" panose="00000700000000000000" pitchFamily="2" charset="0"/>
              </a:rPr>
              <a:t> prioritized</a:t>
            </a:r>
          </a:p>
        </p:txBody>
      </p:sp>
      <p:pic>
        <p:nvPicPr>
          <p:cNvPr id="4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3">
            <a:alphaModFix amt="100000"/>
          </a:blip>
          <a:stretch/>
        </p:blipFill>
        <p:spPr>
          <a:xfrm>
            <a:off x="10096500" y="6743700"/>
            <a:ext cx="342900" cy="342900"/>
          </a:xfrm>
          <a:prstGeom prst="rect">
            <a:avLst/>
          </a:prstGeom>
        </p:spPr>
      </p:pic>
      <p:sp>
        <p:nvSpPr>
          <p:cNvPr id="471" name="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10990" y="6760845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7</a:t>
            </a:r>
          </a:p>
        </p:txBody>
      </p:sp>
      <p:sp>
        <p:nvSpPr>
          <p:cNvPr id="473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6500" y="7200900"/>
            <a:ext cx="3557588" cy="6858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spc="-72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Investment in talent development critical to sustaining ML growth</a:t>
            </a:r>
          </a:p>
        </p:txBody>
      </p:sp>
      <p:sp>
        <p:nvSpPr>
          <p:cNvPr id="475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6500" y="7915561"/>
            <a:ext cx="3557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b="1" spc="-3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Talent development</a:t>
            </a:r>
            <a:r>
              <a:rPr lang="en-US" sz="1650" spc="-3" dirty="0">
                <a:solidFill>
                  <a:srgbClr val="7C7C7C"/>
                </a:solidFill>
                <a:latin typeface="Inter" panose="00000700000000000000" pitchFamily="2" charset="0"/>
              </a:rPr>
              <a:t> focus</a:t>
            </a:r>
          </a:p>
        </p:txBody>
      </p:sp>
      <p:sp>
        <p:nvSpPr>
          <p:cNvPr id="47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723900"/>
            <a:ext cx="11425238" cy="1381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68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Machine Learning Trends and Talent Challenges</a:t>
            </a:r>
          </a:p>
        </p:txBody>
      </p:sp>
      <p:pic>
        <p:nvPicPr>
          <p:cNvPr id="4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5">
            <a:alphaModFix amt="100000"/>
          </a:blip>
          <a:stretch/>
        </p:blipFill>
        <p:spPr>
          <a:xfrm>
            <a:off x="4610100" y="2247900"/>
            <a:ext cx="1143000" cy="57150"/>
          </a:xfrm>
          <a:prstGeom prst="rect">
            <a:avLst/>
          </a:prstGeom>
        </p:spPr>
      </p:pic>
      <p:pic>
        <p:nvPicPr>
          <p:cNvPr id="4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7">
            <a:alphaModFix amt="100000"/>
          </a:blip>
          <a:stretch/>
        </p:blipFill>
        <p:spPr>
          <a:xfrm>
            <a:off x="0" y="0"/>
            <a:ext cx="2286000" cy="2476500"/>
          </a:xfrm>
          <a:prstGeom prst="rect">
            <a:avLst/>
          </a:prstGeom>
        </p:spPr>
      </p:pic>
      <p:pic>
        <p:nvPicPr>
          <p:cNvPr id="4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9">
            <a:alphaModFix amt="100000"/>
          </a:blip>
          <a:stretch/>
        </p:blipFill>
        <p:spPr>
          <a:xfrm>
            <a:off x="11430000" y="9524810"/>
            <a:ext cx="2286000" cy="762000"/>
          </a:xfrm>
          <a:prstGeom prst="rect">
            <a:avLst/>
          </a:prstGeom>
        </p:spPr>
      </p:pic>
      <p:sp>
        <p:nvSpPr>
          <p:cNvPr id="48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2476500"/>
            <a:ext cx="114252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Key insights on ML growth, adoption, and workforce gaps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p:transition spd="med" p14:dur="700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08" dur="12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10" dur="12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12" dur="12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14" dur="12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16" dur="12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18" dur="12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20" dur="12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22" dur="10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34 -2.8822158E-06 L -3.2583873E-07 -2.8822158E-06 E" pathEditMode="relative" ptsTypes="">
                                      <p:cBhvr>
                                        <p:cTn id="424" dur="10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26" dur="10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1.1302807E-06 L 0 1.1302807E-06 E" pathEditMode="relative" ptsTypes="">
                                      <p:cBhvr>
                                        <p:cTn id="428" dur="10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30" dur="1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3906 -2.8822158E-06 L -2.6067098E-06 -2.8822158E-06 E" pathEditMode="relative" ptsTypes="">
                                      <p:cBhvr>
                                        <p:cTn id="432" dur="10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34" dur="10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-2.8822158E-06 L 0 -2.8822158E-06 E" pathEditMode="relative" ptsTypes="">
                                      <p:cBhvr>
                                        <p:cTn id="436" dur="10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38" dur="1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0014 -2.8822158E-06 L -1.6530355E-06 -2.8822158E-06 E" pathEditMode="relative" ptsTypes="">
                                      <p:cBhvr>
                                        <p:cTn id="440" dur="10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42" dur="1000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1.1302807E-06 L 0 1.1302807E-06 E" pathEditMode="relative" ptsTypes="">
                                      <p:cBhvr>
                                        <p:cTn id="444" dur="1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46" dur="10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-2.8822158E-06 L 0 -2.8822158E-06 E" pathEditMode="relative" ptsTypes="">
                                      <p:cBhvr>
                                        <p:cTn id="448" dur="10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50" dur="10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-2.8822158E-06 L 0 -2.8822158E-06 E" pathEditMode="relative" ptsTypes="">
                                      <p:cBhvr>
                                        <p:cTn id="452" dur="10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54" dur="10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2604069 -2.8822158E-06 L -9.775162E-07 -2.8822158E-06 E" pathEditMode="relative" ptsTypes="">
                                      <p:cBhvr>
                                        <p:cTn id="456" dur="10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58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26041666 -2.8822158E-06 L 0 -2.8822158E-06 E" pathEditMode="relative" ptsTypes="">
                                      <p:cBhvr>
                                        <p:cTn id="460" dur="10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62" dur="10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6040046 -2.8822158E-06 L -1.6212464E-06 -2.8822158E-06 E" pathEditMode="relative" ptsTypes="">
                                      <p:cBhvr>
                                        <p:cTn id="464" dur="10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66" dur="10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6041666 -2.8822158E-06 L 0 -2.8822158E-06 E" pathEditMode="relative" ptsTypes="">
                                      <p:cBhvr>
                                        <p:cTn id="468" dur="10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70" dur="10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animMotion origin="layout" path="M 0.026039379 -2.8822158E-06 L -2.2888185E-06 -2.8822158E-06 E" pathEditMode="relative" ptsTypes="">
                                      <p:cBhvr>
                                        <p:cTn id="472" dur="10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74" dur="10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animMotion origin="layout" path="M 0.026041666 1.1302807E-06 L 0 1.1302807E-06 E" pathEditMode="relative" ptsTypes="">
                                      <p:cBhvr>
                                        <p:cTn id="476" dur="100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78" dur="6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80" dur="6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82" dur="12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4.0690106E-06 L 0 4.0690106E-06 E" pathEditMode="relative" ptsTypes="">
                                      <p:cBhvr>
                                        <p:cTn id="484" dur="12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486" dur="600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" grpId="0"/>
      <p:bldP spid="407" grpId="0"/>
      <p:bldP spid="409" grpId="0"/>
      <p:bldP spid="409" grpId="0"/>
      <p:bldP spid="411" grpId="0"/>
      <p:bldP spid="411" grpId="0"/>
      <p:bldP spid="413" grpId="0"/>
      <p:bldP spid="413" grpId="0"/>
      <p:bldP spid="415" grpId="0"/>
      <p:bldP spid="415" grpId="0"/>
      <p:bldP spid="417" grpId="0"/>
      <p:bldP spid="417" grpId="0"/>
      <p:bldP spid="419" grpId="0"/>
      <p:bldP spid="419" grpId="0"/>
      <p:bldP spid="421" grpId="0"/>
      <p:bldP spid="421" grpId="0"/>
      <p:bldP spid="423" grpId="0"/>
      <p:bldP spid="423" grpId="0"/>
      <p:bldP spid="425" grpId="0"/>
      <p:bldP spid="425" grpId="0"/>
      <p:bldP spid="427" grpId="0"/>
      <p:bldP spid="427" grpId="0"/>
      <p:bldP spid="429" grpId="0"/>
      <p:bldP spid="429" grpId="0"/>
      <p:bldP spid="431" grpId="0"/>
      <p:bldP spid="431" grpId="0"/>
      <p:bldP spid="433" grpId="0"/>
      <p:bldP spid="433" grpId="0"/>
      <p:bldP spid="435" grpId="0"/>
      <p:bldP spid="435" grpId="0"/>
      <p:bldP spid="437" grpId="0"/>
      <p:bldP spid="437" grpId="0"/>
      <p:bldP spid="439" grpId="0"/>
      <p:bldP spid="439" grpId="0"/>
      <p:bldP spid="441" grpId="0"/>
      <p:bldP spid="441" grpId="0"/>
      <p:bldP spid="443" grpId="0"/>
      <p:bldP spid="443" grpId="0"/>
      <p:bldP spid="445" grpId="0"/>
      <p:bldP spid="445" grpId="0"/>
      <p:bldP spid="447" grpId="0"/>
      <p:bldP spid="447" grpId="0"/>
      <p:bldP spid="449" grpId="0"/>
      <p:bldP spid="449" grpId="0"/>
      <p:bldP spid="451" grpId="0"/>
      <p:bldP spid="451" grpId="0"/>
      <p:bldP spid="453" grpId="0"/>
      <p:bldP spid="453" grpId="0"/>
      <p:bldP spid="455" grpId="0"/>
      <p:bldP spid="455" grpId="0"/>
      <p:bldP spid="457" grpId="0"/>
      <p:bldP spid="457" grpId="0"/>
      <p:bldP spid="459" grpId="0"/>
      <p:bldP spid="459" grpId="0"/>
      <p:bldP spid="461" grpId="0"/>
      <p:bldP spid="461" grpId="0"/>
      <p:bldP spid="463" grpId="0"/>
      <p:bldP spid="463" grpId="0"/>
      <p:bldP spid="465" grpId="0"/>
      <p:bldP spid="465" grpId="0"/>
      <p:bldP spid="467" grpId="0"/>
      <p:bldP spid="467" grpId="0"/>
      <p:bldP spid="469" grpId="0"/>
      <p:bldP spid="469" grpId="0"/>
      <p:bldP spid="471" grpId="0"/>
      <p:bldP spid="471" grpId="0"/>
      <p:bldP spid="473" grpId="0"/>
      <p:bldP spid="473" grpId="0"/>
      <p:bldP spid="475" grpId="0"/>
      <p:bldP spid="475" grpId="0"/>
      <p:bldP spid="477" grpId="0"/>
      <p:bldP spid="477" grpId="0"/>
      <p:bldP spid="479" grpId="0"/>
      <p:bldP spid="479" grpId="0"/>
      <p:bldP spid="481" grpId="0"/>
      <p:bldP spid="481" grpId="0"/>
      <p:bldP spid="483" grpId="0"/>
      <p:bldP spid="483" grpId="0"/>
      <p:bldP spid="485" grpId="0"/>
      <p:bldP spid="485" grpId="0"/>
    </p:bldLst>
  </p:timing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5">
            <a:alphaModFix amt="100000"/>
          </a:blip>
          <a:stretch/>
        </p:blipFill>
        <p:spPr>
          <a:xfrm>
            <a:off x="2286000" y="0"/>
            <a:ext cx="9525" cy="10287000"/>
          </a:xfrm>
          <a:prstGeom prst="rect">
            <a:avLst/>
          </a:prstGeom>
        </p:spPr>
      </p:pic>
      <p:pic>
        <p:nvPicPr>
          <p:cNvPr id="4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">
            <a:alphaModFix amt="100000"/>
          </a:blip>
          <a:stretch/>
        </p:blipFill>
        <p:spPr>
          <a:xfrm>
            <a:off x="4572000" y="0"/>
            <a:ext cx="9525" cy="10287000"/>
          </a:xfrm>
          <a:prstGeom prst="rect">
            <a:avLst/>
          </a:prstGeom>
        </p:spPr>
      </p:pic>
      <p:pic>
        <p:nvPicPr>
          <p:cNvPr id="4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9">
            <a:alphaModFix amt="100000"/>
          </a:blip>
          <a:stretch/>
        </p:blipFill>
        <p:spPr>
          <a:xfrm>
            <a:off x="6858000" y="0"/>
            <a:ext cx="9525" cy="10287000"/>
          </a:xfrm>
          <a:prstGeom prst="rect">
            <a:avLst/>
          </a:prstGeom>
        </p:spPr>
      </p:pic>
      <p:pic>
        <p:nvPicPr>
          <p:cNvPr id="4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1">
            <a:alphaModFix amt="100000"/>
          </a:blip>
          <a:stretch/>
        </p:blipFill>
        <p:spPr>
          <a:xfrm>
            <a:off x="9144000" y="0"/>
            <a:ext cx="9525" cy="10287000"/>
          </a:xfrm>
          <a:prstGeom prst="rect">
            <a:avLst/>
          </a:prstGeom>
        </p:spPr>
      </p:pic>
      <p:pic>
        <p:nvPicPr>
          <p:cNvPr id="4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3">
            <a:alphaModFix amt="100000"/>
          </a:blip>
          <a:stretch/>
        </p:blipFill>
        <p:spPr>
          <a:xfrm>
            <a:off x="11430000" y="0"/>
            <a:ext cx="9525" cy="10287000"/>
          </a:xfrm>
          <a:prstGeom prst="rect">
            <a:avLst/>
          </a:prstGeom>
        </p:spPr>
      </p:pic>
      <p:pic>
        <p:nvPicPr>
          <p:cNvPr id="5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5">
            <a:alphaModFix amt="100000"/>
          </a:blip>
          <a:stretch/>
        </p:blipFill>
        <p:spPr>
          <a:xfrm>
            <a:off x="13716000" y="0"/>
            <a:ext cx="9525" cy="10287000"/>
          </a:xfrm>
          <a:prstGeom prst="rect">
            <a:avLst/>
          </a:prstGeom>
        </p:spPr>
      </p:pic>
      <p:pic>
        <p:nvPicPr>
          <p:cNvPr id="5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7">
            <a:alphaModFix amt="100000"/>
          </a:blip>
          <a:stretch/>
        </p:blipFill>
        <p:spPr>
          <a:xfrm>
            <a:off x="16002000" y="0"/>
            <a:ext cx="9525" cy="10287000"/>
          </a:xfrm>
          <a:prstGeom prst="rect">
            <a:avLst/>
          </a:prstGeom>
        </p:spPr>
      </p:pic>
      <p:pic>
        <p:nvPicPr>
          <p:cNvPr id="504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9">
            <a:alphaModFix amt="100000"/>
          </a:blip>
          <a:stretch/>
        </p:blipFill>
        <p:spPr>
          <a:xfrm>
            <a:off x="2286000" y="3581400"/>
            <a:ext cx="3409950" cy="3638550"/>
          </a:xfrm>
          <a:prstGeom prst="rect">
            <a:avLst/>
          </a:prstGeom>
        </p:spPr>
      </p:pic>
      <p:sp>
        <p:nvSpPr>
          <p:cNvPr id="506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7600474"/>
            <a:ext cx="3443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Regression Defined</a:t>
            </a:r>
          </a:p>
        </p:txBody>
      </p:sp>
      <p:sp>
        <p:nvSpPr>
          <p:cNvPr id="508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8098822"/>
            <a:ext cx="3443288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A </a:t>
            </a:r>
            <a:r>
              <a:rPr lang="en-US" sz="1800" b="1" spc="-4" dirty="0">
                <a:solidFill>
                  <a:srgbClr val="7C7C7C"/>
                </a:solidFill>
                <a:latin typeface="Inter" panose="00000700000000000000" pitchFamily="2" charset="0"/>
              </a:rPr>
              <a:t>statistical tool</a:t>
            </a:r>
            <a:r>
              <a:rPr lang="en-US" sz="1800" spc="-4" dirty="0">
                <a:solidFill>
                  <a:srgbClr val="7C7C7C"/>
                </a:solidFill>
                <a:latin typeface="Inter" panose="00000700000000000000" pitchFamily="2" charset="0"/>
              </a:rPr>
              <a:t> modeling relationships to predict outcomes accurately across variables.</a:t>
            </a:r>
          </a:p>
        </p:txBody>
      </p:sp>
      <p:pic>
        <p:nvPicPr>
          <p:cNvPr id="510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41">
            <a:alphaModFix amt="100000"/>
          </a:blip>
          <a:stretch/>
        </p:blipFill>
        <p:spPr>
          <a:xfrm>
            <a:off x="6229350" y="3581400"/>
            <a:ext cx="3409950" cy="3638550"/>
          </a:xfrm>
          <a:prstGeom prst="rect">
            <a:avLst/>
          </a:prstGeom>
        </p:spPr>
      </p:pic>
      <p:sp>
        <p:nvSpPr>
          <p:cNvPr id="51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29350" y="7600950"/>
            <a:ext cx="3443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Simple Analogy</a:t>
            </a:r>
          </a:p>
        </p:txBody>
      </p:sp>
      <p:sp>
        <p:nvSpPr>
          <p:cNvPr id="514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29350" y="8099203"/>
            <a:ext cx="344328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Predicting house prices based on size shows how changes in input affect final results.</a:t>
            </a:r>
          </a:p>
        </p:txBody>
      </p:sp>
      <p:pic>
        <p:nvPicPr>
          <p:cNvPr id="516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43">
            <a:alphaModFix amt="100000"/>
          </a:blip>
          <a:stretch/>
        </p:blipFill>
        <p:spPr>
          <a:xfrm>
            <a:off x="10172700" y="3581400"/>
            <a:ext cx="3409950" cy="3638550"/>
          </a:xfrm>
          <a:prstGeom prst="rect">
            <a:avLst/>
          </a:prstGeom>
        </p:spPr>
      </p:pic>
      <p:sp>
        <p:nvSpPr>
          <p:cNvPr id="51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72700" y="7600950"/>
            <a:ext cx="3443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Core Formula</a:t>
            </a:r>
          </a:p>
        </p:txBody>
      </p:sp>
      <p:sp>
        <p:nvSpPr>
          <p:cNvPr id="52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72700" y="8099203"/>
            <a:ext cx="344328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b="1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Y = β0 + β1X + €</a:t>
            </a:r>
            <a:r>
              <a:rPr lang="en-US" sz="1800" spc="-4" dirty="0">
                <a:solidFill>
                  <a:srgbClr val="7C7C7C"/>
                </a:solidFill>
                <a:latin typeface="Inter" panose="00000700000000000000" pitchFamily="2" charset="0"/>
              </a:rPr>
              <a:t> represents predicted outcomes from input, impact, and error.</a:t>
            </a:r>
          </a:p>
        </p:txBody>
      </p:sp>
      <p:pic>
        <p:nvPicPr>
          <p:cNvPr id="522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45">
            <a:alphaModFix amt="100000"/>
          </a:blip>
          <a:stretch/>
        </p:blipFill>
        <p:spPr>
          <a:xfrm>
            <a:off x="14116050" y="3581400"/>
            <a:ext cx="3409950" cy="3638550"/>
          </a:xfrm>
          <a:prstGeom prst="rect">
            <a:avLst/>
          </a:prstGeom>
        </p:spPr>
      </p:pic>
      <p:sp>
        <p:nvSpPr>
          <p:cNvPr id="524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6050" y="7600474"/>
            <a:ext cx="3443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Business Uses</a:t>
            </a:r>
          </a:p>
        </p:txBody>
      </p:sp>
      <p:sp>
        <p:nvSpPr>
          <p:cNvPr id="526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6050" y="8098822"/>
            <a:ext cx="3443288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Forecasting sales, costs, and customer behavior using measurable business factors efficiently.</a:t>
            </a:r>
          </a:p>
        </p:txBody>
      </p:sp>
      <p:sp>
        <p:nvSpPr>
          <p:cNvPr id="52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723900"/>
            <a:ext cx="11425238" cy="1381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68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Deep Dive into Regression Models for Business Predictions</a:t>
            </a:r>
          </a:p>
        </p:txBody>
      </p:sp>
      <p:pic>
        <p:nvPicPr>
          <p:cNvPr id="5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">
            <a:alphaModFix amt="100000"/>
          </a:blip>
          <a:stretch/>
        </p:blipFill>
        <p:spPr>
          <a:xfrm>
            <a:off x="4610100" y="2247900"/>
            <a:ext cx="1143000" cy="57150"/>
          </a:xfrm>
          <a:prstGeom prst="rect">
            <a:avLst/>
          </a:prstGeom>
        </p:spPr>
      </p:pic>
      <p:pic>
        <p:nvPicPr>
          <p:cNvPr id="5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9">
            <a:alphaModFix amt="100000"/>
          </a:blip>
          <a:stretch/>
        </p:blipFill>
        <p:spPr>
          <a:xfrm>
            <a:off x="0" y="0"/>
            <a:ext cx="2286000" cy="2476500"/>
          </a:xfrm>
          <a:prstGeom prst="rect">
            <a:avLst/>
          </a:prstGeom>
        </p:spPr>
      </p:pic>
      <p:pic>
        <p:nvPicPr>
          <p:cNvPr id="5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">
            <a:alphaModFix amt="100000"/>
          </a:blip>
          <a:stretch/>
        </p:blipFill>
        <p:spPr>
          <a:xfrm>
            <a:off x="11430000" y="9524810"/>
            <a:ext cx="2286000" cy="762000"/>
          </a:xfrm>
          <a:prstGeom prst="rect">
            <a:avLst/>
          </a:prstGeom>
        </p:spPr>
      </p:pic>
      <p:sp>
        <p:nvSpPr>
          <p:cNvPr id="53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2476500"/>
            <a:ext cx="114252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Understanding regression and its impact on confident business forecasting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p:transition spd="med" p14:dur="700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91" dur="12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93" dur="12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95" dur="12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97" dur="12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499" dur="1200" fill="hold"/>
                                        <p:tgtEl>
                                          <p:spTgt spid="4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01" dur="12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03" dur="12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05" dur="10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2.8822158E-06 L 0 2.8822158E-06 E" pathEditMode="relative" ptsTypes="">
                                      <p:cBhvr>
                                        <p:cTn id="507" dur="10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4.0690106E-06 L 0 -4.0690106E-06 E" pathEditMode="relative" ptsTypes="">
                                      <p:cBhvr>
                                        <p:cTn id="509" dur="10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11" dur="10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13" dur="10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515" dur="10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17" dur="1000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19" dur="10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521" dur="1000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23" dur="10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2.8822158E-06 L 0 2.8822158E-06 E" pathEditMode="relative" ptsTypes="">
                                      <p:cBhvr>
                                        <p:cTn id="525" dur="1000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-4.0690106E-06 L 0 -4.0690106E-06 E" pathEditMode="relative" ptsTypes="">
                                      <p:cBhvr>
                                        <p:cTn id="527" dur="1000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29" dur="600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31" dur="600" fill="hold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33" dur="12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4.0690106E-06 L 0 4.0690106E-06 E" pathEditMode="relative" ptsTypes="">
                                      <p:cBhvr>
                                        <p:cTn id="535" dur="1200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37" dur="600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/>
      <p:bldP spid="490" grpId="0"/>
      <p:bldP spid="492" grpId="0"/>
      <p:bldP spid="492" grpId="0"/>
      <p:bldP spid="494" grpId="0"/>
      <p:bldP spid="494" grpId="0"/>
      <p:bldP spid="496" grpId="0"/>
      <p:bldP spid="496" grpId="0"/>
      <p:bldP spid="498" grpId="0"/>
      <p:bldP spid="498" grpId="0"/>
      <p:bldP spid="500" grpId="0"/>
      <p:bldP spid="500" grpId="0"/>
      <p:bldP spid="502" grpId="0"/>
      <p:bldP spid="502" grpId="0"/>
      <p:bldP spid="504" grpId="0"/>
      <p:bldP spid="504" grpId="0"/>
      <p:bldP spid="506" grpId="0"/>
      <p:bldP spid="506" grpId="0"/>
      <p:bldP spid="508" grpId="0"/>
      <p:bldP spid="508" grpId="0"/>
      <p:bldP spid="510" grpId="0"/>
      <p:bldP spid="510" grpId="0"/>
      <p:bldP spid="512" grpId="0"/>
      <p:bldP spid="512" grpId="0"/>
      <p:bldP spid="514" grpId="0"/>
      <p:bldP spid="514" grpId="0"/>
      <p:bldP spid="516" grpId="0"/>
      <p:bldP spid="516" grpId="0"/>
      <p:bldP spid="518" grpId="0"/>
      <p:bldP spid="518" grpId="0"/>
      <p:bldP spid="520" grpId="0"/>
      <p:bldP spid="520" grpId="0"/>
      <p:bldP spid="522" grpId="0"/>
      <p:bldP spid="522" grpId="0"/>
      <p:bldP spid="524" grpId="0"/>
      <p:bldP spid="524" grpId="0"/>
      <p:bldP spid="526" grpId="0"/>
      <p:bldP spid="526" grpId="0"/>
      <p:bldP spid="528" grpId="0"/>
      <p:bldP spid="528" grpId="0"/>
      <p:bldP spid="530" grpId="0"/>
      <p:bldP spid="530" grpId="0"/>
      <p:bldP spid="532" grpId="0"/>
      <p:bldP spid="532" grpId="0"/>
      <p:bldP spid="534" grpId="0"/>
      <p:bldP spid="534" grpId="0"/>
      <p:bldP spid="536" grpId="0"/>
      <p:bldP spid="536" grpId="0"/>
    </p:bldLst>
  </p:timing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">
            <a:alphaModFix amt="100000"/>
          </a:blip>
          <a:stretch/>
        </p:blipFill>
        <p:spPr>
          <a:xfrm>
            <a:off x="2286000" y="0"/>
            <a:ext cx="9525" cy="10287000"/>
          </a:xfrm>
          <a:prstGeom prst="rect">
            <a:avLst/>
          </a:prstGeom>
        </p:spPr>
      </p:pic>
      <p:pic>
        <p:nvPicPr>
          <p:cNvPr id="5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">
            <a:alphaModFix amt="100000"/>
          </a:blip>
          <a:stretch/>
        </p:blipFill>
        <p:spPr>
          <a:xfrm>
            <a:off x="4572000" y="0"/>
            <a:ext cx="9525" cy="10287000"/>
          </a:xfrm>
          <a:prstGeom prst="rect">
            <a:avLst/>
          </a:prstGeom>
        </p:spPr>
      </p:pic>
      <p:pic>
        <p:nvPicPr>
          <p:cNvPr id="5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">
            <a:alphaModFix amt="100000"/>
          </a:blip>
          <a:stretch/>
        </p:blipFill>
        <p:spPr>
          <a:xfrm>
            <a:off x="6858000" y="0"/>
            <a:ext cx="9525" cy="10287000"/>
          </a:xfrm>
          <a:prstGeom prst="rect">
            <a:avLst/>
          </a:prstGeom>
        </p:spPr>
      </p:pic>
      <p:pic>
        <p:nvPicPr>
          <p:cNvPr id="5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">
            <a:alphaModFix amt="100000"/>
          </a:blip>
          <a:stretch/>
        </p:blipFill>
        <p:spPr>
          <a:xfrm>
            <a:off x="9144000" y="0"/>
            <a:ext cx="9525" cy="10287000"/>
          </a:xfrm>
          <a:prstGeom prst="rect">
            <a:avLst/>
          </a:prstGeom>
        </p:spPr>
      </p:pic>
      <p:pic>
        <p:nvPicPr>
          <p:cNvPr id="5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">
            <a:alphaModFix amt="100000"/>
          </a:blip>
          <a:stretch/>
        </p:blipFill>
        <p:spPr>
          <a:xfrm>
            <a:off x="11430000" y="0"/>
            <a:ext cx="9525" cy="10287000"/>
          </a:xfrm>
          <a:prstGeom prst="rect">
            <a:avLst/>
          </a:prstGeom>
        </p:spPr>
      </p:pic>
      <p:pic>
        <p:nvPicPr>
          <p:cNvPr id="5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">
            <a:alphaModFix amt="100000"/>
          </a:blip>
          <a:stretch/>
        </p:blipFill>
        <p:spPr>
          <a:xfrm>
            <a:off x="13716000" y="0"/>
            <a:ext cx="9525" cy="10287000"/>
          </a:xfrm>
          <a:prstGeom prst="rect">
            <a:avLst/>
          </a:prstGeom>
        </p:spPr>
      </p:pic>
      <p:pic>
        <p:nvPicPr>
          <p:cNvPr id="5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">
            <a:alphaModFix amt="100000"/>
          </a:blip>
          <a:stretch/>
        </p:blipFill>
        <p:spPr>
          <a:xfrm>
            <a:off x="16002000" y="0"/>
            <a:ext cx="9525" cy="10287000"/>
          </a:xfrm>
          <a:prstGeom prst="rect">
            <a:avLst/>
          </a:prstGeom>
        </p:spPr>
      </p:pic>
      <p:pic>
        <p:nvPicPr>
          <p:cNvPr id="555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71">
            <a:alphaModFix amt="100000"/>
          </a:blip>
          <a:stretch/>
        </p:blipFill>
        <p:spPr>
          <a:xfrm>
            <a:off x="2286000" y="3848100"/>
            <a:ext cx="3409950" cy="3724275"/>
          </a:xfrm>
          <a:prstGeom prst="rect">
            <a:avLst/>
          </a:prstGeom>
        </p:spPr>
      </p:pic>
      <p:sp>
        <p:nvSpPr>
          <p:cNvPr id="55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7953375"/>
            <a:ext cx="3443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Model Concept</a:t>
            </a:r>
          </a:p>
        </p:txBody>
      </p:sp>
      <p:sp>
        <p:nvSpPr>
          <p:cNvPr id="55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8451628"/>
            <a:ext cx="344328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Mimics human reasoning with logical splits for clear decision paths.</a:t>
            </a:r>
          </a:p>
        </p:txBody>
      </p:sp>
      <p:pic>
        <p:nvPicPr>
          <p:cNvPr id="561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73">
            <a:alphaModFix amt="100000"/>
          </a:blip>
          <a:stretch/>
        </p:blipFill>
        <p:spPr>
          <a:xfrm>
            <a:off x="6229350" y="2895600"/>
            <a:ext cx="3409950" cy="3724275"/>
          </a:xfrm>
          <a:prstGeom prst="rect">
            <a:avLst/>
          </a:prstGeom>
        </p:spPr>
      </p:pic>
      <p:sp>
        <p:nvSpPr>
          <p:cNvPr id="56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29350" y="7000875"/>
            <a:ext cx="3443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Data Compatibility</a:t>
            </a:r>
          </a:p>
        </p:txBody>
      </p:sp>
      <p:sp>
        <p:nvSpPr>
          <p:cNvPr id="56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29350" y="7499128"/>
            <a:ext cx="344328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Handles both categorical and numerical data without scaling needs.</a:t>
            </a:r>
          </a:p>
        </p:txBody>
      </p:sp>
      <p:pic>
        <p:nvPicPr>
          <p:cNvPr id="567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75">
            <a:alphaModFix amt="100000"/>
          </a:blip>
          <a:stretch/>
        </p:blipFill>
        <p:spPr>
          <a:xfrm>
            <a:off x="10172700" y="3848100"/>
            <a:ext cx="3409950" cy="3724275"/>
          </a:xfrm>
          <a:prstGeom prst="rect">
            <a:avLst/>
          </a:prstGeom>
        </p:spPr>
      </p:pic>
      <p:sp>
        <p:nvSpPr>
          <p:cNvPr id="56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72700" y="7953375"/>
            <a:ext cx="3443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Key Advantages</a:t>
            </a:r>
          </a:p>
        </p:txBody>
      </p:sp>
      <p:sp>
        <p:nvSpPr>
          <p:cNvPr id="571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72700" y="8451628"/>
            <a:ext cx="344328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Offers easy interpretation and transparent explanation to stakeholders.</a:t>
            </a:r>
          </a:p>
        </p:txBody>
      </p:sp>
      <p:pic>
        <p:nvPicPr>
          <p:cNvPr id="573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77">
            <a:alphaModFix amt="100000"/>
          </a:blip>
          <a:stretch/>
        </p:blipFill>
        <p:spPr>
          <a:xfrm>
            <a:off x="14116050" y="2895600"/>
            <a:ext cx="3409950" cy="3724275"/>
          </a:xfrm>
          <a:prstGeom prst="rect">
            <a:avLst/>
          </a:prstGeom>
        </p:spPr>
      </p:pic>
      <p:sp>
        <p:nvSpPr>
          <p:cNvPr id="575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6050" y="7000875"/>
            <a:ext cx="3443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Practical Use</a:t>
            </a:r>
          </a:p>
        </p:txBody>
      </p:sp>
      <p:sp>
        <p:nvSpPr>
          <p:cNvPr id="577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6050" y="7499128"/>
            <a:ext cx="344328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Ideal for classification and regression requiring explainability in business.</a:t>
            </a:r>
          </a:p>
        </p:txBody>
      </p:sp>
      <p:sp>
        <p:nvSpPr>
          <p:cNvPr id="57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723900"/>
            <a:ext cx="11425238" cy="704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68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Decision Trees: Intuitive Logic for Business</a:t>
            </a:r>
          </a:p>
        </p:txBody>
      </p:sp>
      <p:pic>
        <p:nvPicPr>
          <p:cNvPr id="5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">
            <a:alphaModFix amt="100000"/>
          </a:blip>
          <a:stretch/>
        </p:blipFill>
        <p:spPr>
          <a:xfrm>
            <a:off x="4610100" y="1571625"/>
            <a:ext cx="1143000" cy="57150"/>
          </a:xfrm>
          <a:prstGeom prst="rect">
            <a:avLst/>
          </a:prstGeom>
        </p:spPr>
      </p:pic>
      <p:pic>
        <p:nvPicPr>
          <p:cNvPr id="5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1">
            <a:alphaModFix amt="100000"/>
          </a:blip>
          <a:stretch/>
        </p:blipFill>
        <p:spPr>
          <a:xfrm>
            <a:off x="0" y="0"/>
            <a:ext cx="2286000" cy="2476500"/>
          </a:xfrm>
          <a:prstGeom prst="rect">
            <a:avLst/>
          </a:prstGeom>
        </p:spPr>
      </p:pic>
      <p:pic>
        <p:nvPicPr>
          <p:cNvPr id="5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3">
            <a:alphaModFix amt="100000"/>
          </a:blip>
          <a:stretch/>
        </p:blipFill>
        <p:spPr>
          <a:xfrm>
            <a:off x="11430000" y="9524810"/>
            <a:ext cx="2286000" cy="762000"/>
          </a:xfrm>
          <a:prstGeom prst="rect">
            <a:avLst/>
          </a:prstGeom>
        </p:spPr>
      </p:pic>
      <p:sp>
        <p:nvSpPr>
          <p:cNvPr id="58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1790700"/>
            <a:ext cx="114252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Clear insights on data-driven decisions and practical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p:transition spd="med" p14:dur="700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42" dur="12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44" dur="1200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46" dur="1200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48" dur="1200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50" dur="12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52" dur="1200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54" dur="1200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56" dur="1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58" dur="1000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560" dur="10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62" dur="10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64" dur="10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566" dur="10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68" dur="10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70" dur="1000" fill="hold"/>
                                        <p:tgtEl>
                                          <p:spTgt spid="5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572" dur="1000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74" dur="1000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76" dur="10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578" dur="100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80" dur="600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82" dur="600" fill="hold"/>
                                        <p:tgtEl>
                                          <p:spTgt spid="5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84" dur="1200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4.0690106E-06 L 0 4.0690106E-06 E" pathEditMode="relative" ptsTypes="">
                                      <p:cBhvr>
                                        <p:cTn id="586" dur="12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588" dur="600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" grpId="0"/>
      <p:bldP spid="541" grpId="0"/>
      <p:bldP spid="543" grpId="0"/>
      <p:bldP spid="543" grpId="0"/>
      <p:bldP spid="545" grpId="0"/>
      <p:bldP spid="545" grpId="0"/>
      <p:bldP spid="547" grpId="0"/>
      <p:bldP spid="547" grpId="0"/>
      <p:bldP spid="549" grpId="0"/>
      <p:bldP spid="549" grpId="0"/>
      <p:bldP spid="551" grpId="0"/>
      <p:bldP spid="551" grpId="0"/>
      <p:bldP spid="553" grpId="0"/>
      <p:bldP spid="553" grpId="0"/>
      <p:bldP spid="555" grpId="0"/>
      <p:bldP spid="555" grpId="0"/>
      <p:bldP spid="557" grpId="0"/>
      <p:bldP spid="557" grpId="0"/>
      <p:bldP spid="559" grpId="0"/>
      <p:bldP spid="559" grpId="0"/>
      <p:bldP spid="561" grpId="0"/>
      <p:bldP spid="561" grpId="0"/>
      <p:bldP spid="563" grpId="0"/>
      <p:bldP spid="563" grpId="0"/>
      <p:bldP spid="565" grpId="0"/>
      <p:bldP spid="565" grpId="0"/>
      <p:bldP spid="567" grpId="0"/>
      <p:bldP spid="567" grpId="0"/>
      <p:bldP spid="569" grpId="0"/>
      <p:bldP spid="569" grpId="0"/>
      <p:bldP spid="571" grpId="0"/>
      <p:bldP spid="571" grpId="0"/>
      <p:bldP spid="573" grpId="0"/>
      <p:bldP spid="573" grpId="0"/>
      <p:bldP spid="575" grpId="0"/>
      <p:bldP spid="575" grpId="0"/>
      <p:bldP spid="577" grpId="0"/>
      <p:bldP spid="577" grpId="0"/>
      <p:bldP spid="579" grpId="0"/>
      <p:bldP spid="579" grpId="0"/>
      <p:bldP spid="581" grpId="0"/>
      <p:bldP spid="581" grpId="0"/>
      <p:bldP spid="583" grpId="0"/>
      <p:bldP spid="583" grpId="0"/>
      <p:bldP spid="585" grpId="0"/>
      <p:bldP spid="585" grpId="0"/>
      <p:bldP spid="587" grpId="0"/>
      <p:bldP spid="587" grpId="0"/>
    </p:bldLst>
  </p:timing>
</p:sld>
</file>

<file path=ppt/slides/slide6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9">
            <a:alphaModFix amt="100000"/>
          </a:blip>
          <a:stretch/>
        </p:blipFill>
        <p:spPr>
          <a:xfrm>
            <a:off x="2286000" y="0"/>
            <a:ext cx="9525" cy="10287000"/>
          </a:xfrm>
          <a:prstGeom prst="rect">
            <a:avLst/>
          </a:prstGeom>
        </p:spPr>
      </p:pic>
      <p:pic>
        <p:nvPicPr>
          <p:cNvPr id="5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1">
            <a:alphaModFix amt="100000"/>
          </a:blip>
          <a:stretch/>
        </p:blipFill>
        <p:spPr>
          <a:xfrm>
            <a:off x="4572000" y="0"/>
            <a:ext cx="9525" cy="10287000"/>
          </a:xfrm>
          <a:prstGeom prst="rect">
            <a:avLst/>
          </a:prstGeom>
        </p:spPr>
      </p:pic>
      <p:pic>
        <p:nvPicPr>
          <p:cNvPr id="5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3">
            <a:alphaModFix amt="100000"/>
          </a:blip>
          <a:stretch/>
        </p:blipFill>
        <p:spPr>
          <a:xfrm>
            <a:off x="6858000" y="0"/>
            <a:ext cx="9525" cy="10287000"/>
          </a:xfrm>
          <a:prstGeom prst="rect">
            <a:avLst/>
          </a:prstGeom>
        </p:spPr>
      </p:pic>
      <p:pic>
        <p:nvPicPr>
          <p:cNvPr id="5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5">
            <a:alphaModFix amt="100000"/>
          </a:blip>
          <a:stretch/>
        </p:blipFill>
        <p:spPr>
          <a:xfrm>
            <a:off x="9144000" y="0"/>
            <a:ext cx="9525" cy="10287000"/>
          </a:xfrm>
          <a:prstGeom prst="rect">
            <a:avLst/>
          </a:prstGeom>
        </p:spPr>
      </p:pic>
      <p:pic>
        <p:nvPicPr>
          <p:cNvPr id="6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7">
            <a:alphaModFix amt="100000"/>
          </a:blip>
          <a:stretch/>
        </p:blipFill>
        <p:spPr>
          <a:xfrm>
            <a:off x="11430000" y="0"/>
            <a:ext cx="9525" cy="10287000"/>
          </a:xfrm>
          <a:prstGeom prst="rect">
            <a:avLst/>
          </a:prstGeom>
        </p:spPr>
      </p:pic>
      <p:pic>
        <p:nvPicPr>
          <p:cNvPr id="6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9">
            <a:alphaModFix amt="100000"/>
          </a:blip>
          <a:stretch/>
        </p:blipFill>
        <p:spPr>
          <a:xfrm>
            <a:off x="13716000" y="0"/>
            <a:ext cx="9525" cy="10287000"/>
          </a:xfrm>
          <a:prstGeom prst="rect">
            <a:avLst/>
          </a:prstGeom>
        </p:spPr>
      </p:pic>
      <p:pic>
        <p:nvPicPr>
          <p:cNvPr id="6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1">
            <a:alphaModFix amt="100000"/>
          </a:blip>
          <a:stretch/>
        </p:blipFill>
        <p:spPr>
          <a:xfrm>
            <a:off x="16002000" y="0"/>
            <a:ext cx="9525" cy="10287000"/>
          </a:xfrm>
          <a:prstGeom prst="rect">
            <a:avLst/>
          </a:prstGeom>
        </p:spPr>
      </p:pic>
      <p:pic>
        <p:nvPicPr>
          <p:cNvPr id="6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3">
            <a:alphaModFix amt="100000"/>
          </a:blip>
          <a:stretch/>
        </p:blipFill>
        <p:spPr>
          <a:xfrm>
            <a:off x="2286000" y="4324350"/>
            <a:ext cx="1047750" cy="1047750"/>
          </a:xfrm>
          <a:prstGeom prst="rect">
            <a:avLst/>
          </a:prstGeom>
        </p:spPr>
      </p:pic>
      <p:pic>
        <p:nvPicPr>
          <p:cNvPr id="608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6">
            <a:alphaModFix amt="100000"/>
            <a:extLst>
              <a:ext uri="{100BF2DA-A91B-41E9-AA83-1173F1ED3A5A}">
                <asvg:svgBlip xmlns:r="http://schemas.openxmlformats.org/officeDocument/2006/relationships" xmlns:asvg="http://schemas.microsoft.com/office/drawing/2016/SVG/main" r:embed="rId20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2548795" y="4587145"/>
            <a:ext cx="525685" cy="525685"/>
          </a:xfrm>
          <a:prstGeom prst="rect">
            <a:avLst/>
          </a:prstGeom>
        </p:spPr>
      </p:pic>
      <p:sp>
        <p:nvSpPr>
          <p:cNvPr id="61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5756815"/>
            <a:ext cx="3443288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XGBoost Enhances Prediction Accuracy</a:t>
            </a:r>
          </a:p>
        </p:txBody>
      </p:sp>
      <p:sp>
        <p:nvSpPr>
          <p:cNvPr id="61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6639116"/>
            <a:ext cx="3443288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An advanced ensemble approach that combines multiple decision trees using boosting to significantly improve prediction accuracy across diverse datasets.</a:t>
            </a:r>
          </a:p>
        </p:txBody>
      </p:sp>
      <p:pic>
        <p:nvPicPr>
          <p:cNvPr id="6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8">
            <a:alphaModFix amt="100000"/>
          </a:blip>
          <a:stretch/>
        </p:blipFill>
        <p:spPr>
          <a:xfrm>
            <a:off x="6229350" y="4324350"/>
            <a:ext cx="1047750" cy="1047750"/>
          </a:xfrm>
          <a:prstGeom prst="rect">
            <a:avLst/>
          </a:prstGeom>
        </p:spPr>
      </p:pic>
      <p:pic>
        <p:nvPicPr>
          <p:cNvPr id="616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1">
            <a:alphaModFix amt="100000"/>
            <a:extLst>
              <a:ext uri="{3C4A48CD-30C4-4474-B0D4-5EE1D444103B}">
                <asvg:svgBlip xmlns:r="http://schemas.openxmlformats.org/officeDocument/2006/relationships" xmlns:asvg="http://schemas.microsoft.com/office/drawing/2016/SVG/main" r:embed="rId21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6492145" y="4587145"/>
            <a:ext cx="525685" cy="525685"/>
          </a:xfrm>
          <a:prstGeom prst="rect">
            <a:avLst/>
          </a:prstGeom>
        </p:spPr>
      </p:pic>
      <p:sp>
        <p:nvSpPr>
          <p:cNvPr id="618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29350" y="5756815"/>
            <a:ext cx="3443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Sequential Error Correction</a:t>
            </a:r>
          </a:p>
        </p:txBody>
      </p:sp>
      <p:sp>
        <p:nvSpPr>
          <p:cNvPr id="62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29350" y="6255068"/>
            <a:ext cx="3443288" cy="1790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Each new tree in the ensemble focuses on correcting errors made by previous trees, refining the model’s predictions iteratively for better results.</a:t>
            </a:r>
          </a:p>
        </p:txBody>
      </p:sp>
      <p:pic>
        <p:nvPicPr>
          <p:cNvPr id="6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3">
            <a:alphaModFix amt="100000"/>
          </a:blip>
          <a:stretch/>
        </p:blipFill>
        <p:spPr>
          <a:xfrm>
            <a:off x="10172700" y="4324350"/>
            <a:ext cx="1047750" cy="1047750"/>
          </a:xfrm>
          <a:prstGeom prst="rect">
            <a:avLst/>
          </a:prstGeom>
        </p:spPr>
      </p:pic>
      <p:pic>
        <p:nvPicPr>
          <p:cNvPr id="624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">
            <a:alphaModFix amt="100000"/>
            <a:extLst>
              <a:ext uri="{4047487A-F857-4321-AA3E-CF61145A6FBD}">
                <asvg:svgBlip xmlns:r="http://schemas.openxmlformats.org/officeDocument/2006/relationships" xmlns:asvg="http://schemas.microsoft.com/office/drawing/2016/SVG/main" r:embed="rId21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0435495" y="4587145"/>
            <a:ext cx="525685" cy="525685"/>
          </a:xfrm>
          <a:prstGeom prst="rect">
            <a:avLst/>
          </a:prstGeom>
        </p:spPr>
      </p:pic>
      <p:sp>
        <p:nvSpPr>
          <p:cNvPr id="62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72700" y="5756815"/>
            <a:ext cx="3443288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Fast and Scalable Computation</a:t>
            </a:r>
          </a:p>
        </p:txBody>
      </p:sp>
      <p:sp>
        <p:nvSpPr>
          <p:cNvPr id="62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72700" y="6639116"/>
            <a:ext cx="3443288" cy="1790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Optimized algorithms enable XGBoost to deliver timely predictions even on large-scale datasets, making it suitable for high-performance applications.</a:t>
            </a:r>
          </a:p>
        </p:txBody>
      </p:sp>
      <p:pic>
        <p:nvPicPr>
          <p:cNvPr id="6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8">
            <a:alphaModFix amt="100000"/>
          </a:blip>
          <a:stretch/>
        </p:blipFill>
        <p:spPr>
          <a:xfrm>
            <a:off x="14116050" y="4324350"/>
            <a:ext cx="1047750" cy="1047750"/>
          </a:xfrm>
          <a:prstGeom prst="rect">
            <a:avLst/>
          </a:prstGeom>
        </p:spPr>
      </p:pic>
      <p:pic>
        <p:nvPicPr>
          <p:cNvPr id="632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">
            <a:alphaModFix amt="100000"/>
          </a:blip>
          <a:stretch/>
        </p:blipFill>
        <p:spPr>
          <a:xfrm>
            <a:off x="14378845" y="4587145"/>
            <a:ext cx="525685" cy="525685"/>
          </a:xfrm>
          <a:prstGeom prst="rect">
            <a:avLst/>
          </a:prstGeom>
        </p:spPr>
      </p:pic>
      <p:sp>
        <p:nvSpPr>
          <p:cNvPr id="634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6050" y="5756815"/>
            <a:ext cx="3443288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Overfitting Control with Regularization</a:t>
            </a:r>
          </a:p>
        </p:txBody>
      </p:sp>
      <p:sp>
        <p:nvSpPr>
          <p:cNvPr id="636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6050" y="6639116"/>
            <a:ext cx="3443288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Built-in regularization techniques reduce overfitting risks, ensuring that the model generalizes well to new, unseen data for reliable performance.</a:t>
            </a:r>
          </a:p>
        </p:txBody>
      </p:sp>
      <p:sp>
        <p:nvSpPr>
          <p:cNvPr id="63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723900"/>
            <a:ext cx="11425238" cy="1381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68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Ensemble Techniques: Boosting Accuracy with XGBoost</a:t>
            </a:r>
          </a:p>
        </p:txBody>
      </p:sp>
      <p:pic>
        <p:nvPicPr>
          <p:cNvPr id="6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">
            <a:alphaModFix amt="100000"/>
          </a:blip>
          <a:stretch/>
        </p:blipFill>
        <p:spPr>
          <a:xfrm>
            <a:off x="4610100" y="2247900"/>
            <a:ext cx="1143000" cy="57150"/>
          </a:xfrm>
          <a:prstGeom prst="rect">
            <a:avLst/>
          </a:prstGeom>
        </p:spPr>
      </p:pic>
      <p:pic>
        <p:nvPicPr>
          <p:cNvPr id="6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">
            <a:alphaModFix amt="100000"/>
          </a:blip>
          <a:stretch/>
        </p:blipFill>
        <p:spPr>
          <a:xfrm>
            <a:off x="0" y="0"/>
            <a:ext cx="2286000" cy="2476500"/>
          </a:xfrm>
          <a:prstGeom prst="rect">
            <a:avLst/>
          </a:prstGeom>
        </p:spPr>
      </p:pic>
      <p:pic>
        <p:nvPicPr>
          <p:cNvPr id="6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6">
            <a:alphaModFix amt="100000"/>
          </a:blip>
          <a:stretch/>
        </p:blipFill>
        <p:spPr>
          <a:xfrm>
            <a:off x="11430000" y="9524810"/>
            <a:ext cx="2286000" cy="762000"/>
          </a:xfrm>
          <a:prstGeom prst="rect">
            <a:avLst/>
          </a:prstGeom>
        </p:spPr>
      </p:pic>
      <p:sp>
        <p:nvSpPr>
          <p:cNvPr id="64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2476500"/>
            <a:ext cx="114252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Optimized ensemble model delivering fast, accurate, and reliable predictions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p:transition spd="med" p14:dur="700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93" dur="1200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95" dur="1200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97" dur="1200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599" dur="1200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01" dur="1200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03" dur="1200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05" dur="120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07" dur="100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3.475613E-06 L 1.9550323E-06 3.475613E-06 E" pathEditMode="relative" ptsTypes="">
                                      <p:cBhvr>
                                        <p:cTn id="609" dur="1000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5.6514034E-07 L 0 5.6514034E-07 E" pathEditMode="relative" ptsTypes="">
                                      <p:cBhvr>
                                        <p:cTn id="611" dur="10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4.0690106E-06 L 0 -4.0690106E-06 E" pathEditMode="relative" ptsTypes="">
                                      <p:cBhvr>
                                        <p:cTn id="613" dur="10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15" dur="100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3605 3.475613E-06 L 1.9391377E-06 3.475613E-06 E" pathEditMode="relative" ptsTypes="">
                                      <p:cBhvr>
                                        <p:cTn id="617" dur="1000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5.6514034E-07 L 0 5.6514034E-07 E" pathEditMode="relative" ptsTypes="">
                                      <p:cBhvr>
                                        <p:cTn id="619" dur="1000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2.8822158E-06 L 0 2.8822158E-06 E" pathEditMode="relative" ptsTypes="">
                                      <p:cBhvr>
                                        <p:cTn id="621" dur="100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23" dur="1000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3637 3.475613E-06 L 1.9709269E-06 3.475613E-06 E" pathEditMode="relative" ptsTypes="">
                                      <p:cBhvr>
                                        <p:cTn id="625" dur="10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5.6514034E-07 L 0 5.6514034E-07 E" pathEditMode="relative" ptsTypes="">
                                      <p:cBhvr>
                                        <p:cTn id="627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-4.0690106E-06 L 0 -4.0690106E-06 E" pathEditMode="relative" ptsTypes="">
                                      <p:cBhvr>
                                        <p:cTn id="629" dur="1000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31" dur="1000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3637 3.475613E-06 L 1.9709269E-06 3.475613E-06 E" pathEditMode="relative" ptsTypes="">
                                      <p:cBhvr>
                                        <p:cTn id="633" dur="1000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5.6514034E-07 L 0 5.6514034E-07 E" pathEditMode="relative" ptsTypes="">
                                      <p:cBhvr>
                                        <p:cTn id="635" dur="1000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-4.0690106E-06 L 0 -4.0690106E-06 E" pathEditMode="relative" ptsTypes="">
                                      <p:cBhvr>
                                        <p:cTn id="637" dur="1000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39" dur="600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41" dur="600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43" dur="1200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4.0690106E-06 L 0 4.0690106E-06 E" pathEditMode="relative" ptsTypes="">
                                      <p:cBhvr>
                                        <p:cTn id="645" dur="12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47" dur="6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2" grpId="0"/>
      <p:bldP spid="592" grpId="0"/>
      <p:bldP spid="594" grpId="0"/>
      <p:bldP spid="594" grpId="0"/>
      <p:bldP spid="596" grpId="0"/>
      <p:bldP spid="596" grpId="0"/>
      <p:bldP spid="598" grpId="0"/>
      <p:bldP spid="598" grpId="0"/>
      <p:bldP spid="600" grpId="0"/>
      <p:bldP spid="600" grpId="0"/>
      <p:bldP spid="602" grpId="0"/>
      <p:bldP spid="602" grpId="0"/>
      <p:bldP spid="604" grpId="0"/>
      <p:bldP spid="604" grpId="0"/>
      <p:bldP spid="606" grpId="0"/>
      <p:bldP spid="606" grpId="0"/>
      <p:bldP spid="608" grpId="0"/>
      <p:bldP spid="608" grpId="0"/>
      <p:bldP spid="610" grpId="0"/>
      <p:bldP spid="610" grpId="0"/>
      <p:bldP spid="612" grpId="0"/>
      <p:bldP spid="612" grpId="0"/>
      <p:bldP spid="614" grpId="0"/>
      <p:bldP spid="614" grpId="0"/>
      <p:bldP spid="616" grpId="0"/>
      <p:bldP spid="616" grpId="0"/>
      <p:bldP spid="618" grpId="0"/>
      <p:bldP spid="618" grpId="0"/>
      <p:bldP spid="620" grpId="0"/>
      <p:bldP spid="620" grpId="0"/>
      <p:bldP spid="622" grpId="0"/>
      <p:bldP spid="622" grpId="0"/>
      <p:bldP spid="624" grpId="0"/>
      <p:bldP spid="624" grpId="0"/>
      <p:bldP spid="626" grpId="0"/>
      <p:bldP spid="626" grpId="0"/>
      <p:bldP spid="628" grpId="0"/>
      <p:bldP spid="628" grpId="0"/>
      <p:bldP spid="630" grpId="0"/>
      <p:bldP spid="630" grpId="0"/>
      <p:bldP spid="632" grpId="0"/>
      <p:bldP spid="632" grpId="0"/>
      <p:bldP spid="634" grpId="0"/>
      <p:bldP spid="634" grpId="0"/>
      <p:bldP spid="636" grpId="0"/>
      <p:bldP spid="636" grpId="0"/>
      <p:bldP spid="638" grpId="0"/>
      <p:bldP spid="638" grpId="0"/>
      <p:bldP spid="640" grpId="0"/>
      <p:bldP spid="640" grpId="0"/>
      <p:bldP spid="642" grpId="0"/>
      <p:bldP spid="642" grpId="0"/>
      <p:bldP spid="644" grpId="0"/>
      <p:bldP spid="644" grpId="0"/>
      <p:bldP spid="646" grpId="0"/>
      <p:bldP spid="646" grpId="0"/>
    </p:bldLst>
  </p:timing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2">
            <a:alphaModFix amt="100000"/>
          </a:blip>
          <a:stretch/>
        </p:blipFill>
        <p:spPr>
          <a:xfrm>
            <a:off x="2286000" y="0"/>
            <a:ext cx="9525" cy="10287000"/>
          </a:xfrm>
          <a:prstGeom prst="rect">
            <a:avLst/>
          </a:prstGeom>
        </p:spPr>
      </p:pic>
      <p:pic>
        <p:nvPicPr>
          <p:cNvPr id="6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4">
            <a:alphaModFix amt="100000"/>
          </a:blip>
          <a:stretch/>
        </p:blipFill>
        <p:spPr>
          <a:xfrm>
            <a:off x="4572000" y="0"/>
            <a:ext cx="9525" cy="10287000"/>
          </a:xfrm>
          <a:prstGeom prst="rect">
            <a:avLst/>
          </a:prstGeom>
        </p:spPr>
      </p:pic>
      <p:pic>
        <p:nvPicPr>
          <p:cNvPr id="6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6">
            <a:alphaModFix amt="100000"/>
          </a:blip>
          <a:stretch/>
        </p:blipFill>
        <p:spPr>
          <a:xfrm>
            <a:off x="6858000" y="0"/>
            <a:ext cx="9525" cy="10287000"/>
          </a:xfrm>
          <a:prstGeom prst="rect">
            <a:avLst/>
          </a:prstGeom>
        </p:spPr>
      </p:pic>
      <p:pic>
        <p:nvPicPr>
          <p:cNvPr id="6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8">
            <a:alphaModFix amt="100000"/>
          </a:blip>
          <a:stretch/>
        </p:blipFill>
        <p:spPr>
          <a:xfrm>
            <a:off x="9144000" y="0"/>
            <a:ext cx="9525" cy="10287000"/>
          </a:xfrm>
          <a:prstGeom prst="rect">
            <a:avLst/>
          </a:prstGeom>
        </p:spPr>
      </p:pic>
      <p:pic>
        <p:nvPicPr>
          <p:cNvPr id="6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 amt="100000"/>
          </a:blip>
          <a:stretch/>
        </p:blipFill>
        <p:spPr>
          <a:xfrm>
            <a:off x="11430000" y="0"/>
            <a:ext cx="9525" cy="10287000"/>
          </a:xfrm>
          <a:prstGeom prst="rect">
            <a:avLst/>
          </a:prstGeom>
        </p:spPr>
      </p:pic>
      <p:pic>
        <p:nvPicPr>
          <p:cNvPr id="6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2">
            <a:alphaModFix amt="100000"/>
          </a:blip>
          <a:stretch/>
        </p:blipFill>
        <p:spPr>
          <a:xfrm>
            <a:off x="13716000" y="0"/>
            <a:ext cx="9525" cy="10287000"/>
          </a:xfrm>
          <a:prstGeom prst="rect">
            <a:avLst/>
          </a:prstGeom>
        </p:spPr>
      </p:pic>
      <p:pic>
        <p:nvPicPr>
          <p:cNvPr id="6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4">
            <a:alphaModFix amt="100000"/>
          </a:blip>
          <a:stretch/>
        </p:blipFill>
        <p:spPr>
          <a:xfrm>
            <a:off x="16002000" y="0"/>
            <a:ext cx="9525" cy="10287000"/>
          </a:xfrm>
          <a:prstGeom prst="rect">
            <a:avLst/>
          </a:prstGeom>
        </p:spPr>
      </p:pic>
      <p:pic>
        <p:nvPicPr>
          <p:cNvPr id="6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6">
            <a:alphaModFix amt="100000"/>
          </a:blip>
          <a:stretch/>
        </p:blipFill>
        <p:spPr>
          <a:xfrm>
            <a:off x="2286000" y="2895600"/>
            <a:ext cx="3667125" cy="6629400"/>
          </a:xfrm>
          <a:prstGeom prst="rect">
            <a:avLst/>
          </a:prstGeom>
        </p:spPr>
      </p:pic>
      <p:pic>
        <p:nvPicPr>
          <p:cNvPr id="666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48">
            <a:alphaModFix amt="100000"/>
          </a:blip>
          <a:stretch/>
        </p:blipFill>
        <p:spPr>
          <a:xfrm>
            <a:off x="2514600" y="3124200"/>
            <a:ext cx="3209925" cy="4638675"/>
          </a:xfrm>
          <a:prstGeom prst="rect">
            <a:avLst/>
          </a:prstGeom>
        </p:spPr>
      </p:pic>
      <p:pic>
        <p:nvPicPr>
          <p:cNvPr id="6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0">
            <a:alphaModFix amt="100000"/>
          </a:blip>
          <a:stretch/>
        </p:blipFill>
        <p:spPr>
          <a:xfrm>
            <a:off x="2514600" y="7877175"/>
            <a:ext cx="3209925" cy="1419225"/>
          </a:xfrm>
          <a:prstGeom prst="rect">
            <a:avLst/>
          </a:prstGeom>
        </p:spPr>
      </p:pic>
      <p:sp>
        <p:nvSpPr>
          <p:cNvPr id="67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743200" y="8105775"/>
            <a:ext cx="278606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spc="-108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Designed for Scale</a:t>
            </a:r>
          </a:p>
        </p:txBody>
      </p:sp>
      <p:pic>
        <p:nvPicPr>
          <p:cNvPr id="6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2">
            <a:alphaModFix amt="100000"/>
          </a:blip>
          <a:stretch/>
        </p:blipFill>
        <p:spPr>
          <a:xfrm>
            <a:off x="6143625" y="2895600"/>
            <a:ext cx="3667125" cy="6629400"/>
          </a:xfrm>
          <a:prstGeom prst="rect">
            <a:avLst/>
          </a:prstGeom>
        </p:spPr>
      </p:pic>
      <p:pic>
        <p:nvPicPr>
          <p:cNvPr id="673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54">
            <a:alphaModFix amt="100000"/>
          </a:blip>
          <a:stretch/>
        </p:blipFill>
        <p:spPr>
          <a:xfrm>
            <a:off x="6372225" y="3124200"/>
            <a:ext cx="3209925" cy="4638675"/>
          </a:xfrm>
          <a:prstGeom prst="rect">
            <a:avLst/>
          </a:prstGeom>
        </p:spPr>
      </p:pic>
      <p:pic>
        <p:nvPicPr>
          <p:cNvPr id="6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6">
            <a:alphaModFix amt="100000"/>
          </a:blip>
          <a:stretch/>
        </p:blipFill>
        <p:spPr>
          <a:xfrm>
            <a:off x="6372225" y="7877175"/>
            <a:ext cx="3209925" cy="1419225"/>
          </a:xfrm>
          <a:prstGeom prst="rect">
            <a:avLst/>
          </a:prstGeom>
        </p:spPr>
      </p:pic>
      <p:sp>
        <p:nvSpPr>
          <p:cNvPr id="67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00825" y="8105775"/>
            <a:ext cx="278606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spc="-108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Leaf-Wise Growth</a:t>
            </a:r>
          </a:p>
        </p:txBody>
      </p:sp>
      <p:pic>
        <p:nvPicPr>
          <p:cNvPr id="6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8">
            <a:alphaModFix amt="100000"/>
          </a:blip>
          <a:stretch/>
        </p:blipFill>
        <p:spPr>
          <a:xfrm>
            <a:off x="10001250" y="2895600"/>
            <a:ext cx="3667125" cy="6629400"/>
          </a:xfrm>
          <a:prstGeom prst="rect">
            <a:avLst/>
          </a:prstGeom>
        </p:spPr>
      </p:pic>
      <p:pic>
        <p:nvPicPr>
          <p:cNvPr id="680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60">
            <a:alphaModFix amt="100000"/>
          </a:blip>
          <a:stretch/>
        </p:blipFill>
        <p:spPr>
          <a:xfrm>
            <a:off x="10229850" y="3124200"/>
            <a:ext cx="3209925" cy="4638675"/>
          </a:xfrm>
          <a:prstGeom prst="rect">
            <a:avLst/>
          </a:prstGeom>
        </p:spPr>
      </p:pic>
      <p:pic>
        <p:nvPicPr>
          <p:cNvPr id="6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2">
            <a:alphaModFix amt="100000"/>
          </a:blip>
          <a:stretch/>
        </p:blipFill>
        <p:spPr>
          <a:xfrm>
            <a:off x="10229850" y="7877175"/>
            <a:ext cx="3209925" cy="1419225"/>
          </a:xfrm>
          <a:prstGeom prst="rect">
            <a:avLst/>
          </a:prstGeom>
        </p:spPr>
      </p:pic>
      <p:sp>
        <p:nvSpPr>
          <p:cNvPr id="684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458450" y="8105775"/>
            <a:ext cx="278606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spc="-108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Fast Training</a:t>
            </a:r>
          </a:p>
        </p:txBody>
      </p:sp>
      <p:pic>
        <p:nvPicPr>
          <p:cNvPr id="6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4">
            <a:alphaModFix amt="100000"/>
          </a:blip>
          <a:stretch/>
        </p:blipFill>
        <p:spPr>
          <a:xfrm>
            <a:off x="13858875" y="2895600"/>
            <a:ext cx="3667125" cy="6629400"/>
          </a:xfrm>
          <a:prstGeom prst="rect">
            <a:avLst/>
          </a:prstGeom>
        </p:spPr>
      </p:pic>
      <p:pic>
        <p:nvPicPr>
          <p:cNvPr id="687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66">
            <a:alphaModFix amt="100000"/>
          </a:blip>
          <a:stretch/>
        </p:blipFill>
        <p:spPr>
          <a:xfrm>
            <a:off x="14087475" y="3124200"/>
            <a:ext cx="3209925" cy="4638675"/>
          </a:xfrm>
          <a:prstGeom prst="rect">
            <a:avLst/>
          </a:prstGeom>
        </p:spPr>
      </p:pic>
      <p:pic>
        <p:nvPicPr>
          <p:cNvPr id="6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8">
            <a:alphaModFix amt="100000"/>
          </a:blip>
          <a:stretch/>
        </p:blipFill>
        <p:spPr>
          <a:xfrm>
            <a:off x="14087475" y="7877175"/>
            <a:ext cx="3209925" cy="1419225"/>
          </a:xfrm>
          <a:prstGeom prst="rect">
            <a:avLst/>
          </a:prstGeom>
        </p:spPr>
      </p:pic>
      <p:sp>
        <p:nvSpPr>
          <p:cNvPr id="691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316075" y="8105775"/>
            <a:ext cx="278606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spc="-108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Low Memory Use</a:t>
            </a:r>
          </a:p>
        </p:txBody>
      </p:sp>
      <p:sp>
        <p:nvSpPr>
          <p:cNvPr id="69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723900"/>
            <a:ext cx="11425238" cy="704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68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Scaling and Efficiency with LightGBM</a:t>
            </a:r>
          </a:p>
        </p:txBody>
      </p:sp>
      <p:pic>
        <p:nvPicPr>
          <p:cNvPr id="6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0">
            <a:alphaModFix amt="100000"/>
          </a:blip>
          <a:stretch/>
        </p:blipFill>
        <p:spPr>
          <a:xfrm>
            <a:off x="4610100" y="1571625"/>
            <a:ext cx="1143000" cy="57150"/>
          </a:xfrm>
          <a:prstGeom prst="rect">
            <a:avLst/>
          </a:prstGeom>
        </p:spPr>
      </p:pic>
      <p:pic>
        <p:nvPicPr>
          <p:cNvPr id="6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2">
            <a:alphaModFix amt="100000"/>
          </a:blip>
          <a:stretch/>
        </p:blipFill>
        <p:spPr>
          <a:xfrm>
            <a:off x="0" y="0"/>
            <a:ext cx="2286000" cy="2476500"/>
          </a:xfrm>
          <a:prstGeom prst="rect">
            <a:avLst/>
          </a:prstGeom>
        </p:spPr>
      </p:pic>
      <p:pic>
        <p:nvPicPr>
          <p:cNvPr id="6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4">
            <a:alphaModFix amt="100000"/>
          </a:blip>
          <a:stretch/>
        </p:blipFill>
        <p:spPr>
          <a:xfrm>
            <a:off x="11430000" y="9524810"/>
            <a:ext cx="2286000" cy="762000"/>
          </a:xfrm>
          <a:prstGeom prst="rect">
            <a:avLst/>
          </a:prstGeom>
        </p:spPr>
      </p:pic>
      <p:sp>
        <p:nvSpPr>
          <p:cNvPr id="70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1790700"/>
            <a:ext cx="114252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Optimized for large-scale data challenges with fast, efficient training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p:transition spd="med" p14:dur="700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52" dur="1200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54" dur="1200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56" dur="1200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58" dur="1200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60" dur="1200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62" dur="1200" fill="hold"/>
                                        <p:tgtEl>
                                          <p:spTgt spid="6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64" dur="1200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67" dur="1000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69" dur="1000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71" dur="10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74" dur="1000" fill="hold"/>
                                        <p:tgtEl>
                                          <p:spTgt spid="6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76" dur="1000" fill="hold"/>
                                        <p:tgtEl>
                                          <p:spTgt spid="6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78" dur="1000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81" dur="1000" fill="hold"/>
                                        <p:tgtEl>
                                          <p:spTgt spid="6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83" dur="1000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85" dur="1000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88" dur="1000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90" dur="1000" fill="hold"/>
                                        <p:tgtEl>
                                          <p:spTgt spid="6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92" dur="1000" fill="hold"/>
                                        <p:tgtEl>
                                          <p:spTgt spid="6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94" dur="6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696" dur="600" fill="hold"/>
                                        <p:tgtEl>
                                          <p:spTgt spid="6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698" dur="12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4.0690106E-06 L 0 4.0690106E-06 E" pathEditMode="relative" ptsTypes="">
                                      <p:cBhvr>
                                        <p:cTn id="700" dur="1200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702" dur="6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" grpId="0"/>
      <p:bldP spid="651" grpId="0"/>
      <p:bldP spid="653" grpId="0"/>
      <p:bldP spid="653" grpId="0"/>
      <p:bldP spid="655" grpId="0"/>
      <p:bldP spid="655" grpId="0"/>
      <p:bldP spid="657" grpId="0"/>
      <p:bldP spid="657" grpId="0"/>
      <p:bldP spid="659" grpId="0"/>
      <p:bldP spid="659" grpId="0"/>
      <p:bldP spid="661" grpId="0"/>
      <p:bldP spid="661" grpId="0"/>
      <p:bldP spid="663" grpId="0"/>
      <p:bldP spid="663" grpId="0"/>
      <p:bldP spid="665" grpId="0"/>
      <p:bldP spid="666" grpId="0"/>
      <p:bldP spid="666" grpId="0"/>
      <p:bldP spid="668" grpId="0"/>
      <p:bldP spid="668" grpId="0"/>
      <p:bldP spid="670" grpId="0"/>
      <p:bldP spid="670" grpId="0"/>
      <p:bldP spid="672" grpId="0"/>
      <p:bldP spid="673" grpId="0"/>
      <p:bldP spid="673" grpId="0"/>
      <p:bldP spid="675" grpId="0"/>
      <p:bldP spid="675" grpId="0"/>
      <p:bldP spid="677" grpId="0"/>
      <p:bldP spid="677" grpId="0"/>
      <p:bldP spid="679" grpId="0"/>
      <p:bldP spid="680" grpId="0"/>
      <p:bldP spid="680" grpId="0"/>
      <p:bldP spid="682" grpId="0"/>
      <p:bldP spid="682" grpId="0"/>
      <p:bldP spid="684" grpId="0"/>
      <p:bldP spid="684" grpId="0"/>
      <p:bldP spid="686" grpId="0"/>
      <p:bldP spid="687" grpId="0"/>
      <p:bldP spid="687" grpId="0"/>
      <p:bldP spid="689" grpId="0"/>
      <p:bldP spid="689" grpId="0"/>
      <p:bldP spid="691" grpId="0"/>
      <p:bldP spid="691" grpId="0"/>
      <p:bldP spid="693" grpId="0"/>
      <p:bldP spid="693" grpId="0"/>
      <p:bldP spid="695" grpId="0"/>
      <p:bldP spid="695" grpId="0"/>
      <p:bldP spid="697" grpId="0"/>
      <p:bldP spid="697" grpId="0"/>
      <p:bldP spid="699" grpId="0"/>
      <p:bldP spid="699" grpId="0"/>
      <p:bldP spid="701" grpId="0"/>
      <p:bldP spid="701" grpId="0"/>
    </p:bldLst>
  </p:timing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2">
            <a:alphaModFix amt="100000"/>
          </a:blip>
          <a:stretch/>
        </p:blipFill>
        <p:spPr>
          <a:xfrm>
            <a:off x="2286000" y="0"/>
            <a:ext cx="9525" cy="10287000"/>
          </a:xfrm>
          <a:prstGeom prst="rect">
            <a:avLst/>
          </a:prstGeom>
        </p:spPr>
      </p:pic>
      <p:pic>
        <p:nvPicPr>
          <p:cNvPr id="7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4">
            <a:alphaModFix amt="100000"/>
          </a:blip>
          <a:stretch/>
        </p:blipFill>
        <p:spPr>
          <a:xfrm>
            <a:off x="4572000" y="0"/>
            <a:ext cx="9525" cy="10287000"/>
          </a:xfrm>
          <a:prstGeom prst="rect">
            <a:avLst/>
          </a:prstGeom>
        </p:spPr>
      </p:pic>
      <p:pic>
        <p:nvPicPr>
          <p:cNvPr id="7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6">
            <a:alphaModFix amt="100000"/>
          </a:blip>
          <a:stretch/>
        </p:blipFill>
        <p:spPr>
          <a:xfrm>
            <a:off x="6858000" y="0"/>
            <a:ext cx="9525" cy="10287000"/>
          </a:xfrm>
          <a:prstGeom prst="rect">
            <a:avLst/>
          </a:prstGeom>
        </p:spPr>
      </p:pic>
      <p:pic>
        <p:nvPicPr>
          <p:cNvPr id="7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8">
            <a:alphaModFix amt="100000"/>
          </a:blip>
          <a:stretch/>
        </p:blipFill>
        <p:spPr>
          <a:xfrm>
            <a:off x="9144000" y="0"/>
            <a:ext cx="9525" cy="10287000"/>
          </a:xfrm>
          <a:prstGeom prst="rect">
            <a:avLst/>
          </a:prstGeom>
        </p:spPr>
      </p:pic>
      <p:pic>
        <p:nvPicPr>
          <p:cNvPr id="7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0">
            <a:alphaModFix amt="100000"/>
          </a:blip>
          <a:stretch/>
        </p:blipFill>
        <p:spPr>
          <a:xfrm>
            <a:off x="11430000" y="0"/>
            <a:ext cx="9525" cy="10287000"/>
          </a:xfrm>
          <a:prstGeom prst="rect">
            <a:avLst/>
          </a:prstGeom>
        </p:spPr>
      </p:pic>
      <p:pic>
        <p:nvPicPr>
          <p:cNvPr id="7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2">
            <a:alphaModFix amt="100000"/>
          </a:blip>
          <a:stretch/>
        </p:blipFill>
        <p:spPr>
          <a:xfrm>
            <a:off x="13716000" y="0"/>
            <a:ext cx="9525" cy="10287000"/>
          </a:xfrm>
          <a:prstGeom prst="rect">
            <a:avLst/>
          </a:prstGeom>
        </p:spPr>
      </p:pic>
      <p:pic>
        <p:nvPicPr>
          <p:cNvPr id="7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4">
            <a:alphaModFix amt="100000"/>
          </a:blip>
          <a:stretch/>
        </p:blipFill>
        <p:spPr>
          <a:xfrm>
            <a:off x="16002000" y="0"/>
            <a:ext cx="9525" cy="10287000"/>
          </a:xfrm>
          <a:prstGeom prst="rect">
            <a:avLst/>
          </a:prstGeom>
        </p:spPr>
      </p:pic>
      <p:pic>
        <p:nvPicPr>
          <p:cNvPr id="7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6">
            <a:alphaModFix amt="100000"/>
          </a:blip>
          <a:stretch/>
        </p:blipFill>
        <p:spPr>
          <a:xfrm>
            <a:off x="2324100" y="3581400"/>
            <a:ext cx="2105025" cy="819150"/>
          </a:xfrm>
          <a:prstGeom prst="rect">
            <a:avLst/>
          </a:prstGeom>
        </p:spPr>
      </p:pic>
      <p:pic>
        <p:nvPicPr>
          <p:cNvPr id="7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8">
            <a:alphaModFix amt="100000"/>
          </a:blip>
          <a:stretch/>
        </p:blipFill>
        <p:spPr>
          <a:xfrm>
            <a:off x="2324100" y="3581400"/>
            <a:ext cx="2105025" cy="838200"/>
          </a:xfrm>
          <a:prstGeom prst="rect">
            <a:avLst/>
          </a:prstGeom>
        </p:spPr>
      </p:pic>
      <p:sp>
        <p:nvSpPr>
          <p:cNvPr id="725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898458" y="3812953"/>
            <a:ext cx="9858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Aspect</a:t>
            </a:r>
          </a:p>
        </p:txBody>
      </p:sp>
      <p:pic>
        <p:nvPicPr>
          <p:cNvPr id="7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0">
            <a:alphaModFix amt="100000"/>
          </a:blip>
          <a:stretch/>
        </p:blipFill>
        <p:spPr>
          <a:xfrm>
            <a:off x="4463206" y="3581400"/>
            <a:ext cx="5553075" cy="819150"/>
          </a:xfrm>
          <a:prstGeom prst="rect">
            <a:avLst/>
          </a:prstGeom>
        </p:spPr>
      </p:pic>
      <p:pic>
        <p:nvPicPr>
          <p:cNvPr id="7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2">
            <a:alphaModFix amt="100000"/>
          </a:blip>
          <a:stretch/>
        </p:blipFill>
        <p:spPr>
          <a:xfrm>
            <a:off x="4463206" y="3581400"/>
            <a:ext cx="5553075" cy="838200"/>
          </a:xfrm>
          <a:prstGeom prst="rect">
            <a:avLst/>
          </a:prstGeom>
        </p:spPr>
      </p:pic>
      <p:sp>
        <p:nvSpPr>
          <p:cNvPr id="731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31967" y="3812953"/>
            <a:ext cx="28527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Bagging (Random Forest)</a:t>
            </a:r>
          </a:p>
        </p:txBody>
      </p:sp>
      <p:pic>
        <p:nvPicPr>
          <p:cNvPr id="7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4">
            <a:alphaModFix amt="100000"/>
          </a:blip>
          <a:stretch/>
        </p:blipFill>
        <p:spPr>
          <a:xfrm>
            <a:off x="10054828" y="3581400"/>
            <a:ext cx="7343775" cy="819150"/>
          </a:xfrm>
          <a:prstGeom prst="rect">
            <a:avLst/>
          </a:prstGeom>
        </p:spPr>
      </p:pic>
      <p:pic>
        <p:nvPicPr>
          <p:cNvPr id="7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6">
            <a:alphaModFix amt="100000"/>
          </a:blip>
          <a:stretch/>
        </p:blipFill>
        <p:spPr>
          <a:xfrm>
            <a:off x="10054828" y="3581400"/>
            <a:ext cx="7343775" cy="838200"/>
          </a:xfrm>
          <a:prstGeom prst="rect">
            <a:avLst/>
          </a:prstGeom>
        </p:spPr>
      </p:pic>
      <p:sp>
        <p:nvSpPr>
          <p:cNvPr id="737" name="text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26932" y="3812953"/>
            <a:ext cx="34337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Boosting (XGBoost, LightGBM)</a:t>
            </a:r>
          </a:p>
        </p:txBody>
      </p:sp>
      <p:pic>
        <p:nvPicPr>
          <p:cNvPr id="7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8">
            <a:alphaModFix amt="100000"/>
          </a:blip>
          <a:stretch/>
        </p:blipFill>
        <p:spPr>
          <a:xfrm>
            <a:off x="2324100" y="4401294"/>
            <a:ext cx="2105025" cy="1285875"/>
          </a:xfrm>
          <a:prstGeom prst="rect">
            <a:avLst/>
          </a:prstGeom>
        </p:spPr>
      </p:pic>
      <p:pic>
        <p:nvPicPr>
          <p:cNvPr id="7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0">
            <a:alphaModFix amt="100000"/>
          </a:blip>
          <a:stretch/>
        </p:blipFill>
        <p:spPr>
          <a:xfrm>
            <a:off x="2324100" y="4401294"/>
            <a:ext cx="2105025" cy="1304925"/>
          </a:xfrm>
          <a:prstGeom prst="rect">
            <a:avLst/>
          </a:prstGeom>
        </p:spPr>
      </p:pic>
      <p:sp>
        <p:nvSpPr>
          <p:cNvPr id="743" name="Label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57450" y="4689158"/>
            <a:ext cx="187166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Training Approach</a:t>
            </a:r>
          </a:p>
        </p:txBody>
      </p:sp>
      <p:pic>
        <p:nvPicPr>
          <p:cNvPr id="7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2">
            <a:alphaModFix amt="100000"/>
          </a:blip>
          <a:stretch/>
        </p:blipFill>
        <p:spPr>
          <a:xfrm>
            <a:off x="4463206" y="4401294"/>
            <a:ext cx="5553075" cy="1285875"/>
          </a:xfrm>
          <a:prstGeom prst="rect">
            <a:avLst/>
          </a:prstGeom>
        </p:spPr>
      </p:pic>
      <p:pic>
        <p:nvPicPr>
          <p:cNvPr id="7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4">
            <a:alphaModFix amt="100000"/>
          </a:blip>
          <a:stretch/>
        </p:blipFill>
        <p:spPr>
          <a:xfrm>
            <a:off x="4463206" y="4401294"/>
            <a:ext cx="5553075" cy="1304925"/>
          </a:xfrm>
          <a:prstGeom prst="rect">
            <a:avLst/>
          </a:prstGeom>
        </p:spPr>
      </p:pic>
      <p:sp>
        <p:nvSpPr>
          <p:cNvPr id="749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596670" y="4689158"/>
            <a:ext cx="53197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Parallel training on independent subsets to reduce variance</a:t>
            </a:r>
          </a:p>
        </p:txBody>
      </p:sp>
      <p:pic>
        <p:nvPicPr>
          <p:cNvPr id="7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6">
            <a:alphaModFix amt="100000"/>
          </a:blip>
          <a:stretch/>
        </p:blipFill>
        <p:spPr>
          <a:xfrm>
            <a:off x="10054828" y="4401294"/>
            <a:ext cx="7343775" cy="1285875"/>
          </a:xfrm>
          <a:prstGeom prst="rect">
            <a:avLst/>
          </a:prstGeom>
        </p:spPr>
      </p:pic>
      <p:pic>
        <p:nvPicPr>
          <p:cNvPr id="7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8">
            <a:alphaModFix amt="100000"/>
          </a:blip>
          <a:stretch/>
        </p:blipFill>
        <p:spPr>
          <a:xfrm>
            <a:off x="10054828" y="4401294"/>
            <a:ext cx="7343775" cy="1304925"/>
          </a:xfrm>
          <a:prstGeom prst="rect">
            <a:avLst/>
          </a:prstGeom>
        </p:spPr>
      </p:pic>
      <p:sp>
        <p:nvSpPr>
          <p:cNvPr id="755" name="Label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8321" y="4689158"/>
            <a:ext cx="71104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Sequential training where each model corrects errors of previous to reduce bias</a:t>
            </a:r>
          </a:p>
        </p:txBody>
      </p:sp>
      <p:pic>
        <p:nvPicPr>
          <p:cNvPr id="7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0">
            <a:alphaModFix amt="100000"/>
          </a:blip>
          <a:stretch/>
        </p:blipFill>
        <p:spPr>
          <a:xfrm>
            <a:off x="2324100" y="5690330"/>
            <a:ext cx="2105025" cy="1285875"/>
          </a:xfrm>
          <a:prstGeom prst="rect">
            <a:avLst/>
          </a:prstGeom>
        </p:spPr>
      </p:pic>
      <p:pic>
        <p:nvPicPr>
          <p:cNvPr id="7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2">
            <a:alphaModFix amt="100000"/>
          </a:blip>
          <a:stretch/>
        </p:blipFill>
        <p:spPr>
          <a:xfrm>
            <a:off x="2324100" y="5690330"/>
            <a:ext cx="2105025" cy="1304925"/>
          </a:xfrm>
          <a:prstGeom prst="rect">
            <a:avLst/>
          </a:prstGeom>
        </p:spPr>
      </p:pic>
      <p:sp>
        <p:nvSpPr>
          <p:cNvPr id="761" name="Label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57450" y="5978080"/>
            <a:ext cx="187166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Tree Dependency</a:t>
            </a:r>
          </a:p>
        </p:txBody>
      </p:sp>
      <p:pic>
        <p:nvPicPr>
          <p:cNvPr id="7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4">
            <a:alphaModFix amt="100000"/>
          </a:blip>
          <a:stretch/>
        </p:blipFill>
        <p:spPr>
          <a:xfrm>
            <a:off x="4463320" y="5690330"/>
            <a:ext cx="5553075" cy="1285875"/>
          </a:xfrm>
          <a:prstGeom prst="rect">
            <a:avLst/>
          </a:prstGeom>
        </p:spPr>
      </p:pic>
      <p:pic>
        <p:nvPicPr>
          <p:cNvPr id="7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6">
            <a:alphaModFix amt="100000"/>
          </a:blip>
          <a:stretch/>
        </p:blipFill>
        <p:spPr>
          <a:xfrm>
            <a:off x="4463320" y="5690330"/>
            <a:ext cx="5553075" cy="1304925"/>
          </a:xfrm>
          <a:prstGeom prst="rect">
            <a:avLst/>
          </a:prstGeom>
        </p:spPr>
      </p:pic>
      <p:sp>
        <p:nvSpPr>
          <p:cNvPr id="767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596670" y="6156388"/>
            <a:ext cx="53197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Each tree built independently</a:t>
            </a:r>
          </a:p>
        </p:txBody>
      </p:sp>
      <p:pic>
        <p:nvPicPr>
          <p:cNvPr id="7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8">
            <a:alphaModFix amt="100000"/>
          </a:blip>
          <a:stretch/>
        </p:blipFill>
        <p:spPr>
          <a:xfrm>
            <a:off x="10054971" y="5690330"/>
            <a:ext cx="7343775" cy="1285875"/>
          </a:xfrm>
          <a:prstGeom prst="rect">
            <a:avLst/>
          </a:prstGeom>
        </p:spPr>
      </p:pic>
      <p:pic>
        <p:nvPicPr>
          <p:cNvPr id="7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0">
            <a:alphaModFix amt="100000"/>
          </a:blip>
          <a:stretch/>
        </p:blipFill>
        <p:spPr>
          <a:xfrm>
            <a:off x="10054971" y="5690330"/>
            <a:ext cx="7343775" cy="1304925"/>
          </a:xfrm>
          <a:prstGeom prst="rect">
            <a:avLst/>
          </a:prstGeom>
        </p:spPr>
      </p:pic>
      <p:sp>
        <p:nvSpPr>
          <p:cNvPr id="773" name="Label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8321" y="6156388"/>
            <a:ext cx="71104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Trees depend on previous models' mistakes</a:t>
            </a:r>
          </a:p>
        </p:txBody>
      </p:sp>
      <p:pic>
        <p:nvPicPr>
          <p:cNvPr id="7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2">
            <a:alphaModFix amt="100000"/>
          </a:blip>
          <a:stretch/>
        </p:blipFill>
        <p:spPr>
          <a:xfrm>
            <a:off x="2324100" y="6979147"/>
            <a:ext cx="2105025" cy="819150"/>
          </a:xfrm>
          <a:prstGeom prst="rect">
            <a:avLst/>
          </a:prstGeom>
        </p:spPr>
      </p:pic>
      <p:pic>
        <p:nvPicPr>
          <p:cNvPr id="7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4">
            <a:alphaModFix amt="100000"/>
          </a:blip>
          <a:stretch/>
        </p:blipFill>
        <p:spPr>
          <a:xfrm>
            <a:off x="2324100" y="6979147"/>
            <a:ext cx="2105025" cy="838200"/>
          </a:xfrm>
          <a:prstGeom prst="rect">
            <a:avLst/>
          </a:prstGeom>
        </p:spPr>
      </p:pic>
      <p:sp>
        <p:nvSpPr>
          <p:cNvPr id="779" name="Label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57450" y="7210901"/>
            <a:ext cx="1871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Risk</a:t>
            </a:r>
          </a:p>
        </p:txBody>
      </p:sp>
      <p:pic>
        <p:nvPicPr>
          <p:cNvPr id="7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6">
            <a:alphaModFix amt="100000"/>
          </a:blip>
          <a:stretch/>
        </p:blipFill>
        <p:spPr>
          <a:xfrm>
            <a:off x="4463206" y="6979147"/>
            <a:ext cx="5553075" cy="819150"/>
          </a:xfrm>
          <a:prstGeom prst="rect">
            <a:avLst/>
          </a:prstGeom>
        </p:spPr>
      </p:pic>
      <p:pic>
        <p:nvPicPr>
          <p:cNvPr id="7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8">
            <a:alphaModFix amt="100000"/>
          </a:blip>
          <a:stretch/>
        </p:blipFill>
        <p:spPr>
          <a:xfrm>
            <a:off x="4463206" y="6979147"/>
            <a:ext cx="5553075" cy="838200"/>
          </a:xfrm>
          <a:prstGeom prst="rect">
            <a:avLst/>
          </a:prstGeom>
        </p:spPr>
      </p:pic>
      <p:sp>
        <p:nvSpPr>
          <p:cNvPr id="785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596670" y="7210901"/>
            <a:ext cx="53197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Lower risk due to averaging multiple trees</a:t>
            </a:r>
          </a:p>
        </p:txBody>
      </p:sp>
      <p:pic>
        <p:nvPicPr>
          <p:cNvPr id="7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0">
            <a:alphaModFix amt="100000"/>
          </a:blip>
          <a:stretch/>
        </p:blipFill>
        <p:spPr>
          <a:xfrm>
            <a:off x="10054828" y="6979147"/>
            <a:ext cx="7343775" cy="819150"/>
          </a:xfrm>
          <a:prstGeom prst="rect">
            <a:avLst/>
          </a:prstGeom>
        </p:spPr>
      </p:pic>
      <p:pic>
        <p:nvPicPr>
          <p:cNvPr id="7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2">
            <a:alphaModFix amt="100000"/>
          </a:blip>
          <a:stretch/>
        </p:blipFill>
        <p:spPr>
          <a:xfrm>
            <a:off x="10054828" y="6979147"/>
            <a:ext cx="7343775" cy="838200"/>
          </a:xfrm>
          <a:prstGeom prst="rect">
            <a:avLst/>
          </a:prstGeom>
        </p:spPr>
      </p:pic>
      <p:sp>
        <p:nvSpPr>
          <p:cNvPr id="791" name="Label-3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8321" y="7210901"/>
            <a:ext cx="71104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Higher risk but controlled with regularization</a:t>
            </a:r>
          </a:p>
        </p:txBody>
      </p:sp>
      <p:pic>
        <p:nvPicPr>
          <p:cNvPr id="7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4">
            <a:alphaModFix amt="100000"/>
          </a:blip>
          <a:stretch/>
        </p:blipFill>
        <p:spPr>
          <a:xfrm>
            <a:off x="2324100" y="7799165"/>
            <a:ext cx="2105025" cy="819150"/>
          </a:xfrm>
          <a:prstGeom prst="rect">
            <a:avLst/>
          </a:prstGeom>
        </p:spPr>
      </p:pic>
      <p:pic>
        <p:nvPicPr>
          <p:cNvPr id="7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6">
            <a:alphaModFix amt="100000"/>
          </a:blip>
          <a:stretch/>
        </p:blipFill>
        <p:spPr>
          <a:xfrm>
            <a:off x="2324100" y="7799165"/>
            <a:ext cx="2105025" cy="838200"/>
          </a:xfrm>
          <a:prstGeom prst="rect">
            <a:avLst/>
          </a:prstGeom>
        </p:spPr>
      </p:pic>
      <p:sp>
        <p:nvSpPr>
          <p:cNvPr id="797" name="Label-4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57450" y="8030718"/>
            <a:ext cx="1871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Accuracy</a:t>
            </a:r>
          </a:p>
        </p:txBody>
      </p:sp>
      <p:pic>
        <p:nvPicPr>
          <p:cNvPr id="7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8">
            <a:alphaModFix amt="100000"/>
          </a:blip>
          <a:stretch/>
        </p:blipFill>
        <p:spPr>
          <a:xfrm>
            <a:off x="4463320" y="7799165"/>
            <a:ext cx="5553075" cy="819150"/>
          </a:xfrm>
          <a:prstGeom prst="rect">
            <a:avLst/>
          </a:prstGeom>
        </p:spPr>
      </p:pic>
      <p:pic>
        <p:nvPicPr>
          <p:cNvPr id="8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0">
            <a:alphaModFix amt="100000"/>
          </a:blip>
          <a:stretch/>
        </p:blipFill>
        <p:spPr>
          <a:xfrm>
            <a:off x="4463320" y="7799165"/>
            <a:ext cx="5553075" cy="838200"/>
          </a:xfrm>
          <a:prstGeom prst="rect">
            <a:avLst/>
          </a:prstGeom>
        </p:spPr>
      </p:pic>
      <p:sp>
        <p:nvSpPr>
          <p:cNvPr id="803" name="Label-4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596670" y="8030718"/>
            <a:ext cx="53197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Reliable baseline with good accuracy</a:t>
            </a:r>
          </a:p>
        </p:txBody>
      </p:sp>
      <p:pic>
        <p:nvPicPr>
          <p:cNvPr id="8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2">
            <a:alphaModFix amt="100000"/>
          </a:blip>
          <a:stretch/>
        </p:blipFill>
        <p:spPr>
          <a:xfrm>
            <a:off x="10054971" y="7799165"/>
            <a:ext cx="7343775" cy="819150"/>
          </a:xfrm>
          <a:prstGeom prst="rect">
            <a:avLst/>
          </a:prstGeom>
        </p:spPr>
      </p:pic>
      <p:pic>
        <p:nvPicPr>
          <p:cNvPr id="8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4">
            <a:alphaModFix amt="100000"/>
          </a:blip>
          <a:stretch/>
        </p:blipFill>
        <p:spPr>
          <a:xfrm>
            <a:off x="10054971" y="7799165"/>
            <a:ext cx="7343775" cy="838200"/>
          </a:xfrm>
          <a:prstGeom prst="rect">
            <a:avLst/>
          </a:prstGeom>
        </p:spPr>
      </p:pic>
      <p:sp>
        <p:nvSpPr>
          <p:cNvPr id="809" name="Label-4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8321" y="8030718"/>
            <a:ext cx="71104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Typically higher accuracy, especially on complex datasets</a:t>
            </a:r>
          </a:p>
        </p:txBody>
      </p:sp>
      <p:pic>
        <p:nvPicPr>
          <p:cNvPr id="8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6">
            <a:alphaModFix amt="100000"/>
          </a:blip>
          <a:stretch/>
        </p:blipFill>
        <p:spPr>
          <a:xfrm>
            <a:off x="2324100" y="8618934"/>
            <a:ext cx="2105025" cy="819150"/>
          </a:xfrm>
          <a:prstGeom prst="rect">
            <a:avLst/>
          </a:prstGeom>
        </p:spPr>
      </p:pic>
      <p:pic>
        <p:nvPicPr>
          <p:cNvPr id="8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8">
            <a:alphaModFix amt="100000"/>
          </a:blip>
          <a:stretch/>
        </p:blipFill>
        <p:spPr>
          <a:xfrm>
            <a:off x="2324100" y="8618934"/>
            <a:ext cx="2105025" cy="838200"/>
          </a:xfrm>
          <a:prstGeom prst="rect">
            <a:avLst/>
          </a:prstGeom>
        </p:spPr>
      </p:pic>
      <p:sp>
        <p:nvSpPr>
          <p:cNvPr id="815" name="Label-5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57450" y="8850820"/>
            <a:ext cx="1871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Speed</a:t>
            </a:r>
          </a:p>
        </p:txBody>
      </p:sp>
      <p:pic>
        <p:nvPicPr>
          <p:cNvPr id="8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0">
            <a:alphaModFix amt="100000"/>
          </a:blip>
          <a:stretch/>
        </p:blipFill>
        <p:spPr>
          <a:xfrm>
            <a:off x="4463206" y="8618934"/>
            <a:ext cx="5553075" cy="819150"/>
          </a:xfrm>
          <a:prstGeom prst="rect">
            <a:avLst/>
          </a:prstGeom>
        </p:spPr>
      </p:pic>
      <p:pic>
        <p:nvPicPr>
          <p:cNvPr id="8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2">
            <a:alphaModFix amt="100000"/>
          </a:blip>
          <a:stretch/>
        </p:blipFill>
        <p:spPr>
          <a:xfrm>
            <a:off x="4463206" y="8618934"/>
            <a:ext cx="5553075" cy="838200"/>
          </a:xfrm>
          <a:prstGeom prst="rect">
            <a:avLst/>
          </a:prstGeom>
        </p:spPr>
      </p:pic>
      <p:sp>
        <p:nvSpPr>
          <p:cNvPr id="821" name="Label-5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596670" y="8850820"/>
            <a:ext cx="53197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Can be slower on large data</a:t>
            </a:r>
          </a:p>
        </p:txBody>
      </p:sp>
      <p:pic>
        <p:nvPicPr>
          <p:cNvPr id="8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4">
            <a:alphaModFix amt="100000"/>
          </a:blip>
          <a:stretch/>
        </p:blipFill>
        <p:spPr>
          <a:xfrm>
            <a:off x="10054828" y="8618934"/>
            <a:ext cx="7343775" cy="819150"/>
          </a:xfrm>
          <a:prstGeom prst="rect">
            <a:avLst/>
          </a:prstGeom>
        </p:spPr>
      </p:pic>
      <p:pic>
        <p:nvPicPr>
          <p:cNvPr id="8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6">
            <a:alphaModFix amt="100000"/>
          </a:blip>
          <a:stretch/>
        </p:blipFill>
        <p:spPr>
          <a:xfrm>
            <a:off x="10054828" y="8618934"/>
            <a:ext cx="7343775" cy="838200"/>
          </a:xfrm>
          <a:prstGeom prst="rect">
            <a:avLst/>
          </a:prstGeom>
        </p:spPr>
      </p:pic>
      <p:sp>
        <p:nvSpPr>
          <p:cNvPr id="827" name="Label-5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8321" y="8850820"/>
            <a:ext cx="71104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Faster (especially LightGBM), optimized for speed</a:t>
            </a:r>
          </a:p>
        </p:txBody>
      </p:sp>
      <p:sp>
        <p:nvSpPr>
          <p:cNvPr id="82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723900"/>
            <a:ext cx="11425238" cy="1381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68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Bagging vs Boosting: Stability and Model Comparison</a:t>
            </a:r>
          </a:p>
        </p:txBody>
      </p:sp>
      <p:pic>
        <p:nvPicPr>
          <p:cNvPr id="8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8">
            <a:alphaModFix amt="100000"/>
          </a:blip>
          <a:stretch/>
        </p:blipFill>
        <p:spPr>
          <a:xfrm>
            <a:off x="4610100" y="2247900"/>
            <a:ext cx="1143000" cy="57150"/>
          </a:xfrm>
          <a:prstGeom prst="rect">
            <a:avLst/>
          </a:prstGeom>
        </p:spPr>
      </p:pic>
      <p:pic>
        <p:nvPicPr>
          <p:cNvPr id="8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0">
            <a:alphaModFix amt="100000"/>
          </a:blip>
          <a:stretch/>
        </p:blipFill>
        <p:spPr>
          <a:xfrm>
            <a:off x="0" y="0"/>
            <a:ext cx="2286000" cy="2476500"/>
          </a:xfrm>
          <a:prstGeom prst="rect">
            <a:avLst/>
          </a:prstGeom>
        </p:spPr>
      </p:pic>
      <p:pic>
        <p:nvPicPr>
          <p:cNvPr id="8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2">
            <a:alphaModFix amt="100000"/>
          </a:blip>
          <a:stretch/>
        </p:blipFill>
        <p:spPr>
          <a:xfrm>
            <a:off x="11430000" y="9524810"/>
            <a:ext cx="2286000" cy="762000"/>
          </a:xfrm>
          <a:prstGeom prst="rect">
            <a:avLst/>
          </a:prstGeom>
        </p:spPr>
      </p:pic>
      <p:sp>
        <p:nvSpPr>
          <p:cNvPr id="83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2476500"/>
            <a:ext cx="114252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Key differences and stability insights of ensemble methods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p:transition spd="med" p14:dur="700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708" dur="1200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710" dur="1200" fill="hold"/>
                                        <p:tgtEl>
                                          <p:spTgt spid="7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712" dur="12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714" dur="1200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716" dur="1200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718" dur="12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720" dur="1200" fill="hold"/>
                                        <p:tgtEl>
                                          <p:spTgt spid="7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722" dur="10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724" dur="1000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0046 2.3170753E-06 L -1.6212464E-06 2.3170753E-06 E" pathEditMode="relative" ptsTypes="">
                                      <p:cBhvr>
                                        <p:cTn id="726" dur="10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0 L 1.9550323E-06 0 E" pathEditMode="relative" ptsTypes="">
                                      <p:cBhvr>
                                        <p:cTn id="728" dur="1000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0 L 1.9550323E-06 0 E" pathEditMode="relative" ptsTypes="">
                                      <p:cBhvr>
                                        <p:cTn id="730" dur="10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2303 2.3170753E-06 L 6.357829E-07 2.3170753E-06 E" pathEditMode="relative" ptsTypes="">
                                      <p:cBhvr>
                                        <p:cTn id="732" dur="10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0 L 3.1789145E-07 0 E" pathEditMode="relative" ptsTypes="">
                                      <p:cBhvr>
                                        <p:cTn id="734" dur="10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0 L 3.1789145E-07 0 E" pathEditMode="relative" ptsTypes="">
                                      <p:cBhvr>
                                        <p:cTn id="736" dur="1000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262 2.3170753E-06 L 9.536743E-07 2.3170753E-06 E" pathEditMode="relative" ptsTypes="">
                                      <p:cBhvr>
                                        <p:cTn id="738" dur="1000" fill="hold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1.723678E-06 L 0 -1.723678E-06 E" pathEditMode="relative" ptsTypes="">
                                      <p:cBhvr>
                                        <p:cTn id="740" dur="1000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1.723678E-06 L 0 -1.723678E-06 E" pathEditMode="relative" ptsTypes="">
                                      <p:cBhvr>
                                        <p:cTn id="742" dur="10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2.8822158E-06 L 0 -2.8822158E-06 E" pathEditMode="relative" ptsTypes="">
                                      <p:cBhvr>
                                        <p:cTn id="744" dur="100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-1.723678E-06 L 1.9550323E-06 -1.723678E-06 E" pathEditMode="relative" ptsTypes="">
                                      <p:cBhvr>
                                        <p:cTn id="746" dur="10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-1.723678E-06 L 1.9550323E-06 -1.723678E-06 E" pathEditMode="relative" ptsTypes="">
                                      <p:cBhvr>
                                        <p:cTn id="748" dur="10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-2.8822158E-06 L 1.9550323E-06 -2.8822158E-06 E" pathEditMode="relative" ptsTypes="">
                                      <p:cBhvr>
                                        <p:cTn id="750" dur="10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-1.723678E-06 L 3.1789145E-07 -1.723678E-06 E" pathEditMode="relative" ptsTypes="">
                                      <p:cBhvr>
                                        <p:cTn id="752" dur="1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-1.723678E-06 L 3.1789145E-07 -1.723678E-06 E" pathEditMode="relative" ptsTypes="">
                                      <p:cBhvr>
                                        <p:cTn id="754" dur="10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-2.8822158E-06 L 3.1789145E-07 -2.8822158E-06 E" pathEditMode="relative" ptsTypes="">
                                      <p:cBhvr>
                                        <p:cTn id="756" dur="10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3.447356E-06 L 0 -3.447356E-06 E" pathEditMode="relative" ptsTypes="">
                                      <p:cBhvr>
                                        <p:cTn id="758" dur="10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3.447356E-06 L 0 -3.447356E-06 E" pathEditMode="relative" ptsTypes="">
                                      <p:cBhvr>
                                        <p:cTn id="760" dur="1000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4.6341506E-06 L 0 4.6341506E-06 E" pathEditMode="relative" ptsTypes="">
                                      <p:cBhvr>
                                        <p:cTn id="762" dur="10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-3.447356E-06 L 1.9550323E-06 -3.447356E-06 E" pathEditMode="relative" ptsTypes="">
                                      <p:cBhvr>
                                        <p:cTn id="764" dur="1000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-3.447356E-06 L 1.9550323E-06 -3.447356E-06 E" pathEditMode="relative" ptsTypes="">
                                      <p:cBhvr>
                                        <p:cTn id="766" dur="10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3.447356E-06 L 1.9550323E-06 3.447356E-06 E" pathEditMode="relative" ptsTypes="">
                                      <p:cBhvr>
                                        <p:cTn id="768" dur="10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-3.447356E-06 L 3.1789145E-07 -3.447356E-06 E" pathEditMode="relative" ptsTypes="">
                                      <p:cBhvr>
                                        <p:cTn id="770" dur="10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-3.447356E-06 L 3.1789145E-07 -3.447356E-06 E" pathEditMode="relative" ptsTypes="">
                                      <p:cBhvr>
                                        <p:cTn id="772" dur="1000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3.447356E-06 L 3.1789145E-07 3.447356E-06 E" pathEditMode="relative" ptsTypes="">
                                      <p:cBhvr>
                                        <p:cTn id="774" dur="10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4.0690106E-06 L 0 4.0690106E-06 E" pathEditMode="relative" ptsTypes="">
                                      <p:cBhvr>
                                        <p:cTn id="776" dur="10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4.0690106E-06 L 0 4.0690106E-06 E" pathEditMode="relative" ptsTypes="">
                                      <p:cBhvr>
                                        <p:cTn id="778" dur="1000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2.8822158E-06 L 0 -2.8822158E-06 E" pathEditMode="relative" ptsTypes="">
                                      <p:cBhvr>
                                        <p:cTn id="780" dur="10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4.0690106E-06 L 1.9550323E-06 4.0690106E-06 E" pathEditMode="relative" ptsTypes="">
                                      <p:cBhvr>
                                        <p:cTn id="782" dur="10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4.0690106E-06 L 1.9550323E-06 4.0690106E-06 E" pathEditMode="relative" ptsTypes="">
                                      <p:cBhvr>
                                        <p:cTn id="784" dur="10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-2.8822158E-06 L 1.9550323E-06 -2.8822158E-06 E" pathEditMode="relative" ptsTypes="">
                                      <p:cBhvr>
                                        <p:cTn id="786" dur="10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4.0690106E-06 L 3.1789145E-07 4.0690106E-06 E" pathEditMode="relative" ptsTypes="">
                                      <p:cBhvr>
                                        <p:cTn id="788" dur="1000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4.0690106E-06 L 3.1789145E-07 4.0690106E-06 E" pathEditMode="relative" ptsTypes="">
                                      <p:cBhvr>
                                        <p:cTn id="790" dur="10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-2.8822158E-06 L 3.1789145E-07 -2.8822158E-06 E" pathEditMode="relative" ptsTypes="">
                                      <p:cBhvr>
                                        <p:cTn id="792" dur="10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794" dur="1000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796" dur="10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4.6341506E-06 L 0 4.6341506E-06 E" pathEditMode="relative" ptsTypes="">
                                      <p:cBhvr>
                                        <p:cTn id="798" dur="1000" fill="hold"/>
                                        <p:tgtEl>
                                          <p:spTgt spid="7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2.3170753E-06 L 1.9550323E-06 2.3170753E-06 E" pathEditMode="relative" ptsTypes="">
                                      <p:cBhvr>
                                        <p:cTn id="800" dur="1000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2.3170753E-06 L 1.9550323E-06 2.3170753E-06 E" pathEditMode="relative" ptsTypes="">
                                      <p:cBhvr>
                                        <p:cTn id="802" dur="10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4.6341506E-06 L 1.9550323E-06 4.6341506E-06 E" pathEditMode="relative" ptsTypes="">
                                      <p:cBhvr>
                                        <p:cTn id="804" dur="10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2.3170753E-06 L 3.1789145E-07 2.3170753E-06 E" pathEditMode="relative" ptsTypes="">
                                      <p:cBhvr>
                                        <p:cTn id="806" dur="1000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2.3170753E-06 L 3.1789145E-07 2.3170753E-06 E" pathEditMode="relative" ptsTypes="">
                                      <p:cBhvr>
                                        <p:cTn id="808" dur="1000" fill="hold"/>
                                        <p:tgtEl>
                                          <p:spTgt spid="8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4.6341506E-06 L 3.1789145E-07 4.6341506E-06 E" pathEditMode="relative" ptsTypes="">
                                      <p:cBhvr>
                                        <p:cTn id="810" dur="1000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5.6514034E-07 L 0 5.6514034E-07 E" pathEditMode="relative" ptsTypes="">
                                      <p:cBhvr>
                                        <p:cTn id="812" dur="1000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5.6514034E-07 L 0 5.6514034E-07 E" pathEditMode="relative" ptsTypes="">
                                      <p:cBhvr>
                                        <p:cTn id="814" dur="1000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-1.1302807E-06 L 0 -1.1302807E-06 E" pathEditMode="relative" ptsTypes="">
                                      <p:cBhvr>
                                        <p:cTn id="816" dur="1000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5.6514034E-07 L 1.9550323E-06 5.6514034E-07 E" pathEditMode="relative" ptsTypes="">
                                      <p:cBhvr>
                                        <p:cTn id="818" dur="1000" fill="hold"/>
                                        <p:tgtEl>
                                          <p:spTgt spid="8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5.6514034E-07 L 1.9550323E-06 5.6514034E-07 E" pathEditMode="relative" ptsTypes="">
                                      <p:cBhvr>
                                        <p:cTn id="820" dur="1000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22 -1.1302807E-06 L 1.9550323E-06 -1.1302807E-06 E" pathEditMode="relative" ptsTypes="">
                                      <p:cBhvr>
                                        <p:cTn id="822" dur="1000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5.6514034E-07 L 3.1789145E-07 5.6514034E-07 E" pathEditMode="relative" ptsTypes="">
                                      <p:cBhvr>
                                        <p:cTn id="824" dur="1000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5.6514034E-07 L 3.1789145E-07 5.6514034E-07 E" pathEditMode="relative" ptsTypes="">
                                      <p:cBhvr>
                                        <p:cTn id="826" dur="1000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985 -1.1302807E-06 L 3.1789145E-07 -1.1302807E-06 E" pathEditMode="relative" ptsTypes="">
                                      <p:cBhvr>
                                        <p:cTn id="828" dur="1000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830" dur="600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832" dur="600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834" dur="12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4.0690106E-06 L 0 4.0690106E-06 E" pathEditMode="relative" ptsTypes="">
                                      <p:cBhvr>
                                        <p:cTn id="836" dur="1200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838" dur="600" fill="hold"/>
                                        <p:tgtEl>
                                          <p:spTgt spid="8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" grpId="0"/>
      <p:bldP spid="707" grpId="0"/>
      <p:bldP spid="709" grpId="0"/>
      <p:bldP spid="709" grpId="0"/>
      <p:bldP spid="711" grpId="0"/>
      <p:bldP spid="711" grpId="0"/>
      <p:bldP spid="713" grpId="0"/>
      <p:bldP spid="713" grpId="0"/>
      <p:bldP spid="715" grpId="0"/>
      <p:bldP spid="715" grpId="0"/>
      <p:bldP spid="717" grpId="0"/>
      <p:bldP spid="717" grpId="0"/>
      <p:bldP spid="719" grpId="0"/>
      <p:bldP spid="719" grpId="0"/>
      <p:bldP spid="721" grpId="0"/>
      <p:bldP spid="721" grpId="0"/>
      <p:bldP spid="723" grpId="0"/>
      <p:bldP spid="723" grpId="0"/>
      <p:bldP spid="725" grpId="0"/>
      <p:bldP spid="725" grpId="0"/>
      <p:bldP spid="727" grpId="0"/>
      <p:bldP spid="727" grpId="0"/>
      <p:bldP spid="729" grpId="0"/>
      <p:bldP spid="729" grpId="0"/>
      <p:bldP spid="731" grpId="0"/>
      <p:bldP spid="731" grpId="0"/>
      <p:bldP spid="733" grpId="0"/>
      <p:bldP spid="733" grpId="0"/>
      <p:bldP spid="735" grpId="0"/>
      <p:bldP spid="735" grpId="0"/>
      <p:bldP spid="737" grpId="0"/>
      <p:bldP spid="737" grpId="0"/>
      <p:bldP spid="739" grpId="0"/>
      <p:bldP spid="739" grpId="0"/>
      <p:bldP spid="741" grpId="0"/>
      <p:bldP spid="741" grpId="0"/>
      <p:bldP spid="743" grpId="0"/>
      <p:bldP spid="743" grpId="0"/>
      <p:bldP spid="745" grpId="0"/>
      <p:bldP spid="745" grpId="0"/>
      <p:bldP spid="747" grpId="0"/>
      <p:bldP spid="747" grpId="0"/>
      <p:bldP spid="749" grpId="0"/>
      <p:bldP spid="749" grpId="0"/>
      <p:bldP spid="751" grpId="0"/>
      <p:bldP spid="751" grpId="0"/>
      <p:bldP spid="753" grpId="0"/>
      <p:bldP spid="753" grpId="0"/>
      <p:bldP spid="755" grpId="0"/>
      <p:bldP spid="755" grpId="0"/>
      <p:bldP spid="757" grpId="0"/>
      <p:bldP spid="757" grpId="0"/>
      <p:bldP spid="759" grpId="0"/>
      <p:bldP spid="759" grpId="0"/>
      <p:bldP spid="761" grpId="0"/>
      <p:bldP spid="761" grpId="0"/>
      <p:bldP spid="763" grpId="0"/>
      <p:bldP spid="763" grpId="0"/>
      <p:bldP spid="765" grpId="0"/>
      <p:bldP spid="765" grpId="0"/>
      <p:bldP spid="767" grpId="0"/>
      <p:bldP spid="767" grpId="0"/>
      <p:bldP spid="769" grpId="0"/>
      <p:bldP spid="769" grpId="0"/>
      <p:bldP spid="771" grpId="0"/>
      <p:bldP spid="771" grpId="0"/>
      <p:bldP spid="773" grpId="0"/>
      <p:bldP spid="773" grpId="0"/>
      <p:bldP spid="775" grpId="0"/>
      <p:bldP spid="775" grpId="0"/>
      <p:bldP spid="777" grpId="0"/>
      <p:bldP spid="777" grpId="0"/>
      <p:bldP spid="779" grpId="0"/>
      <p:bldP spid="779" grpId="0"/>
      <p:bldP spid="781" grpId="0"/>
      <p:bldP spid="781" grpId="0"/>
      <p:bldP spid="783" grpId="0"/>
      <p:bldP spid="783" grpId="0"/>
      <p:bldP spid="785" grpId="0"/>
      <p:bldP spid="785" grpId="0"/>
      <p:bldP spid="787" grpId="0"/>
      <p:bldP spid="787" grpId="0"/>
      <p:bldP spid="789" grpId="0"/>
      <p:bldP spid="789" grpId="0"/>
      <p:bldP spid="791" grpId="0"/>
      <p:bldP spid="791" grpId="0"/>
      <p:bldP spid="793" grpId="0"/>
      <p:bldP spid="793" grpId="0"/>
      <p:bldP spid="795" grpId="0"/>
      <p:bldP spid="795" grpId="0"/>
      <p:bldP spid="797" grpId="0"/>
      <p:bldP spid="797" grpId="0"/>
      <p:bldP spid="799" grpId="0"/>
      <p:bldP spid="799" grpId="0"/>
      <p:bldP spid="801" grpId="0"/>
      <p:bldP spid="801" grpId="0"/>
      <p:bldP spid="803" grpId="0"/>
      <p:bldP spid="803" grpId="0"/>
      <p:bldP spid="805" grpId="0"/>
      <p:bldP spid="805" grpId="0"/>
      <p:bldP spid="807" grpId="0"/>
      <p:bldP spid="807" grpId="0"/>
      <p:bldP spid="809" grpId="0"/>
      <p:bldP spid="809" grpId="0"/>
      <p:bldP spid="811" grpId="0"/>
      <p:bldP spid="811" grpId="0"/>
      <p:bldP spid="813" grpId="0"/>
      <p:bldP spid="813" grpId="0"/>
      <p:bldP spid="815" grpId="0"/>
      <p:bldP spid="815" grpId="0"/>
      <p:bldP spid="817" grpId="0"/>
      <p:bldP spid="817" grpId="0"/>
      <p:bldP spid="819" grpId="0"/>
      <p:bldP spid="819" grpId="0"/>
      <p:bldP spid="821" grpId="0"/>
      <p:bldP spid="821" grpId="0"/>
      <p:bldP spid="823" grpId="0"/>
      <p:bldP spid="823" grpId="0"/>
      <p:bldP spid="825" grpId="0"/>
      <p:bldP spid="825" grpId="0"/>
      <p:bldP spid="827" grpId="0"/>
      <p:bldP spid="827" grpId="0"/>
      <p:bldP spid="829" grpId="0"/>
      <p:bldP spid="829" grpId="0"/>
      <p:bldP spid="831" grpId="0"/>
      <p:bldP spid="831" grpId="0"/>
      <p:bldP spid="833" grpId="0"/>
      <p:bldP spid="833" grpId="0"/>
      <p:bldP spid="835" grpId="0"/>
      <p:bldP spid="835" grpId="0"/>
      <p:bldP spid="837" grpId="0"/>
      <p:bldP spid="837" grpId="0"/>
    </p:bldLst>
  </p:timing>
</p:sld>
</file>

<file path=ppt/slides/slide9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8">
            <a:alphaModFix amt="100000"/>
          </a:blip>
          <a:stretch/>
        </p:blipFill>
        <p:spPr>
          <a:xfrm>
            <a:off x="2286000" y="0"/>
            <a:ext cx="9525" cy="10287000"/>
          </a:xfrm>
          <a:prstGeom prst="rect">
            <a:avLst/>
          </a:prstGeom>
        </p:spPr>
      </p:pic>
      <p:pic>
        <p:nvPicPr>
          <p:cNvPr id="8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0">
            <a:alphaModFix amt="100000"/>
          </a:blip>
          <a:stretch/>
        </p:blipFill>
        <p:spPr>
          <a:xfrm>
            <a:off x="4572000" y="0"/>
            <a:ext cx="9525" cy="10287000"/>
          </a:xfrm>
          <a:prstGeom prst="rect">
            <a:avLst/>
          </a:prstGeom>
        </p:spPr>
      </p:pic>
      <p:pic>
        <p:nvPicPr>
          <p:cNvPr id="8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2">
            <a:alphaModFix amt="100000"/>
          </a:blip>
          <a:stretch/>
        </p:blipFill>
        <p:spPr>
          <a:xfrm>
            <a:off x="6858000" y="0"/>
            <a:ext cx="9525" cy="10287000"/>
          </a:xfrm>
          <a:prstGeom prst="rect">
            <a:avLst/>
          </a:prstGeom>
        </p:spPr>
      </p:pic>
      <p:pic>
        <p:nvPicPr>
          <p:cNvPr id="8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4">
            <a:alphaModFix amt="100000"/>
          </a:blip>
          <a:stretch/>
        </p:blipFill>
        <p:spPr>
          <a:xfrm>
            <a:off x="9144000" y="0"/>
            <a:ext cx="9525" cy="10287000"/>
          </a:xfrm>
          <a:prstGeom prst="rect">
            <a:avLst/>
          </a:prstGeom>
        </p:spPr>
      </p:pic>
      <p:pic>
        <p:nvPicPr>
          <p:cNvPr id="8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6">
            <a:alphaModFix amt="100000"/>
          </a:blip>
          <a:stretch/>
        </p:blipFill>
        <p:spPr>
          <a:xfrm>
            <a:off x="11430000" y="0"/>
            <a:ext cx="9525" cy="10287000"/>
          </a:xfrm>
          <a:prstGeom prst="rect">
            <a:avLst/>
          </a:prstGeom>
        </p:spPr>
      </p:pic>
      <p:pic>
        <p:nvPicPr>
          <p:cNvPr id="8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8">
            <a:alphaModFix amt="100000"/>
          </a:blip>
          <a:stretch/>
        </p:blipFill>
        <p:spPr>
          <a:xfrm>
            <a:off x="13716000" y="0"/>
            <a:ext cx="9525" cy="10287000"/>
          </a:xfrm>
          <a:prstGeom prst="rect">
            <a:avLst/>
          </a:prstGeom>
        </p:spPr>
      </p:pic>
      <p:pic>
        <p:nvPicPr>
          <p:cNvPr id="8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0">
            <a:alphaModFix amt="100000"/>
          </a:blip>
          <a:stretch/>
        </p:blipFill>
        <p:spPr>
          <a:xfrm>
            <a:off x="16002000" y="0"/>
            <a:ext cx="9525" cy="10287000"/>
          </a:xfrm>
          <a:prstGeom prst="rect">
            <a:avLst/>
          </a:prstGeom>
        </p:spPr>
      </p:pic>
      <p:pic>
        <p:nvPicPr>
          <p:cNvPr id="8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2">
            <a:alphaModFix amt="100000"/>
          </a:blip>
          <a:stretch/>
        </p:blipFill>
        <p:spPr>
          <a:xfrm>
            <a:off x="16478250" y="3493865"/>
            <a:ext cx="1047750" cy="1047750"/>
          </a:xfrm>
          <a:prstGeom prst="rect">
            <a:avLst/>
          </a:prstGeom>
        </p:spPr>
      </p:pic>
      <p:pic>
        <p:nvPicPr>
          <p:cNvPr id="858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4">
            <a:alphaModFix amt="100000"/>
          </a:blip>
          <a:stretch/>
        </p:blipFill>
        <p:spPr>
          <a:xfrm>
            <a:off x="16741045" y="3756755"/>
            <a:ext cx="525685" cy="525685"/>
          </a:xfrm>
          <a:prstGeom prst="rect">
            <a:avLst/>
          </a:prstGeom>
        </p:spPr>
      </p:pic>
      <p:sp>
        <p:nvSpPr>
          <p:cNvPr id="86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3452050"/>
            <a:ext cx="14111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Assess Business Needs</a:t>
            </a:r>
          </a:p>
        </p:txBody>
      </p:sp>
      <p:sp>
        <p:nvSpPr>
          <p:cNvPr id="86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3874103"/>
            <a:ext cx="1411128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Balance </a:t>
            </a:r>
            <a:r>
              <a:rPr lang="en-US" sz="1800" b="1" spc="-4" dirty="0">
                <a:solidFill>
                  <a:srgbClr val="7C7C7C"/>
                </a:solidFill>
                <a:latin typeface="Inter" panose="00000700000000000000" pitchFamily="2" charset="0"/>
              </a:rPr>
              <a:t>accuracy</a:t>
            </a:r>
            <a:r>
              <a:rPr lang="en-US" sz="1800" spc="-4" dirty="0">
                <a:solidFill>
                  <a:srgbClr val="7C7C7C"/>
                </a:solidFill>
                <a:latin typeface="Inter" panose="00000700000000000000" pitchFamily="2" charset="0"/>
              </a:rPr>
              <a:t>, </a:t>
            </a:r>
            <a:r>
              <a:rPr lang="en-US" sz="1800" b="1" spc="-4" dirty="0">
                <a:solidFill>
                  <a:srgbClr val="7C7C7C"/>
                </a:solidFill>
                <a:latin typeface="Inter" panose="00000700000000000000" pitchFamily="2" charset="0"/>
              </a:rPr>
              <a:t>interpretability</a:t>
            </a:r>
            <a:r>
              <a:rPr lang="en-US" sz="1800" spc="-4" dirty="0">
                <a:solidFill>
                  <a:srgbClr val="7C7C7C"/>
                </a:solidFill>
                <a:latin typeface="Inter" panose="00000700000000000000" pitchFamily="2" charset="0"/>
              </a:rPr>
              <a:t>, and </a:t>
            </a:r>
            <a:r>
              <a:rPr lang="en-US" sz="1800" b="1" spc="-4" dirty="0">
                <a:solidFill>
                  <a:srgbClr val="7C7C7C"/>
                </a:solidFill>
                <a:latin typeface="Inter" panose="00000700000000000000" pitchFamily="2" charset="0"/>
              </a:rPr>
              <a:t>speed</a:t>
            </a:r>
            <a:r>
              <a:rPr lang="en-US" sz="1800" spc="-4" dirty="0">
                <a:solidFill>
                  <a:srgbClr val="7C7C7C"/>
                </a:solidFill>
                <a:latin typeface="Inter" panose="00000700000000000000" pitchFamily="2" charset="0"/>
              </a:rPr>
              <a:t> requirements to align model choice with your business objectives and operational constraints.</a:t>
            </a:r>
          </a:p>
        </p:txBody>
      </p:sp>
      <p:pic>
        <p:nvPicPr>
          <p:cNvPr id="8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6">
            <a:alphaModFix amt="100000"/>
          </a:blip>
          <a:stretch/>
        </p:blipFill>
        <p:spPr>
          <a:xfrm>
            <a:off x="16478250" y="4968335"/>
            <a:ext cx="1047750" cy="1047750"/>
          </a:xfrm>
          <a:prstGeom prst="rect">
            <a:avLst/>
          </a:prstGeom>
        </p:spPr>
      </p:pic>
      <p:pic>
        <p:nvPicPr>
          <p:cNvPr id="866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9">
            <a:alphaModFix amt="100000"/>
            <a:extLst>
              <a:ext uri="{F8A2E8DC-EAEA-43D9-AC2C-7E2FA5C4466B}">
                <asvg:svgBlip xmlns:r="http://schemas.openxmlformats.org/officeDocument/2006/relationships" xmlns:asvg="http://schemas.microsoft.com/office/drawing/2016/SVG/main" r:embed="rId39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741045" y="5231130"/>
            <a:ext cx="525685" cy="525685"/>
          </a:xfrm>
          <a:prstGeom prst="rect">
            <a:avLst/>
          </a:prstGeom>
        </p:spPr>
      </p:pic>
      <p:sp>
        <p:nvSpPr>
          <p:cNvPr id="868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5104638"/>
            <a:ext cx="14111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Regression Models</a:t>
            </a:r>
          </a:p>
        </p:txBody>
      </p:sp>
      <p:sp>
        <p:nvSpPr>
          <p:cNvPr id="87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5526691"/>
            <a:ext cx="141112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Ideal for </a:t>
            </a:r>
            <a:r>
              <a:rPr lang="en-US" sz="1800" b="1" spc="-4" dirty="0">
                <a:solidFill>
                  <a:srgbClr val="7C7C7C"/>
                </a:solidFill>
                <a:latin typeface="Inter" panose="00000700000000000000" pitchFamily="2" charset="0"/>
              </a:rPr>
              <a:t>straightforward</a:t>
            </a:r>
            <a:r>
              <a:rPr lang="en-US" sz="1800" spc="-4" dirty="0">
                <a:solidFill>
                  <a:srgbClr val="7C7C7C"/>
                </a:solidFill>
                <a:latin typeface="Inter" panose="00000700000000000000" pitchFamily="2" charset="0"/>
              </a:rPr>
              <a:t>, </a:t>
            </a:r>
            <a:r>
              <a:rPr lang="en-US" sz="1800" b="1" spc="-4" dirty="0">
                <a:solidFill>
                  <a:srgbClr val="7C7C7C"/>
                </a:solidFill>
                <a:latin typeface="Inter" panose="00000700000000000000" pitchFamily="2" charset="0"/>
              </a:rPr>
              <a:t>explainable predictions</a:t>
            </a:r>
            <a:r>
              <a:rPr lang="en-US" sz="1800" spc="-4" dirty="0">
                <a:solidFill>
                  <a:srgbClr val="7C7C7C"/>
                </a:solidFill>
                <a:latin typeface="Inter" panose="00000700000000000000" pitchFamily="2" charset="0"/>
              </a:rPr>
              <a:t> with numeric outcomes, making them suitable for transparent business insights.</a:t>
            </a:r>
          </a:p>
        </p:txBody>
      </p:sp>
      <p:pic>
        <p:nvPicPr>
          <p:cNvPr id="8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1">
            <a:alphaModFix amt="100000"/>
          </a:blip>
          <a:stretch/>
        </p:blipFill>
        <p:spPr>
          <a:xfrm>
            <a:off x="16478250" y="6442615"/>
            <a:ext cx="1047750" cy="1047750"/>
          </a:xfrm>
          <a:prstGeom prst="rect">
            <a:avLst/>
          </a:prstGeom>
        </p:spPr>
      </p:pic>
      <p:pic>
        <p:nvPicPr>
          <p:cNvPr id="874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4">
            <a:alphaModFix amt="100000"/>
            <a:extLst>
              <a:ext uri="{2F6CAA4F-9E75-444F-9032-562C746E2E3A}">
                <asvg:svgBlip xmlns:r="http://schemas.openxmlformats.org/officeDocument/2006/relationships" xmlns:asvg="http://schemas.microsoft.com/office/drawing/2016/SVG/main" r:embed="rId40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741045" y="6705410"/>
            <a:ext cx="525685" cy="525685"/>
          </a:xfrm>
          <a:prstGeom prst="rect">
            <a:avLst/>
          </a:prstGeom>
        </p:spPr>
      </p:pic>
      <p:sp>
        <p:nvSpPr>
          <p:cNvPr id="87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6400800"/>
            <a:ext cx="14111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Ensemble Methods</a:t>
            </a:r>
          </a:p>
        </p:txBody>
      </p:sp>
      <p:sp>
        <p:nvSpPr>
          <p:cNvPr id="87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6822853"/>
            <a:ext cx="1411128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Use </a:t>
            </a:r>
            <a:r>
              <a:rPr lang="en-US" sz="1800" b="1" spc="-4" dirty="0">
                <a:solidFill>
                  <a:srgbClr val="7C7C7C"/>
                </a:solidFill>
                <a:latin typeface="Inter" panose="00000700000000000000" pitchFamily="2" charset="0"/>
              </a:rPr>
              <a:t>boosting algorithms</a:t>
            </a:r>
            <a:r>
              <a:rPr lang="en-US" sz="1800" spc="-4" dirty="0">
                <a:solidFill>
                  <a:srgbClr val="7C7C7C"/>
                </a:solidFill>
                <a:latin typeface="Inter" panose="00000700000000000000" pitchFamily="2" charset="0"/>
              </a:rPr>
              <a:t> like XGBoost and LightGBM for higher accuracy on complex, large-scale datasets requiring advanced performance.</a:t>
            </a:r>
          </a:p>
        </p:txBody>
      </p:sp>
      <p:pic>
        <p:nvPicPr>
          <p:cNvPr id="8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6">
            <a:alphaModFix amt="100000"/>
          </a:blip>
          <a:stretch/>
        </p:blipFill>
        <p:spPr>
          <a:xfrm>
            <a:off x="16478250" y="7917085"/>
            <a:ext cx="1047750" cy="1047750"/>
          </a:xfrm>
          <a:prstGeom prst="rect">
            <a:avLst/>
          </a:prstGeom>
        </p:spPr>
      </p:pic>
      <p:pic>
        <p:nvPicPr>
          <p:cNvPr id="882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9">
            <a:alphaModFix amt="100000"/>
            <a:extLst>
              <a:ext uri="{C837E8A1-647B-4E18-AFB8-926DCE675B8B}">
                <asvg:svgBlip xmlns:r="http://schemas.openxmlformats.org/officeDocument/2006/relationships" xmlns:asvg="http://schemas.microsoft.com/office/drawing/2016/SVG/main" r:embed="rId40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741045" y="8179880"/>
            <a:ext cx="525685" cy="525685"/>
          </a:xfrm>
          <a:prstGeom prst="rect">
            <a:avLst/>
          </a:prstGeom>
        </p:spPr>
      </p:pic>
      <p:sp>
        <p:nvSpPr>
          <p:cNvPr id="884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8053388"/>
            <a:ext cx="141112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spc="-84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Scalability &amp; Maintenance</a:t>
            </a:r>
          </a:p>
        </p:txBody>
      </p:sp>
      <p:sp>
        <p:nvSpPr>
          <p:cNvPr id="886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286000" y="8475440"/>
            <a:ext cx="141112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Prioritize models that </a:t>
            </a:r>
            <a:r>
              <a:rPr lang="en-US" sz="1800" b="1" spc="-4" dirty="0">
                <a:solidFill>
                  <a:srgbClr val="7C7C7C"/>
                </a:solidFill>
                <a:latin typeface="Inter" panose="00000700000000000000" pitchFamily="2" charset="0"/>
              </a:rPr>
              <a:t>scale efficiently</a:t>
            </a:r>
            <a:r>
              <a:rPr lang="en-US" sz="1800" spc="-4" dirty="0">
                <a:solidFill>
                  <a:srgbClr val="7C7C7C"/>
                </a:solidFill>
                <a:latin typeface="Inter" panose="00000700000000000000" pitchFamily="2" charset="0"/>
              </a:rPr>
              <a:t> and are </a:t>
            </a:r>
            <a:r>
              <a:rPr lang="en-US" sz="1800" b="1" spc="-4" dirty="0">
                <a:solidFill>
                  <a:srgbClr val="7C7C7C"/>
                </a:solidFill>
                <a:latin typeface="Inter" panose="00000700000000000000" pitchFamily="2" charset="0"/>
              </a:rPr>
              <a:t>maintainable</a:t>
            </a:r>
            <a:r>
              <a:rPr lang="en-US" sz="1800" spc="-4" dirty="0">
                <a:solidFill>
                  <a:srgbClr val="7C7C7C"/>
                </a:solidFill>
                <a:latin typeface="Inter" panose="00000700000000000000" pitchFamily="2" charset="0"/>
              </a:rPr>
              <a:t> by your data science team to ensure long-term business value.</a:t>
            </a:r>
          </a:p>
        </p:txBody>
      </p:sp>
      <p:sp>
        <p:nvSpPr>
          <p:cNvPr id="88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723900"/>
            <a:ext cx="11425238" cy="704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68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Selecting the Right Model for Business Impact</a:t>
            </a:r>
          </a:p>
        </p:txBody>
      </p:sp>
      <p:pic>
        <p:nvPicPr>
          <p:cNvPr id="8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1">
            <a:alphaModFix amt="100000"/>
          </a:blip>
          <a:stretch/>
        </p:blipFill>
        <p:spPr>
          <a:xfrm>
            <a:off x="4610100" y="1571625"/>
            <a:ext cx="1143000" cy="57150"/>
          </a:xfrm>
          <a:prstGeom prst="rect">
            <a:avLst/>
          </a:prstGeom>
        </p:spPr>
      </p:pic>
      <p:pic>
        <p:nvPicPr>
          <p:cNvPr id="8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3">
            <a:alphaModFix amt="100000"/>
          </a:blip>
          <a:stretch/>
        </p:blipFill>
        <p:spPr>
          <a:xfrm>
            <a:off x="0" y="0"/>
            <a:ext cx="2286000" cy="2476500"/>
          </a:xfrm>
          <a:prstGeom prst="rect">
            <a:avLst/>
          </a:prstGeom>
        </p:spPr>
      </p:pic>
      <p:pic>
        <p:nvPicPr>
          <p:cNvPr id="8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5">
            <a:alphaModFix amt="100000"/>
          </a:blip>
          <a:stretch/>
        </p:blipFill>
        <p:spPr>
          <a:xfrm>
            <a:off x="11430000" y="9524810"/>
            <a:ext cx="2286000" cy="762000"/>
          </a:xfrm>
          <a:prstGeom prst="rect">
            <a:avLst/>
          </a:prstGeom>
        </p:spPr>
      </p:pic>
      <p:sp>
        <p:nvSpPr>
          <p:cNvPr id="89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610100" y="1790700"/>
            <a:ext cx="114252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Practical guidance on model choice to balance accuracy, speed,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p:transition spd="med" p14:dur="700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843" dur="1200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845" dur="1200" fill="hold"/>
                                        <p:tgtEl>
                                          <p:spTgt spid="8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847" dur="12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849" dur="120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851" dur="120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853" dur="120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855" dur="12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857" dur="1000" fill="hold"/>
                                        <p:tgtEl>
                                          <p:spTgt spid="8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3637 -3.475613E-06 L 1.9709269E-06 -3.475613E-06 E" pathEditMode="relative" ptsTypes="">
                                      <p:cBhvr>
                                        <p:cTn id="859" dur="1000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1.723678E-06 L 0 1.723678E-06 E" pathEditMode="relative" ptsTypes="">
                                      <p:cBhvr>
                                        <p:cTn id="861" dur="1000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6041666 4.0407535E-06 L 0 4.0407535E-06 E" pathEditMode="relative" ptsTypes="">
                                      <p:cBhvr>
                                        <p:cTn id="863" dur="1000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-5.6514034E-07 L 0 -5.6514034E-07 E" pathEditMode="relative" ptsTypes="">
                                      <p:cBhvr>
                                        <p:cTn id="865" dur="10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3637 2.8822158E-06 L 1.9709269E-06 2.8822158E-06 E" pathEditMode="relative" ptsTypes="">
                                      <p:cBhvr>
                                        <p:cTn id="867" dur="10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1.7519351E-06 L 0 1.7519351E-06 E" pathEditMode="relative" ptsTypes="">
                                      <p:cBhvr>
                                        <p:cTn id="869" dur="10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.026041666 4.0690106E-06 L 0 4.0690106E-06 E" pathEditMode="relative" ptsTypes="">
                                      <p:cBhvr>
                                        <p:cTn id="871" dur="1000" fill="hold"/>
                                        <p:tgtEl>
                                          <p:spTgt spid="8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5.6514034E-07 L 0 5.6514034E-07 E" pathEditMode="relative" ptsTypes="">
                                      <p:cBhvr>
                                        <p:cTn id="873" dur="1000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3637 4.0690106E-06 L 1.9709269E-06 4.0690106E-06 E" pathEditMode="relative" ptsTypes="">
                                      <p:cBhvr>
                                        <p:cTn id="875" dur="1000" fill="hold"/>
                                        <p:tgtEl>
                                          <p:spTgt spid="8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877" dur="1000" fill="hold"/>
                                        <p:tgtEl>
                                          <p:spTgt spid="8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879" dur="1000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-2.3170753E-06 L 0 -2.3170753E-06 E" pathEditMode="relative" ptsTypes="">
                                      <p:cBhvr>
                                        <p:cTn id="881" dur="100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3637 1.1302807E-06 L 1.9709269E-06 1.1302807E-06 E" pathEditMode="relative" ptsTypes="">
                                      <p:cBhvr>
                                        <p:cTn id="883" dur="1000" fill="hold"/>
                                        <p:tgtEl>
                                          <p:spTgt spid="8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885" dur="100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.026041666 2.3170753E-06 L 0 2.3170753E-06 E" pathEditMode="relative" ptsTypes="">
                                      <p:cBhvr>
                                        <p:cTn id="887" dur="10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889" dur="60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891" dur="6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893" dur="120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4.0690106E-06 L 0 4.0690106E-06 E" pathEditMode="relative" ptsTypes="">
                                      <p:cBhvr>
                                        <p:cTn id="895" dur="120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897" dur="600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2" grpId="0"/>
      <p:bldP spid="842" grpId="0"/>
      <p:bldP spid="844" grpId="0"/>
      <p:bldP spid="844" grpId="0"/>
      <p:bldP spid="846" grpId="0"/>
      <p:bldP spid="846" grpId="0"/>
      <p:bldP spid="848" grpId="0"/>
      <p:bldP spid="848" grpId="0"/>
      <p:bldP spid="850" grpId="0"/>
      <p:bldP spid="850" grpId="0"/>
      <p:bldP spid="852" grpId="0"/>
      <p:bldP spid="852" grpId="0"/>
      <p:bldP spid="854" grpId="0"/>
      <p:bldP spid="854" grpId="0"/>
      <p:bldP spid="856" grpId="0"/>
      <p:bldP spid="856" grpId="0"/>
      <p:bldP spid="858" grpId="0"/>
      <p:bldP spid="858" grpId="0"/>
      <p:bldP spid="860" grpId="0"/>
      <p:bldP spid="860" grpId="0"/>
      <p:bldP spid="862" grpId="0"/>
      <p:bldP spid="862" grpId="0"/>
      <p:bldP spid="864" grpId="0"/>
      <p:bldP spid="864" grpId="0"/>
      <p:bldP spid="866" grpId="0"/>
      <p:bldP spid="866" grpId="0"/>
      <p:bldP spid="868" grpId="0"/>
      <p:bldP spid="868" grpId="0"/>
      <p:bldP spid="870" grpId="0"/>
      <p:bldP spid="870" grpId="0"/>
      <p:bldP spid="872" grpId="0"/>
      <p:bldP spid="872" grpId="0"/>
      <p:bldP spid="874" grpId="0"/>
      <p:bldP spid="874" grpId="0"/>
      <p:bldP spid="876" grpId="0"/>
      <p:bldP spid="876" grpId="0"/>
      <p:bldP spid="878" grpId="0"/>
      <p:bldP spid="878" grpId="0"/>
      <p:bldP spid="880" grpId="0"/>
      <p:bldP spid="880" grpId="0"/>
      <p:bldP spid="882" grpId="0"/>
      <p:bldP spid="882" grpId="0"/>
      <p:bldP spid="884" grpId="0"/>
      <p:bldP spid="884" grpId="0"/>
      <p:bldP spid="886" grpId="0"/>
      <p:bldP spid="886" grpId="0"/>
      <p:bldP spid="888" grpId="0"/>
      <p:bldP spid="888" grpId="0"/>
      <p:bldP spid="890" grpId="0"/>
      <p:bldP spid="890" grpId="0"/>
      <p:bldP spid="892" grpId="0"/>
      <p:bldP spid="892" grpId="0"/>
      <p:bldP spid="894" grpId="0"/>
      <p:bldP spid="894" grpId="0"/>
      <p:bldP spid="896" grpId="0"/>
      <p:bldP spid="896" grpId="0"/>
    </p:bldLst>
  </p:timing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1">
            <a:alphaModFix amt="100000"/>
          </a:blip>
          <a:stretch/>
        </p:blipFill>
        <p:spPr>
          <a:xfrm>
            <a:off x="2286000" y="0"/>
            <a:ext cx="2286000" cy="2286000"/>
          </a:xfrm>
          <a:prstGeom prst="rect">
            <a:avLst/>
          </a:prstGeom>
        </p:spPr>
      </p:pic>
      <p:pic>
        <p:nvPicPr>
          <p:cNvPr id="903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2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5">
            <a:alphaModFix amt="100000"/>
          </a:blip>
          <a:stretch/>
        </p:blipFill>
        <p:spPr>
          <a:xfrm>
            <a:off x="2286000" y="6610350"/>
            <a:ext cx="9144000" cy="3676650"/>
          </a:xfrm>
          <a:prstGeom prst="rect">
            <a:avLst/>
          </a:prstGeom>
        </p:spPr>
      </p:pic>
      <p:sp>
        <p:nvSpPr>
          <p:cNvPr id="90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743200" y="7070122"/>
            <a:ext cx="8262938" cy="1695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300" spc="-132" dirty="0">
                <a:solidFill>
                  <a:srgbClr val="2E2E2E">
                    <a:alpha val="100000"/>
                  </a:srgbClr>
                </a:solidFill>
                <a:latin typeface="Inter SemiBold" panose="00000700000000000000" pitchFamily="2" charset="0"/>
              </a:rPr>
              <a:t>Embrace scalable, interpretable ML solutions today to unlock lasting business impact and lead the growing $225B market.</a:t>
            </a:r>
          </a:p>
        </p:txBody>
      </p:sp>
      <p:sp>
        <p:nvSpPr>
          <p:cNvPr id="90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743200" y="9116568"/>
            <a:ext cx="82629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7C7C7C">
                    <a:alpha val="100000"/>
                  </a:srgbClr>
                </a:solidFill>
                <a:latin typeface="Inter" panose="00000700000000000000" pitchFamily="2" charset="0"/>
              </a:rPr>
              <a:t>Embrace scalable and interpretable machine learning to balance accuracy, speed, and business needs and lead in the $225B ML market by 2030.</a:t>
            </a:r>
          </a:p>
        </p:txBody>
      </p:sp>
      <p:pic>
        <p:nvPicPr>
          <p:cNvPr id="9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7">
            <a:alphaModFix amt="100000"/>
          </a:blip>
          <a:stretch/>
        </p:blipFill>
        <p:spPr>
          <a:xfrm>
            <a:off x="2743200" y="8908447"/>
            <a:ext cx="1143000" cy="57150"/>
          </a:xfrm>
          <a:prstGeom prst="rect">
            <a:avLst/>
          </a:prstGeom>
        </p:spPr>
      </p:pic>
      <p:pic>
        <p:nvPicPr>
          <p:cNvPr id="9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9">
            <a:alphaModFix amt="100000"/>
          </a:blip>
          <a:stretch/>
        </p:blipFill>
        <p:spPr>
          <a:xfrm>
            <a:off x="2286000" y="0"/>
            <a:ext cx="9525" cy="10287000"/>
          </a:xfrm>
          <a:prstGeom prst="rect">
            <a:avLst/>
          </a:prstGeom>
        </p:spPr>
      </p:pic>
      <p:pic>
        <p:nvPicPr>
          <p:cNvPr id="9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1">
            <a:alphaModFix amt="100000"/>
          </a:blip>
          <a:stretch/>
        </p:blipFill>
        <p:spPr>
          <a:xfrm>
            <a:off x="4572000" y="0"/>
            <a:ext cx="9525" cy="10287000"/>
          </a:xfrm>
          <a:prstGeom prst="rect">
            <a:avLst/>
          </a:prstGeom>
        </p:spPr>
      </p:pic>
      <p:pic>
        <p:nvPicPr>
          <p:cNvPr id="9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3">
            <a:alphaModFix amt="100000"/>
          </a:blip>
          <a:stretch/>
        </p:blipFill>
        <p:spPr>
          <a:xfrm>
            <a:off x="6858000" y="0"/>
            <a:ext cx="9525" cy="10287000"/>
          </a:xfrm>
          <a:prstGeom prst="rect">
            <a:avLst/>
          </a:prstGeom>
        </p:spPr>
      </p:pic>
      <p:pic>
        <p:nvPicPr>
          <p:cNvPr id="9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5">
            <a:alphaModFix amt="100000"/>
          </a:blip>
          <a:stretch/>
        </p:blipFill>
        <p:spPr>
          <a:xfrm>
            <a:off x="9144000" y="0"/>
            <a:ext cx="9525" cy="10287000"/>
          </a:xfrm>
          <a:prstGeom prst="rect">
            <a:avLst/>
          </a:prstGeom>
        </p:spPr>
      </p:pic>
      <p:pic>
        <p:nvPicPr>
          <p:cNvPr id="9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7">
            <a:alphaModFix amt="100000"/>
          </a:blip>
          <a:stretch/>
        </p:blipFill>
        <p:spPr>
          <a:xfrm>
            <a:off x="11430000" y="0"/>
            <a:ext cx="9525" cy="10287000"/>
          </a:xfrm>
          <a:prstGeom prst="rect">
            <a:avLst/>
          </a:prstGeom>
        </p:spPr>
      </p:pic>
      <p:pic>
        <p:nvPicPr>
          <p:cNvPr id="9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9">
            <a:alphaModFix amt="100000"/>
          </a:blip>
          <a:stretch/>
        </p:blipFill>
        <p:spPr>
          <a:xfrm>
            <a:off x="13716000" y="0"/>
            <a:ext cx="9525" cy="10287000"/>
          </a:xfrm>
          <a:prstGeom prst="rect">
            <a:avLst/>
          </a:prstGeom>
        </p:spPr>
      </p:pic>
      <p:pic>
        <p:nvPicPr>
          <p:cNvPr id="9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1">
            <a:alphaModFix amt="100000"/>
          </a:blip>
          <a:stretch/>
        </p:blipFill>
        <p:spPr>
          <a:xfrm>
            <a:off x="16002000" y="0"/>
            <a:ext cx="9525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p:transition spd="med" p14:dur="700" advClick="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902" dur="12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904" dur="6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041666 0 L 0 0 E" pathEditMode="relative" ptsTypes="">
                                      <p:cBhvr>
                                        <p:cTn id="906" dur="6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26041666 -4.0690106E-06 L 0 -4.0690106E-06 E" pathEditMode="relative" ptsTypes="">
                                      <p:cBhvr>
                                        <p:cTn id="908" dur="6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.026041666 4.6341506E-06 L 0 4.6341506E-06 E" pathEditMode="relative" ptsTypes="">
                                      <p:cBhvr>
                                        <p:cTn id="910" dur="6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26041666 -4.0690106E-06 L 0 -4.0690106E-06 E" pathEditMode="relative" ptsTypes="">
                                      <p:cBhvr>
                                        <p:cTn id="912" dur="6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914" dur="120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916" dur="120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918" dur="1200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920" dur="1200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922" dur="1200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924" dur="12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666668 0 L 0 0 E" pathEditMode="relative" ptsTypes="">
                                      <p:cBhvr>
                                        <p:cTn id="926" dur="1200" fill="hold"/>
                                        <p:tgtEl>
                                          <p:spTgt spid="9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" grpId="0"/>
      <p:bldP spid="901" grpId="0"/>
      <p:bldP spid="903" grpId="0"/>
      <p:bldP spid="903" grpId="0"/>
      <p:bldP spid="905" grpId="0"/>
      <p:bldP spid="905" grpId="0"/>
      <p:bldP spid="907" grpId="0"/>
      <p:bldP spid="907" grpId="0"/>
      <p:bldP spid="909" grpId="0"/>
      <p:bldP spid="909" grpId="0"/>
      <p:bldP spid="911" grpId="0"/>
      <p:bldP spid="911" grpId="0"/>
      <p:bldP spid="913" grpId="0"/>
      <p:bldP spid="913" grpId="0"/>
      <p:bldP spid="915" grpId="0"/>
      <p:bldP spid="915" grpId="0"/>
      <p:bldP spid="917" grpId="0"/>
      <p:bldP spid="917" grpId="0"/>
      <p:bldP spid="919" grpId="0"/>
      <p:bldP spid="919" grpId="0"/>
      <p:bldP spid="921" grpId="0"/>
      <p:bldP spid="921" grpId="0"/>
      <p:bldP spid="923" grpId="0"/>
      <p:bldP spid="923" grpId="0"/>
      <p:bldP spid="925" grpId="0"/>
      <p:bldP spid="92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Exporter Version: 2.5.6.0, docId: 20901463, orderId: 9422830</dc:title>
  <dc:creator>Presentations.AI Exporter</dc:creator>
  <lastModifiedBy>Presentations.AI Exporter</lastModifiedBy>
  <revision>1</revision>
  <dcterms:created xsi:type="dcterms:W3CDTF">2025-08-19T06:45:30.0000000Z</dcterms:created>
  <dcterms:modified xsi:type="dcterms:W3CDTF">2025-08-19T06:45:30.0000000Z</dcterms:modified>
</coreProperties>
</file>